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62CEDBA-E51F-7BD5-824A-17B3706C28A7}">
          <p14:sldIdLst>
            <p14:sldId id="256"/>
            <p14:sldId id="257"/>
          </p14:sldIdLst>
        </p14:section>
        <p14:section name="The problem" id="{37F74855-18D8-7693-1C1E-13DC2B0F6444}">
          <p14:sldIdLst>
            <p14:sldId id="258"/>
            <p14:sldId id="259"/>
          </p14:sldIdLst>
        </p14:section>
        <p14:section name="The outcome" id="{953500F1-D4AE-A930-C74B-5EA3D4395417}">
          <p14:sldIdLst>
            <p14:sldId id="260"/>
            <p14:sldId id="261"/>
          </p14:sldIdLst>
        </p14:section>
        <p14:section name="How it works" id="{BC575684-5211-5DFA-243D-6D3A497FA278}">
          <p14:sldIdLst>
            <p14:sldId id="262"/>
            <p14:sldId id="263"/>
            <p14:sldId id="264"/>
            <p14:sldId id="265"/>
            <p14:sldId id="266"/>
            <p14:sldId id="267"/>
          </p14:sldIdLst>
        </p14:section>
        <p14:section name="Productivity" id="{1ABF3B63-9D29-57CD-4C35-FBDF3BEDB8DB}">
          <p14:sldIdLst>
            <p14:sldId id="268"/>
            <p14:sldId id="269"/>
            <p14:sldId id="270"/>
            <p14:sldId id="271"/>
          </p14:sldIdLst>
        </p14:section>
        <p14:section name="Resource optimization" id="{146994DA-4D9D-678D-502F-12E1B33D7C5E}">
          <p14:sldIdLst>
            <p14:sldId id="272"/>
            <p14:sldId id="273"/>
          </p14:sldIdLst>
        </p14:section>
        <p14:section name="Developer effort" id="{87D86B68-2B44-6359-C91C-DB80D0F48E9A}">
          <p14:sldIdLst>
            <p14:sldId id="274"/>
            <p14:sldId id="275"/>
          </p14:sldIdLst>
        </p14:section>
        <p14:section name="Cost and context" id="{DBAC908E-AFCA-0194-C340-151962916CE7}">
          <p14:sldIdLst>
            <p14:sldId id="276"/>
            <p14:sldId id="277"/>
            <p14:sldId id="278"/>
            <p14:sldId id="279"/>
          </p14:sldIdLst>
        </p14:section>
        <p14:section name="Proof" id="{3A6F6D98-BA9C-5B7E-5604-9F4ADFEDC0DC}">
          <p14:sldIdLst>
            <p14:sldId id="280"/>
            <p14:sldId id="281"/>
          </p14:sldIdLst>
        </p14:section>
        <p14:section name="What's next" id="{DA444AD6-A4CD-CFCA-112C-2A3DB02B1A45}">
          <p14:sldIdLst>
            <p14:sldId id="282"/>
            <p14:sldId id="283"/>
          </p14:sldIdLst>
        </p14:section>
        <p14:section name="The opportunity" id="{DBA6C202-795F-94B2-174C-52F94653C3AA}">
          <p14:sldIdLst>
            <p14:sldId id="284"/>
            <p14:sldId id="285"/>
          </p14:sldIdLst>
        </p14:section>
        <p14:section name="Close" id="{76771E44-869A-69A5-B37E-57CA3A4CDFB0}">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Sajal for the time. One line: this is what I've built at Ameriprise: nine AI agents and a pipeline that take a Jira story to tested, scanned, review-ready code. I'll run it as questions and answers, so it stays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on me: Coforge since May 2024, placed at Ameriprise since day one, on the frontend team of 40 to 50 developers. I designed and built everything in this deck myself. I'm also an Anthropic Claude Certified Developer: 882 against a pass mark of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second and let the question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13-point story takes about 40 man-hours, five man-days. Most of that time goes on everything around the code: finding context, chasing gaps in the story, fixing scan findings, waiting for a Jenkins expert, writing tests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agents, the same 13-point story takes about 8 hours, one man-day. That's 80% less effort, and the bigger the story, the bigger the saving. The four days don't disappear; they go to the next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 question in the deck.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start with one giant AI. We built small atomic agents first, each owning one job end to end and connected to one tool. Then we composed them. Walk the rows: understand the story, build it, keep it clean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developer submits a prompt, a hook fires and the master agent takes over. It sends specialist subagents to Jira, Figma, Confluence and SwaggerHub, each through its own MCP connection. If anything is missing, it comments on the Jira story, assigns it back to the reporter and stops. If the input is complete, it hands one Input JSON to the build loop: tests, code, Playwright, up to five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pipelines guess here. Ours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build work, jira-agent checks the story against completed and backlog stories and the code itself. If something is missing, it comments on the story and assigns it back to the reporter, then exits. No tokens spent guessing, and no developer hours spent building the wrong thing. The comment shown is an illustrative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delivery has lived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log in to Jenkins, read the logs, find a Jenkins expert, wait for them, apply the fix. Now the-ci-analyzer reads the console output, fixes the failure, commits, pushes and re-runs the build, and keeps looping until it's green. That's about 90% of the effort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scans every release has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three times. sonar-reporter pulls SonarQube issues and fixes them. veracode-analyser zips the artifacts, uploads them to Veracode, waits for the scan and fixes what it finds. xray-analyzer resolves the SCA flaws through an in-house MCP built on the JFrog APIs. Each loops until clean. About 90% of the effort is gone; what's left is PR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man-months. Hold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used to need two man-months of human effort. code-coverage-agent writes tests, measures coverage and loops until it reaches 95%, in under two weeks. At our $35 an hour billing rate, two man-months is $11,200. The agent used about $1,120 of AI credits on GitHub Copilot,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engineer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these loops, the agents do about 90% of the work. The developer's roughly 10% is the pull-request review: making the judgement calls and owning the quality bar. The developer still decides; they just stop doing the repetitive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asks this.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keep cost down. Fail fast on incomplete stories. Cache stable context so it isn't paid for twice. Give subagents cheaper models, set in each agent's definition. Trim tool output before the model sees it. And never switch models mid-session, because that throws away the cache and ends up costing more. Budget today is a monthly per-seat quota; per-task token caps aren't available in Kiro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quiet failure mode of most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agent did everything, every Jira story, Confluence page, Figma payload, Swagger spec, Jenkins log and scan report would pile into one context window. Quality drops and cost climbs. Instead the master agent holds only the Input JSON, and each specialist works in its own context and returns just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question for any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Ameriprise's frontend team of 40 to 50 developers uses it. All nine agents are live, and the Jira-to-UI pipeline is running end to end. It isn't across all of Ameriprise yet; we're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still slow is anything that crosses team lines. Downstream services sit behind other teams, and resolving issues means long mail chains. The next step is for each team, such as data and services or the DNS team, to publish its own MCP server, so our agents can work with them directly. That needs Ameriprise leaders to plan the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that matters most for Coforge.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proven at Ameriprise. The opportunity is for Coforge to package the approach as its own accelerator, Coforge-owned and client-agnostic, and offer it to other accounts as a product. With hiring nearly frozen, clients expect more from the same teams, and this is how we deliver it. I'd like to help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answers for Q&amp;A:
Does this cut our billing? Hiring is nearly frozen, so the same team has to deliver more scope. Packaged as a Coforge accelerator, it becomes something we sell, not just hours saved.
Governance and rollout? Rollout governance sits with Ameriprise DevSecOps and MLOps. Every change still goes through human PR review.
Can we reuse what you built? The agents were built for Ameriprise. What carries over is the approach and the know-how; a Coforge version would be built fresh and client-agnostic.
What does it run on? Claude models, through GitHub Copilot and Kiro. Figma MCP costs $35 per dev seat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3" name="Text 1"/>
          <p:cNvSpPr/>
          <p:nvPr>
            <p:ph idx="101" type="title" hasCustomPrompt="1"/>
          </p:nvPr>
        </p:nvSpPr>
        <p:spPr>
          <a:xfrm>
            <a:off x="548640" y="731520"/>
            <a:ext cx="11091672"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gif"/><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image" Target="../media/image-10-3.gif"/><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3.gif"/><Relationship Id="rId10" Type="http://schemas.openxmlformats.org/officeDocument/2006/relationships/image" Target="../media/image-10-10.png"/><Relationship Id="rId11" Type="http://schemas.openxmlformats.org/officeDocument/2006/relationships/image" Target="../media/image-10-2.png"/><Relationship Id="rId12" Type="http://schemas.openxmlformats.org/officeDocument/2006/relationships/image" Target="../media/image-10-3.gif"/><Relationship Id="rId13" Type="http://schemas.openxmlformats.org/officeDocument/2006/relationships/image" Target="../media/image-10-13.gif"/><Relationship Id="rId14" Type="http://schemas.openxmlformats.org/officeDocument/2006/relationships/slideLayout" Target="../slideLayouts/slideLayout4.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gif"/><Relationship Id="rId3" Type="http://schemas.openxmlformats.org/officeDocument/2006/relationships/image" Target="../media/image-16-3.png"/><Relationship Id="rId4" Type="http://schemas.openxmlformats.org/officeDocument/2006/relationships/image" Target="../media/image-16-2.gif"/><Relationship Id="rId5" Type="http://schemas.openxmlformats.org/officeDocument/2006/relationships/image" Target="../media/image-16-5.png"/><Relationship Id="rId6" Type="http://schemas.openxmlformats.org/officeDocument/2006/relationships/image" Target="../media/image-16-2.gif"/><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2.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image" Target="../media/image-26-22.png"/><Relationship Id="rId23" Type="http://schemas.openxmlformats.org/officeDocument/2006/relationships/image" Target="../media/image-26-23.png"/><Relationship Id="rId24" Type="http://schemas.openxmlformats.org/officeDocument/2006/relationships/image" Target="../media/image-26-24.png"/><Relationship Id="rId25" Type="http://schemas.openxmlformats.org/officeDocument/2006/relationships/image" Target="../media/image-26-25.png"/><Relationship Id="rId26" Type="http://schemas.openxmlformats.org/officeDocument/2006/relationships/image" Target="../media/image-26-26.png"/><Relationship Id="rId27" Type="http://schemas.openxmlformats.org/officeDocument/2006/relationships/image" Target="../media/image-26-27.png"/><Relationship Id="rId28" Type="http://schemas.openxmlformats.org/officeDocument/2006/relationships/image" Target="../media/image-26-28.png"/><Relationship Id="rId29" Type="http://schemas.openxmlformats.org/officeDocument/2006/relationships/image" Target="../media/image-26-29.png"/><Relationship Id="rId30" Type="http://schemas.openxmlformats.org/officeDocument/2006/relationships/image" Target="../media/image-26-30.png"/><Relationship Id="rId31" Type="http://schemas.openxmlformats.org/officeDocument/2006/relationships/image" Target="../media/image-26-31.png"/><Relationship Id="rId32" Type="http://schemas.openxmlformats.org/officeDocument/2006/relationships/image" Target="../media/image-26-32.png"/><Relationship Id="rId33" Type="http://schemas.openxmlformats.org/officeDocument/2006/relationships/image" Target="../media/image-26-33.png"/><Relationship Id="rId34" Type="http://schemas.openxmlformats.org/officeDocument/2006/relationships/image" Target="../media/image-26-34.png"/><Relationship Id="rId35" Type="http://schemas.openxmlformats.org/officeDocument/2006/relationships/image" Target="../media/image-26-35.png"/><Relationship Id="rId36" Type="http://schemas.openxmlformats.org/officeDocument/2006/relationships/image" Target="../media/image-26-36.png"/><Relationship Id="rId37" Type="http://schemas.openxmlformats.org/officeDocument/2006/relationships/image" Target="../media/image-26-37.png"/><Relationship Id="rId38" Type="http://schemas.openxmlformats.org/officeDocument/2006/relationships/image" Target="../media/image-26-38.png"/><Relationship Id="rId39" Type="http://schemas.openxmlformats.org/officeDocument/2006/relationships/image" Target="../media/image-26-39.png"/><Relationship Id="rId40" Type="http://schemas.openxmlformats.org/officeDocument/2006/relationships/image" Target="../media/image-26-40.png"/><Relationship Id="rId41" Type="http://schemas.openxmlformats.org/officeDocument/2006/relationships/image" Target="../media/image-26-41.png"/><Relationship Id="rId42" Type="http://schemas.openxmlformats.org/officeDocument/2006/relationships/image" Target="../media/image-26-42.png"/><Relationship Id="rId43" Type="http://schemas.openxmlformats.org/officeDocument/2006/relationships/image" Target="../media/image-26-43.png"/><Relationship Id="rId44" Type="http://schemas.openxmlformats.org/officeDocument/2006/relationships/image" Target="../media/image-26-44.png"/><Relationship Id="rId45" Type="http://schemas.openxmlformats.org/officeDocument/2006/relationships/image" Target="../media/image-26-45.png"/><Relationship Id="rId46" Type="http://schemas.openxmlformats.org/officeDocument/2006/relationships/image" Target="../media/image-26-46.png"/><Relationship Id="rId47" Type="http://schemas.openxmlformats.org/officeDocument/2006/relationships/image" Target="../media/image-26-47.png"/><Relationship Id="rId48" Type="http://schemas.openxmlformats.org/officeDocument/2006/relationships/image" Target="../media/image-26-48.png"/><Relationship Id="rId49" Type="http://schemas.openxmlformats.org/officeDocument/2006/relationships/image" Target="../media/image-26-49.png"/><Relationship Id="rId50" Type="http://schemas.openxmlformats.org/officeDocument/2006/relationships/image" Target="../media/image-26-50.png"/><Relationship Id="rId51" Type="http://schemas.openxmlformats.org/officeDocument/2006/relationships/slideLayout" Target="../slideLayouts/slideLayout4.xml"/><Relationship Id="rId5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gif"/><Relationship Id="rId6" Type="http://schemas.openxmlformats.org/officeDocument/2006/relationships/image" Target="../media/image-28-6.png"/><Relationship Id="rId7" Type="http://schemas.openxmlformats.org/officeDocument/2006/relationships/image" Target="../media/image-28-6.png"/><Relationship Id="rId8" Type="http://schemas.openxmlformats.org/officeDocument/2006/relationships/image" Target="../media/image-28-6.png"/><Relationship Id="rId9" Type="http://schemas.openxmlformats.org/officeDocument/2006/relationships/image" Target="../media/image-28-6.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gif"/><Relationship Id="rId2" Type="http://schemas.openxmlformats.org/officeDocument/2006/relationships/image" Target="../media/image-31-2.gif"/><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slide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_t_1"/>
          <p:cNvSpPr txBox="1"/>
          <p:nvPr/>
        </p:nvSpPr>
        <p:spPr>
          <a:xfrm>
            <a:off x="640080" y="1097280"/>
            <a:ext cx="5943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COFORGE  ·  AMERIPRISE FINANCIAL</a:t>
            </a:r>
            <a:endParaRPr lang="en-US" sz="1200" dirty="0"/>
          </a:p>
        </p:txBody>
      </p:sp>
      <p:sp>
        <p:nvSpPr>
          <p:cNvPr id="3" name="s_t_2"/>
          <p:cNvSpPr txBox="1"/>
          <p:nvPr/>
        </p:nvSpPr>
        <p:spPr>
          <a:xfrm>
            <a:off x="640080" y="1600200"/>
            <a:ext cx="6217920" cy="1737360"/>
          </a:xfrm>
          <a:prstGeom prst="rect">
            <a:avLst/>
          </a:prstGeom>
          <a:noFill/>
          <a:ln/>
        </p:spPr>
        <p:txBody>
          <a:bodyPr wrap="square" lIns="0" tIns="0" rIns="0" bIns="0" rtlCol="0" anchor="t"/>
          <a:lstStyle/>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the-agentic-</a:t>
            </a:r>
            <a:endParaRPr lang="en-US" sz="4400" dirty="0"/>
          </a:p>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delivery-pipeline</a:t>
            </a:r>
            <a:endParaRPr lang="en-US" sz="4400" dirty="0"/>
          </a:p>
        </p:txBody>
      </p:sp>
      <p:sp>
        <p:nvSpPr>
          <p:cNvPr id="4" name="s_t_3"/>
          <p:cNvSpPr txBox="1"/>
          <p:nvPr/>
        </p:nvSpPr>
        <p:spPr>
          <a:xfrm>
            <a:off x="640080" y="3520440"/>
            <a:ext cx="5852160" cy="822960"/>
          </a:xfrm>
          <a:prstGeom prst="rect">
            <a:avLst/>
          </a:prstGeom>
          <a:noFill/>
          <a:ln/>
        </p:spPr>
        <p:txBody>
          <a:bodyPr wrap="square" lIns="0" tIns="0" rIns="0" bIns="0" rtlCol="0" anchor="t"/>
          <a:lstStyle/>
          <a:p>
            <a:pPr algn="l" indent="0" marL="0">
              <a:buNone/>
            </a:pPr>
            <a:r>
              <a:rPr lang="en-US" sz="2200" i="1" dirty="0">
                <a:solidFill>
                  <a:schemeClr val="tx1"/>
                </a:solidFill>
                <a:latin typeface="Georgia" pitchFamily="34" charset="0"/>
                <a:ea typeface="Georgia" pitchFamily="34" charset="-122"/>
                <a:cs typeface="Georgia" pitchFamily="34" charset="-120"/>
              </a:rPr>
              <a:t>Jira story in. Tested, scanned, review-ready code out.</a:t>
            </a:r>
            <a:endParaRPr lang="en-US" sz="2200" dirty="0"/>
          </a:p>
        </p:txBody>
      </p:sp>
      <p:sp>
        <p:nvSpPr>
          <p:cNvPr id="5" name="s_t_4"/>
          <p:cNvSpPr txBox="1"/>
          <p:nvPr/>
        </p:nvSpPr>
        <p:spPr>
          <a:xfrm>
            <a:off x="640080" y="4846320"/>
            <a:ext cx="54864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22 October 2026</a:t>
            </a:r>
            <a:endParaRPr lang="en-US" sz="1400" dirty="0"/>
          </a:p>
        </p:txBody>
      </p:sp>
      <p:sp>
        <p:nvSpPr>
          <p:cNvPr id="6" name="s_t_5"/>
          <p:cNvSpPr txBox="1"/>
          <p:nvPr/>
        </p:nvSpPr>
        <p:spPr>
          <a:xfrm>
            <a:off x="640080" y="5212080"/>
            <a:ext cx="5486400" cy="320040"/>
          </a:xfrm>
          <a:prstGeom prst="rect">
            <a:avLst/>
          </a:prstGeom>
          <a:noFill/>
          <a:ln/>
        </p:spPr>
        <p:txBody>
          <a:bodyPr wrap="square" lIns="0" tIns="0" rIns="0" bIns="0" rtlCol="0" anchor="t"/>
          <a:lstStyle/>
          <a:p>
            <a:pPr algn="l" indent="0" marL="0">
              <a:buNone/>
            </a:pPr>
            <a:r>
              <a:rPr lang="en-US" sz="1200" dirty="0">
                <a:solidFill>
                  <a:schemeClr val="tx2"/>
                </a:solidFill>
              </a:rPr>
              <a:t>Built on Claude models, via GitHub Copilot and Kiro</a:t>
            </a:r>
            <a:endParaRPr lang="en-US" sz="1200" dirty="0"/>
          </a:p>
        </p:txBody>
      </p:sp>
      <p:pic>
        <p:nvPicPr>
          <p:cNvPr id="7" name="a1f_i_6" descr="/Users/deepakkumar/Documents/Claude projects/the-agentic-delivery-pipeline/pitch/build/assets/master-agent.gif">    </p:cNvPr>
          <p:cNvPicPr>
            <a:picLocks noChangeAspect="1"/>
          </p:cNvPicPr>
          <p:nvPr/>
        </p:nvPicPr>
        <p:blipFill>
          <a:blip r:embed="rId1"/>
          <a:stretch>
            <a:fillRect/>
          </a:stretch>
        </p:blipFill>
        <p:spPr>
          <a:xfrm>
            <a:off x="8183880" y="2286000"/>
            <a:ext cx="2011680" cy="2011680"/>
          </a:xfrm>
          <a:prstGeom prst="rect">
            <a:avLst/>
          </a:prstGeom>
        </p:spPr>
      </p:pic>
      <p:sp>
        <p:nvSpPr>
          <p:cNvPr id="8" name="a2f_b_7"/>
          <p:cNvSpPr/>
          <p:nvPr/>
        </p:nvSpPr>
        <p:spPr>
          <a:xfrm>
            <a:off x="8915400" y="914400"/>
            <a:ext cx="548640" cy="548640"/>
          </a:xfrm>
          <a:prstGeom prst="roundRect">
            <a:avLst>
              <a:gd name="adj" fmla="val 22000"/>
            </a:avLst>
          </a:prstGeom>
          <a:solidFill>
            <a:schemeClr val="bg2"/>
          </a:solidFill>
          <a:ln w="15875">
            <a:solidFill>
              <a:schemeClr val="accent1"/>
            </a:solidFill>
            <a:prstDash val="solid"/>
          </a:ln>
        </p:spPr>
      </p:sp>
      <p:pic>
        <p:nvPicPr>
          <p:cNvPr id="9" name="a2f_i_8" descr="preencoded.png">    </p:cNvPr>
          <p:cNvPicPr>
            <a:picLocks noChangeAspect="1"/>
          </p:cNvPicPr>
          <p:nvPr/>
        </p:nvPicPr>
        <p:blipFill>
          <a:blip r:embed="rId2"/>
          <a:stretch>
            <a:fillRect/>
          </a:stretch>
        </p:blipFill>
        <p:spPr>
          <a:xfrm>
            <a:off x="9047074" y="1046074"/>
            <a:ext cx="285293" cy="285293"/>
          </a:xfrm>
          <a:prstGeom prst="rect">
            <a:avLst/>
          </a:prstGeom>
        </p:spPr>
      </p:pic>
      <p:sp>
        <p:nvSpPr>
          <p:cNvPr id="10" name="a3f_b_9"/>
          <p:cNvSpPr/>
          <p:nvPr/>
        </p:nvSpPr>
        <p:spPr>
          <a:xfrm>
            <a:off x="10267259" y="1406437"/>
            <a:ext cx="548640" cy="548640"/>
          </a:xfrm>
          <a:prstGeom prst="roundRect">
            <a:avLst>
              <a:gd name="adj" fmla="val 22000"/>
            </a:avLst>
          </a:prstGeom>
          <a:solidFill>
            <a:schemeClr val="bg2"/>
          </a:solidFill>
          <a:ln w="15875">
            <a:solidFill>
              <a:schemeClr val="accent1"/>
            </a:solidFill>
            <a:prstDash val="solid"/>
          </a:ln>
        </p:spPr>
      </p:sp>
      <p:pic>
        <p:nvPicPr>
          <p:cNvPr id="11" name="a3f_i_10" descr="preencoded.png">    </p:cNvPr>
          <p:cNvPicPr>
            <a:picLocks noChangeAspect="1"/>
          </p:cNvPicPr>
          <p:nvPr/>
        </p:nvPicPr>
        <p:blipFill>
          <a:blip r:embed="rId3"/>
          <a:stretch>
            <a:fillRect/>
          </a:stretch>
        </p:blipFill>
        <p:spPr>
          <a:xfrm>
            <a:off x="10398933" y="1538110"/>
            <a:ext cx="285293" cy="285293"/>
          </a:xfrm>
          <a:prstGeom prst="rect">
            <a:avLst/>
          </a:prstGeom>
        </p:spPr>
      </p:pic>
      <p:sp>
        <p:nvSpPr>
          <p:cNvPr id="12" name="a4f_b_11"/>
          <p:cNvSpPr/>
          <p:nvPr/>
        </p:nvSpPr>
        <p:spPr>
          <a:xfrm>
            <a:off x="10986569" y="2652317"/>
            <a:ext cx="548640" cy="548640"/>
          </a:xfrm>
          <a:prstGeom prst="roundRect">
            <a:avLst>
              <a:gd name="adj" fmla="val 22000"/>
            </a:avLst>
          </a:prstGeom>
          <a:solidFill>
            <a:schemeClr val="bg2"/>
          </a:solidFill>
          <a:ln w="15875">
            <a:solidFill>
              <a:schemeClr val="accent1"/>
            </a:solidFill>
            <a:prstDash val="solid"/>
          </a:ln>
        </p:spPr>
      </p:sp>
      <p:pic>
        <p:nvPicPr>
          <p:cNvPr id="13" name="a4f_i_12" descr="preencoded.png">    </p:cNvPr>
          <p:cNvPicPr>
            <a:picLocks noChangeAspect="1"/>
          </p:cNvPicPr>
          <p:nvPr/>
        </p:nvPicPr>
        <p:blipFill>
          <a:blip r:embed="rId4"/>
          <a:stretch>
            <a:fillRect/>
          </a:stretch>
        </p:blipFill>
        <p:spPr>
          <a:xfrm>
            <a:off x="11118242" y="2783991"/>
            <a:ext cx="285293" cy="285293"/>
          </a:xfrm>
          <a:prstGeom prst="rect">
            <a:avLst/>
          </a:prstGeom>
        </p:spPr>
      </p:pic>
      <p:sp>
        <p:nvSpPr>
          <p:cNvPr id="14" name="a5f_b_13"/>
          <p:cNvSpPr/>
          <p:nvPr/>
        </p:nvSpPr>
        <p:spPr>
          <a:xfrm>
            <a:off x="10736755" y="4069080"/>
            <a:ext cx="548640" cy="548640"/>
          </a:xfrm>
          <a:prstGeom prst="roundRect">
            <a:avLst>
              <a:gd name="adj" fmla="val 22000"/>
            </a:avLst>
          </a:prstGeom>
          <a:solidFill>
            <a:schemeClr val="bg2"/>
          </a:solidFill>
          <a:ln w="15875">
            <a:solidFill>
              <a:schemeClr val="accent1"/>
            </a:solidFill>
            <a:prstDash val="solid"/>
          </a:ln>
        </p:spPr>
      </p:sp>
      <p:pic>
        <p:nvPicPr>
          <p:cNvPr id="15" name="a5f_i_14" descr="preencoded.png">    </p:cNvPr>
          <p:cNvPicPr>
            <a:picLocks noChangeAspect="1"/>
          </p:cNvPicPr>
          <p:nvPr/>
        </p:nvPicPr>
        <p:blipFill>
          <a:blip r:embed="rId5"/>
          <a:stretch>
            <a:fillRect/>
          </a:stretch>
        </p:blipFill>
        <p:spPr>
          <a:xfrm>
            <a:off x="10868429" y="4200754"/>
            <a:ext cx="285293" cy="285293"/>
          </a:xfrm>
          <a:prstGeom prst="rect">
            <a:avLst/>
          </a:prstGeom>
        </p:spPr>
      </p:pic>
      <p:sp>
        <p:nvSpPr>
          <p:cNvPr id="16" name="a6f_b_15"/>
          <p:cNvSpPr/>
          <p:nvPr/>
        </p:nvSpPr>
        <p:spPr>
          <a:xfrm>
            <a:off x="9634709" y="4993806"/>
            <a:ext cx="548640" cy="548640"/>
          </a:xfrm>
          <a:prstGeom prst="roundRect">
            <a:avLst>
              <a:gd name="adj" fmla="val 22000"/>
            </a:avLst>
          </a:prstGeom>
          <a:solidFill>
            <a:schemeClr val="bg2"/>
          </a:solidFill>
          <a:ln w="15875">
            <a:solidFill>
              <a:schemeClr val="accent1"/>
            </a:solidFill>
            <a:prstDash val="solid"/>
          </a:ln>
        </p:spPr>
      </p:sp>
      <p:pic>
        <p:nvPicPr>
          <p:cNvPr id="17" name="a6f_i_16" descr="preencoded.png">    </p:cNvPr>
          <p:cNvPicPr>
            <a:picLocks noChangeAspect="1"/>
          </p:cNvPicPr>
          <p:nvPr/>
        </p:nvPicPr>
        <p:blipFill>
          <a:blip r:embed="rId6"/>
          <a:stretch>
            <a:fillRect/>
          </a:stretch>
        </p:blipFill>
        <p:spPr>
          <a:xfrm>
            <a:off x="9766383" y="5125480"/>
            <a:ext cx="285293" cy="285293"/>
          </a:xfrm>
          <a:prstGeom prst="rect">
            <a:avLst/>
          </a:prstGeom>
        </p:spPr>
      </p:pic>
      <p:sp>
        <p:nvSpPr>
          <p:cNvPr id="18" name="a7f_b_17"/>
          <p:cNvSpPr/>
          <p:nvPr/>
        </p:nvSpPr>
        <p:spPr>
          <a:xfrm>
            <a:off x="8196091" y="4993806"/>
            <a:ext cx="548640" cy="548640"/>
          </a:xfrm>
          <a:prstGeom prst="roundRect">
            <a:avLst>
              <a:gd name="adj" fmla="val 22000"/>
            </a:avLst>
          </a:prstGeom>
          <a:solidFill>
            <a:schemeClr val="bg2"/>
          </a:solidFill>
          <a:ln w="15875">
            <a:solidFill>
              <a:schemeClr val="accent1"/>
            </a:solidFill>
            <a:prstDash val="solid"/>
          </a:ln>
        </p:spPr>
      </p:sp>
      <p:pic>
        <p:nvPicPr>
          <p:cNvPr id="19" name="a7f_i_18" descr="preencoded.png">    </p:cNvPr>
          <p:cNvPicPr>
            <a:picLocks noChangeAspect="1"/>
          </p:cNvPicPr>
          <p:nvPr/>
        </p:nvPicPr>
        <p:blipFill>
          <a:blip r:embed="rId7"/>
          <a:stretch>
            <a:fillRect/>
          </a:stretch>
        </p:blipFill>
        <p:spPr>
          <a:xfrm>
            <a:off x="8327764" y="5125480"/>
            <a:ext cx="285293" cy="285293"/>
          </a:xfrm>
          <a:prstGeom prst="rect">
            <a:avLst/>
          </a:prstGeom>
        </p:spPr>
      </p:pic>
      <p:sp>
        <p:nvSpPr>
          <p:cNvPr id="20" name="a8f_b_19"/>
          <p:cNvSpPr/>
          <p:nvPr/>
        </p:nvSpPr>
        <p:spPr>
          <a:xfrm>
            <a:off x="7094045" y="4069080"/>
            <a:ext cx="548640" cy="548640"/>
          </a:xfrm>
          <a:prstGeom prst="roundRect">
            <a:avLst>
              <a:gd name="adj" fmla="val 22000"/>
            </a:avLst>
          </a:prstGeom>
          <a:solidFill>
            <a:schemeClr val="bg2"/>
          </a:solidFill>
          <a:ln w="15875">
            <a:solidFill>
              <a:schemeClr val="accent1"/>
            </a:solidFill>
            <a:prstDash val="solid"/>
          </a:ln>
        </p:spPr>
      </p:sp>
      <p:pic>
        <p:nvPicPr>
          <p:cNvPr id="21" name="a8f_i_20" descr="preencoded.png">    </p:cNvPr>
          <p:cNvPicPr>
            <a:picLocks noChangeAspect="1"/>
          </p:cNvPicPr>
          <p:nvPr/>
        </p:nvPicPr>
        <p:blipFill>
          <a:blip r:embed="rId8"/>
          <a:stretch>
            <a:fillRect/>
          </a:stretch>
        </p:blipFill>
        <p:spPr>
          <a:xfrm>
            <a:off x="7225718" y="4200754"/>
            <a:ext cx="285293" cy="285293"/>
          </a:xfrm>
          <a:prstGeom prst="rect">
            <a:avLst/>
          </a:prstGeom>
        </p:spPr>
      </p:pic>
      <p:sp>
        <p:nvSpPr>
          <p:cNvPr id="22" name="a9f_b_21"/>
          <p:cNvSpPr/>
          <p:nvPr/>
        </p:nvSpPr>
        <p:spPr>
          <a:xfrm>
            <a:off x="6844231" y="2652317"/>
            <a:ext cx="548640" cy="548640"/>
          </a:xfrm>
          <a:prstGeom prst="roundRect">
            <a:avLst>
              <a:gd name="adj" fmla="val 22000"/>
            </a:avLst>
          </a:prstGeom>
          <a:solidFill>
            <a:schemeClr val="bg2"/>
          </a:solidFill>
          <a:ln w="15875">
            <a:solidFill>
              <a:schemeClr val="accent1"/>
            </a:solidFill>
            <a:prstDash val="solid"/>
          </a:ln>
        </p:spPr>
      </p:sp>
      <p:pic>
        <p:nvPicPr>
          <p:cNvPr id="23" name="a9f_i_22" descr="preencoded.png">    </p:cNvPr>
          <p:cNvPicPr>
            <a:picLocks noChangeAspect="1"/>
          </p:cNvPicPr>
          <p:nvPr/>
        </p:nvPicPr>
        <p:blipFill>
          <a:blip r:embed="rId9"/>
          <a:stretch>
            <a:fillRect/>
          </a:stretch>
        </p:blipFill>
        <p:spPr>
          <a:xfrm>
            <a:off x="6975905" y="2783991"/>
            <a:ext cx="285293" cy="285293"/>
          </a:xfrm>
          <a:prstGeom prst="rect">
            <a:avLst/>
          </a:prstGeom>
        </p:spPr>
      </p:pic>
      <p:sp>
        <p:nvSpPr>
          <p:cNvPr id="24" name="a10f_b_23"/>
          <p:cNvSpPr/>
          <p:nvPr/>
        </p:nvSpPr>
        <p:spPr>
          <a:xfrm>
            <a:off x="7563541" y="1406437"/>
            <a:ext cx="548640" cy="548640"/>
          </a:xfrm>
          <a:prstGeom prst="roundRect">
            <a:avLst>
              <a:gd name="adj" fmla="val 22000"/>
            </a:avLst>
          </a:prstGeom>
          <a:solidFill>
            <a:schemeClr val="bg2"/>
          </a:solidFill>
          <a:ln w="15875">
            <a:solidFill>
              <a:schemeClr val="accent1"/>
            </a:solidFill>
            <a:prstDash val="solid"/>
          </a:ln>
        </p:spPr>
      </p:sp>
      <p:pic>
        <p:nvPicPr>
          <p:cNvPr id="25" name="a10f_i_24" descr="preencoded.png">    </p:cNvPr>
          <p:cNvPicPr>
            <a:picLocks noChangeAspect="1"/>
          </p:cNvPicPr>
          <p:nvPr/>
        </p:nvPicPr>
        <p:blipFill>
          <a:blip r:embed="rId10"/>
          <a:stretch>
            <a:fillRect/>
          </a:stretch>
        </p:blipFill>
        <p:spPr>
          <a:xfrm>
            <a:off x="7695214" y="1538110"/>
            <a:ext cx="285293" cy="285293"/>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childTnLst>
                          </p:cTn>
                        </p:par>
                        <p:par>
                          <p:cTn id="13"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5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par>
                          <p:cTn id="20" fill="hold">
                            <p:stCondLst>
                              <p:cond delay="76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childTnLst>
                          </p:cTn>
                        </p:par>
                        <p:par>
                          <p:cTn id="27" fill="hold">
                            <p:stCondLst>
                              <p:cond delay="114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par>
                          <p:cTn id="34" fill="hold">
                            <p:stCondLst>
                              <p:cond delay="152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childTnLst>
                          </p:cTn>
                        </p:par>
                        <p:par>
                          <p:cTn id="41" fill="hold">
                            <p:stCondLst>
                              <p:cond delay="19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8" fill="hold">
                            <p:stCondLst>
                              <p:cond delay="228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childTnLst>
                          </p:cTn>
                        </p:par>
                        <p:par>
                          <p:cTn id="55" fill="hold">
                            <p:stCondLst>
                              <p:cond delay="266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childTnLst>
                          </p:cTn>
                        </p:par>
                        <p:par>
                          <p:cTn id="62" fill="hold">
                            <p:stCondLst>
                              <p:cond delay="3040"/>
                            </p:stCondLst>
                            <p:childTnLst>
                              <p:par>
                                <p:cTn id="56" presetID="10"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childTnLst>
                          </p:cTn>
                        </p:par>
                        <p:par>
                          <p:cTn id="69" fill="hold">
                            <p:stCondLst>
                              <p:cond delay="3420"/>
                            </p:stCondLst>
                            <p:childTnLst>
                              <p:par>
                                <p:cTn id="63" presetID="10"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8" grpId="0" animBg="1"/>
      <p:bldP spid="20" grpId="0" animBg="1"/>
      <p:bldP spid="22" grpId="0" animBg="1"/>
      <p:bldP spid="24" grpId="0" animBg="1"/>
    </p:bldLst>
  </p:timing>
</p:sld>
</file>

<file path=ppt/slides/slide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_t_25"/>
          <p:cNvSpPr txBox="1"/>
          <p:nvPr/>
        </p:nvSpPr>
        <p:spPr>
          <a:xfrm>
            <a:off x="548640" y="365760"/>
            <a:ext cx="54864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WHO'S PRESENTING</a:t>
            </a:r>
            <a:endParaRPr lang="en-US" sz="12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Deepak Kumar</a:t>
            </a:r>
            <a:endParaRPr lang="en-US" sz="2800" dirty="0"/>
          </a:p>
        </p:txBody>
      </p:sp>
      <p:sp>
        <p:nvSpPr>
          <p:cNvPr id="4" name="a1f_b_26"/>
          <p:cNvSpPr/>
          <p:nvPr/>
        </p:nvSpPr>
        <p:spPr>
          <a:xfrm>
            <a:off x="548640" y="1828800"/>
            <a:ext cx="6035040" cy="914400"/>
          </a:xfrm>
          <a:prstGeom prst="roundRect">
            <a:avLst>
              <a:gd name="adj" fmla="val 12000"/>
            </a:avLst>
          </a:prstGeom>
          <a:solidFill>
            <a:schemeClr val="bg2"/>
          </a:solidFill>
          <a:ln w="9525">
            <a:solidFill>
              <a:schemeClr val="accent3"/>
            </a:solidFill>
            <a:prstDash val="solid"/>
          </a:ln>
        </p:spPr>
      </p:sp>
      <p:sp>
        <p:nvSpPr>
          <p:cNvPr id="5" name="a1f_b_27"/>
          <p:cNvSpPr/>
          <p:nvPr/>
        </p:nvSpPr>
        <p:spPr>
          <a:xfrm>
            <a:off x="731520" y="2057400"/>
            <a:ext cx="457200" cy="457200"/>
          </a:xfrm>
          <a:prstGeom prst="ellipse">
            <a:avLst/>
          </a:prstGeom>
          <a:solidFill>
            <a:schemeClr val="accent1">
              <a:alpha val="20000"/>
            </a:schemeClr>
          </a:solidFill>
          <a:ln/>
        </p:spPr>
      </p:sp>
      <p:pic>
        <p:nvPicPr>
          <p:cNvPr id="6" name="a1f_i_28" descr="preencoded.png">    </p:cNvPr>
          <p:cNvPicPr>
            <a:picLocks noChangeAspect="1"/>
          </p:cNvPicPr>
          <p:nvPr/>
        </p:nvPicPr>
        <p:blipFill>
          <a:blip r:embed="rId1"/>
          <a:stretch>
            <a:fillRect/>
          </a:stretch>
        </p:blipFill>
        <p:spPr>
          <a:xfrm>
            <a:off x="845820" y="2171700"/>
            <a:ext cx="228600" cy="228600"/>
          </a:xfrm>
          <a:prstGeom prst="rect">
            <a:avLst/>
          </a:prstGeom>
        </p:spPr>
      </p:pic>
      <p:sp>
        <p:nvSpPr>
          <p:cNvPr id="7" name="a1f_t_29"/>
          <p:cNvSpPr txBox="1"/>
          <p:nvPr/>
        </p:nvSpPr>
        <p:spPr>
          <a:xfrm>
            <a:off x="1417320" y="199339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Coforge since 30 May 2024</a:t>
            </a:r>
            <a:endParaRPr lang="en-US" sz="1600" dirty="0"/>
          </a:p>
        </p:txBody>
      </p:sp>
      <p:sp>
        <p:nvSpPr>
          <p:cNvPr id="8" name="a1f_t_30"/>
          <p:cNvSpPr txBox="1"/>
          <p:nvPr/>
        </p:nvSpPr>
        <p:spPr>
          <a:xfrm>
            <a:off x="1417320" y="230428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At Ameriprise Financial from day one</a:t>
            </a:r>
            <a:endParaRPr lang="en-US" sz="1200" dirty="0"/>
          </a:p>
        </p:txBody>
      </p:sp>
      <p:sp>
        <p:nvSpPr>
          <p:cNvPr id="9" name="a2f_b_31"/>
          <p:cNvSpPr/>
          <p:nvPr/>
        </p:nvSpPr>
        <p:spPr>
          <a:xfrm>
            <a:off x="548640" y="2926080"/>
            <a:ext cx="6035040" cy="914400"/>
          </a:xfrm>
          <a:prstGeom prst="roundRect">
            <a:avLst>
              <a:gd name="adj" fmla="val 12000"/>
            </a:avLst>
          </a:prstGeom>
          <a:solidFill>
            <a:schemeClr val="bg2"/>
          </a:solidFill>
          <a:ln w="9525">
            <a:solidFill>
              <a:schemeClr val="accent3"/>
            </a:solidFill>
            <a:prstDash val="solid"/>
          </a:ln>
        </p:spPr>
      </p:sp>
      <p:sp>
        <p:nvSpPr>
          <p:cNvPr id="10" name="a2f_b_32"/>
          <p:cNvSpPr/>
          <p:nvPr/>
        </p:nvSpPr>
        <p:spPr>
          <a:xfrm>
            <a:off x="731520" y="3154680"/>
            <a:ext cx="457200" cy="457200"/>
          </a:xfrm>
          <a:prstGeom prst="ellipse">
            <a:avLst/>
          </a:prstGeom>
          <a:solidFill>
            <a:schemeClr val="accent1">
              <a:alpha val="20000"/>
            </a:schemeClr>
          </a:solidFill>
          <a:ln/>
        </p:spPr>
      </p:sp>
      <p:pic>
        <p:nvPicPr>
          <p:cNvPr id="11" name="a2f_i_33" descr="preencoded.png">    </p:cNvPr>
          <p:cNvPicPr>
            <a:picLocks noChangeAspect="1"/>
          </p:cNvPicPr>
          <p:nvPr/>
        </p:nvPicPr>
        <p:blipFill>
          <a:blip r:embed="rId2"/>
          <a:stretch>
            <a:fillRect/>
          </a:stretch>
        </p:blipFill>
        <p:spPr>
          <a:xfrm>
            <a:off x="845820" y="3268980"/>
            <a:ext cx="228600" cy="228600"/>
          </a:xfrm>
          <a:prstGeom prst="rect">
            <a:avLst/>
          </a:prstGeom>
        </p:spPr>
      </p:pic>
      <p:sp>
        <p:nvSpPr>
          <p:cNvPr id="12" name="a2f_t_34"/>
          <p:cNvSpPr txBox="1"/>
          <p:nvPr/>
        </p:nvSpPr>
        <p:spPr>
          <a:xfrm>
            <a:off x="1417320" y="309067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Frontend team, 40–50 developers</a:t>
            </a:r>
            <a:endParaRPr lang="en-US" sz="1600" dirty="0"/>
          </a:p>
        </p:txBody>
      </p:sp>
      <p:sp>
        <p:nvSpPr>
          <p:cNvPr id="13" name="a2f_t_35"/>
          <p:cNvSpPr txBox="1"/>
          <p:nvPr/>
        </p:nvSpPr>
        <p:spPr>
          <a:xfrm>
            <a:off x="1417320" y="340156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The team using these agents today</a:t>
            </a:r>
            <a:endParaRPr lang="en-US" sz="1200" dirty="0"/>
          </a:p>
        </p:txBody>
      </p:sp>
      <p:sp>
        <p:nvSpPr>
          <p:cNvPr id="14" name="a3f_b_36"/>
          <p:cNvSpPr/>
          <p:nvPr/>
        </p:nvSpPr>
        <p:spPr>
          <a:xfrm>
            <a:off x="548640" y="4023360"/>
            <a:ext cx="6035040" cy="914400"/>
          </a:xfrm>
          <a:prstGeom prst="roundRect">
            <a:avLst>
              <a:gd name="adj" fmla="val 12000"/>
            </a:avLst>
          </a:prstGeom>
          <a:solidFill>
            <a:schemeClr val="bg2"/>
          </a:solidFill>
          <a:ln w="9525">
            <a:solidFill>
              <a:schemeClr val="accent3"/>
            </a:solidFill>
            <a:prstDash val="solid"/>
          </a:ln>
        </p:spPr>
      </p:sp>
      <p:sp>
        <p:nvSpPr>
          <p:cNvPr id="15" name="a3f_b_37"/>
          <p:cNvSpPr/>
          <p:nvPr/>
        </p:nvSpPr>
        <p:spPr>
          <a:xfrm>
            <a:off x="731520" y="4251960"/>
            <a:ext cx="457200" cy="457200"/>
          </a:xfrm>
          <a:prstGeom prst="ellipse">
            <a:avLst/>
          </a:prstGeom>
          <a:solidFill>
            <a:schemeClr val="accent1">
              <a:alpha val="20000"/>
            </a:schemeClr>
          </a:solidFill>
          <a:ln/>
        </p:spPr>
      </p:sp>
      <p:pic>
        <p:nvPicPr>
          <p:cNvPr id="16" name="a3f_i_38" descr="preencoded.png">    </p:cNvPr>
          <p:cNvPicPr>
            <a:picLocks noChangeAspect="1"/>
          </p:cNvPicPr>
          <p:nvPr/>
        </p:nvPicPr>
        <p:blipFill>
          <a:blip r:embed="rId3"/>
          <a:stretch>
            <a:fillRect/>
          </a:stretch>
        </p:blipFill>
        <p:spPr>
          <a:xfrm>
            <a:off x="845820" y="4366260"/>
            <a:ext cx="228600" cy="228600"/>
          </a:xfrm>
          <a:prstGeom prst="rect">
            <a:avLst/>
          </a:prstGeom>
        </p:spPr>
      </p:pic>
      <p:sp>
        <p:nvSpPr>
          <p:cNvPr id="17" name="a3f_t_39"/>
          <p:cNvSpPr txBox="1"/>
          <p:nvPr/>
        </p:nvSpPr>
        <p:spPr>
          <a:xfrm>
            <a:off x="1417320" y="418795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Built the-agentic-delivery-pipeline</a:t>
            </a:r>
            <a:endParaRPr lang="en-US" sz="1600" dirty="0"/>
          </a:p>
        </p:txBody>
      </p:sp>
      <p:sp>
        <p:nvSpPr>
          <p:cNvPr id="18" name="a3f_t_40"/>
          <p:cNvSpPr txBox="1"/>
          <p:nvPr/>
        </p:nvSpPr>
        <p:spPr>
          <a:xfrm>
            <a:off x="1417320" y="449884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Solo, with some help from DevSecOps</a:t>
            </a:r>
            <a:endParaRPr lang="en-US" sz="1200" dirty="0"/>
          </a:p>
        </p:txBody>
      </p:sp>
      <p:sp>
        <p:nvSpPr>
          <p:cNvPr id="19" name="a4f_b_41"/>
          <p:cNvSpPr/>
          <p:nvPr/>
        </p:nvSpPr>
        <p:spPr>
          <a:xfrm>
            <a:off x="7040880" y="1828800"/>
            <a:ext cx="4599432" cy="4023360"/>
          </a:xfrm>
          <a:prstGeom prst="roundRect">
            <a:avLst>
              <a:gd name="adj" fmla="val 4545"/>
            </a:avLst>
          </a:prstGeom>
          <a:solidFill>
            <a:schemeClr val="bg2"/>
          </a:solidFill>
          <a:ln w="15875">
            <a:solidFill>
              <a:schemeClr val="accent1"/>
            </a:solidFill>
            <a:prstDash val="solid"/>
          </a:ln>
        </p:spPr>
      </p:sp>
      <p:pic>
        <p:nvPicPr>
          <p:cNvPr id="20" name="a4f_i_42" descr="/Users/deepakkumar/Documents/Claude projects/the-agentic-delivery-pipeline/pitch/build/assets/claude-symbol.png">    </p:cNvPr>
          <p:cNvPicPr>
            <a:picLocks noChangeAspect="1"/>
          </p:cNvPicPr>
          <p:nvPr/>
        </p:nvPicPr>
        <p:blipFill>
          <a:blip r:embed="rId4"/>
          <a:stretch>
            <a:fillRect/>
          </a:stretch>
        </p:blipFill>
        <p:spPr>
          <a:xfrm>
            <a:off x="7406640" y="2194560"/>
            <a:ext cx="777240" cy="777240"/>
          </a:xfrm>
          <a:prstGeom prst="rect">
            <a:avLst/>
          </a:prstGeom>
        </p:spPr>
      </p:pic>
      <p:sp>
        <p:nvSpPr>
          <p:cNvPr id="21" name="a4f_t_43"/>
          <p:cNvSpPr txBox="1"/>
          <p:nvPr/>
        </p:nvSpPr>
        <p:spPr>
          <a:xfrm>
            <a:off x="7406640" y="3154680"/>
            <a:ext cx="4023360" cy="365760"/>
          </a:xfrm>
          <a:prstGeom prst="rect">
            <a:avLst/>
          </a:prstGeom>
          <a:noFill/>
          <a:ln/>
        </p:spPr>
        <p:txBody>
          <a:bodyPr wrap="square" lIns="0" tIns="0" rIns="0" bIns="0" rtlCol="0" anchor="t"/>
          <a:lstStyle/>
          <a:p>
            <a:pPr algn="l" indent="0" marL="0">
              <a:buNone/>
            </a:pPr>
            <a:r>
              <a:rPr lang="en-US" sz="2000" b="1" dirty="0">
                <a:solidFill>
                  <a:schemeClr val="tx1"/>
                </a:solidFill>
              </a:rPr>
              <a:t>Claude Certified Developer</a:t>
            </a:r>
            <a:endParaRPr lang="en-US" sz="2000" dirty="0"/>
          </a:p>
        </p:txBody>
      </p:sp>
      <p:sp>
        <p:nvSpPr>
          <p:cNvPr id="22" name="a4f_t_44"/>
          <p:cNvSpPr txBox="1"/>
          <p:nvPr/>
        </p:nvSpPr>
        <p:spPr>
          <a:xfrm>
            <a:off x="7406640" y="3547872"/>
            <a:ext cx="4023360" cy="274320"/>
          </a:xfrm>
          <a:prstGeom prst="rect">
            <a:avLst/>
          </a:prstGeom>
          <a:noFill/>
          <a:ln/>
        </p:spPr>
        <p:txBody>
          <a:bodyPr wrap="square" lIns="0" tIns="0" rIns="0" bIns="0" rtlCol="0" anchor="t"/>
          <a:lstStyle/>
          <a:p>
            <a:pPr algn="l" indent="0" marL="0">
              <a:buNone/>
            </a:pPr>
            <a:r>
              <a:rPr lang="en-US" sz="1200" dirty="0">
                <a:solidFill>
                  <a:schemeClr val="tx2"/>
                </a:solidFill>
              </a:rPr>
              <a:t>Foundations  ·  Anthropic  ·  passed 9 Oct 2026</a:t>
            </a:r>
            <a:endParaRPr lang="en-US" sz="1200" dirty="0"/>
          </a:p>
        </p:txBody>
      </p:sp>
      <p:sp>
        <p:nvSpPr>
          <p:cNvPr id="23" name="a5f_t_45"/>
          <p:cNvSpPr txBox="1"/>
          <p:nvPr/>
        </p:nvSpPr>
        <p:spPr>
          <a:xfrm>
            <a:off x="7406640" y="4069080"/>
            <a:ext cx="2103120" cy="1097280"/>
          </a:xfrm>
          <a:prstGeom prst="rect">
            <a:avLst/>
          </a:prstGeom>
          <a:noFill/>
          <a:ln/>
        </p:spPr>
        <p:txBody>
          <a:bodyPr wrap="square" lIns="0" tIns="0" rIns="0" bIns="0" rtlCol="0" anchor="t"/>
          <a:lstStyle/>
          <a:p>
            <a:pPr algn="l" indent="0" marL="0">
              <a:buNone/>
            </a:pPr>
            <a:r>
              <a:rPr lang="en-US" sz="6600" b="1" dirty="0">
                <a:solidFill>
                  <a:schemeClr val="accent1"/>
                </a:solidFill>
                <a:latin typeface="Georgia" pitchFamily="34" charset="0"/>
                <a:ea typeface="Georgia" pitchFamily="34" charset="-122"/>
                <a:cs typeface="Georgia" pitchFamily="34" charset="-120"/>
              </a:rPr>
              <a:t>882</a:t>
            </a:r>
            <a:endParaRPr lang="en-US" sz="6600" dirty="0"/>
          </a:p>
        </p:txBody>
      </p:sp>
      <p:sp>
        <p:nvSpPr>
          <p:cNvPr id="24" name="a5f_t_46"/>
          <p:cNvSpPr txBox="1"/>
          <p:nvPr/>
        </p:nvSpPr>
        <p:spPr>
          <a:xfrm>
            <a:off x="9464040" y="4389120"/>
            <a:ext cx="2011680" cy="640080"/>
          </a:xfrm>
          <a:prstGeom prst="rect">
            <a:avLst/>
          </a:prstGeom>
          <a:noFill/>
          <a:ln/>
        </p:spPr>
        <p:txBody>
          <a:bodyPr wrap="square" lIns="0" tIns="0" rIns="0" bIns="0" rtlCol="0" anchor="t"/>
          <a:lstStyle/>
          <a:p>
            <a:pPr algn="l" indent="0" marL="0">
              <a:buNone/>
            </a:pPr>
            <a:r>
              <a:rPr lang="en-US" sz="1400" dirty="0">
                <a:solidFill>
                  <a:schemeClr val="tx2"/>
                </a:solidFill>
              </a:rPr>
              <a:t>score</a:t>
            </a:r>
            <a:endParaRPr lang="en-US" sz="1400" dirty="0"/>
          </a:p>
          <a:p>
            <a:pPr algn="l" indent="0" marL="0">
              <a:buNone/>
            </a:pPr>
            <a:r>
              <a:rPr lang="en-US" sz="1400" dirty="0">
                <a:solidFill>
                  <a:schemeClr val="tx2"/>
                </a:solidFill>
              </a:rPr>
              <a:t>pass mark 720</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3"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par>
                          <p:cTn id="70" fill="hold">
                            <p:stCondLst>
                              <p:cond delay="152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Lst>
  </p:timing>
</p:sld>
</file>

<file path=ppt/slides/slide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does a 13-point story cost us today?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does a 13-point story cost us today?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40 man-hours, and most of it isn't writing code</a:t>
            </a:r>
            <a:endParaRPr lang="en-US" sz="2800" dirty="0"/>
          </a:p>
        </p:txBody>
      </p:sp>
      <p:sp>
        <p:nvSpPr>
          <p:cNvPr id="5" name="a1f_t_48"/>
          <p:cNvSpPr txBox="1"/>
          <p:nvPr/>
        </p:nvSpPr>
        <p:spPr>
          <a:xfrm>
            <a:off x="548640" y="1691640"/>
            <a:ext cx="3474720" cy="1828800"/>
          </a:xfrm>
          <a:prstGeom prst="rect">
            <a:avLst/>
          </a:prstGeom>
          <a:noFill/>
          <a:ln/>
        </p:spPr>
        <p:txBody>
          <a:bodyPr wrap="square" lIns="0" tIns="0" rIns="0" bIns="0" rtlCol="0" anchor="t"/>
          <a:lstStyle/>
          <a:p>
            <a:pPr algn="l" indent="0" marL="0">
              <a:buNone/>
            </a:pPr>
            <a:r>
              <a:rPr lang="en-US" sz="13000" b="1" dirty="0">
                <a:solidFill>
                  <a:schemeClr val="accent1"/>
                </a:solidFill>
                <a:latin typeface="Georgia" pitchFamily="34" charset="0"/>
                <a:ea typeface="Georgia" pitchFamily="34" charset="-122"/>
                <a:cs typeface="Georgia" pitchFamily="34" charset="-120"/>
              </a:rPr>
              <a:t>40</a:t>
            </a:r>
            <a:endParaRPr lang="en-US" sz="13000" dirty="0"/>
          </a:p>
        </p:txBody>
      </p:sp>
      <p:sp>
        <p:nvSpPr>
          <p:cNvPr id="6" name="a1f_t_49"/>
          <p:cNvSpPr txBox="1"/>
          <p:nvPr/>
        </p:nvSpPr>
        <p:spPr>
          <a:xfrm>
            <a:off x="548640" y="3657600"/>
            <a:ext cx="3474720" cy="411480"/>
          </a:xfrm>
          <a:prstGeom prst="rect">
            <a:avLst/>
          </a:prstGeom>
          <a:noFill/>
          <a:ln/>
        </p:spPr>
        <p:txBody>
          <a:bodyPr wrap="square" lIns="0" tIns="0" rIns="0" bIns="0" rtlCol="0" anchor="t"/>
          <a:lstStyle/>
          <a:p>
            <a:pPr algn="l" indent="0" marL="0">
              <a:buNone/>
            </a:pPr>
            <a:r>
              <a:rPr lang="en-US" sz="2200" b="1" dirty="0">
                <a:solidFill>
                  <a:schemeClr val="tx1"/>
                </a:solidFill>
              </a:rPr>
              <a:t>man-hours</a:t>
            </a:r>
            <a:endParaRPr lang="en-US" sz="2200" dirty="0"/>
          </a:p>
        </p:txBody>
      </p:sp>
      <p:sp>
        <p:nvSpPr>
          <p:cNvPr id="7" name="a1f_t_50"/>
          <p:cNvSpPr txBox="1"/>
          <p:nvPr/>
        </p:nvSpPr>
        <p:spPr>
          <a:xfrm>
            <a:off x="548640" y="4160520"/>
            <a:ext cx="3474720" cy="731520"/>
          </a:xfrm>
          <a:prstGeom prst="rect">
            <a:avLst/>
          </a:prstGeom>
          <a:noFill/>
          <a:ln/>
        </p:spPr>
        <p:txBody>
          <a:bodyPr wrap="square" lIns="0" tIns="0" rIns="0" bIns="0" rtlCol="0" anchor="t"/>
          <a:lstStyle/>
          <a:p>
            <a:pPr algn="l" indent="0" marL="0">
              <a:buNone/>
            </a:pPr>
            <a:r>
              <a:rPr lang="en-US" sz="1600" dirty="0">
                <a:solidFill>
                  <a:schemeClr val="tx2"/>
                </a:solidFill>
              </a:rPr>
              <a:t>5 man-days for one</a:t>
            </a:r>
            <a:endParaRPr lang="en-US" sz="1600" dirty="0"/>
          </a:p>
          <a:p>
            <a:pPr algn="l" indent="0" marL="0">
              <a:buNone/>
            </a:pPr>
            <a:r>
              <a:rPr lang="en-US" sz="1600" dirty="0">
                <a:solidFill>
                  <a:schemeClr val="tx2"/>
                </a:solidFill>
              </a:rPr>
              <a:t>13-point story</a:t>
            </a:r>
            <a:endParaRPr lang="en-US" sz="1600" dirty="0"/>
          </a:p>
        </p:txBody>
      </p:sp>
      <p:sp>
        <p:nvSpPr>
          <p:cNvPr id="8" name="a2f_b_51"/>
          <p:cNvSpPr/>
          <p:nvPr/>
        </p:nvSpPr>
        <p:spPr>
          <a:xfrm>
            <a:off x="4572000" y="1737360"/>
            <a:ext cx="7068312" cy="731520"/>
          </a:xfrm>
          <a:prstGeom prst="roundRect">
            <a:avLst>
              <a:gd name="adj" fmla="val 15000"/>
            </a:avLst>
          </a:prstGeom>
          <a:solidFill>
            <a:schemeClr val="bg2"/>
          </a:solidFill>
          <a:ln w="9525">
            <a:solidFill>
              <a:schemeClr val="accent3"/>
            </a:solidFill>
            <a:prstDash val="solid"/>
          </a:ln>
        </p:spPr>
      </p:sp>
      <p:sp>
        <p:nvSpPr>
          <p:cNvPr id="9" name="a2f_b_52"/>
          <p:cNvSpPr/>
          <p:nvPr/>
        </p:nvSpPr>
        <p:spPr>
          <a:xfrm>
            <a:off x="4754880" y="1874520"/>
            <a:ext cx="457200" cy="457200"/>
          </a:xfrm>
          <a:prstGeom prst="ellipse">
            <a:avLst/>
          </a:prstGeom>
          <a:solidFill>
            <a:schemeClr val="accent1">
              <a:alpha val="20000"/>
            </a:schemeClr>
          </a:solidFill>
          <a:ln/>
        </p:spPr>
      </p:sp>
      <p:pic>
        <p:nvPicPr>
          <p:cNvPr id="10" name="a2f_i_53" descr="preencoded.png">    </p:cNvPr>
          <p:cNvPicPr>
            <a:picLocks noChangeAspect="1"/>
          </p:cNvPicPr>
          <p:nvPr/>
        </p:nvPicPr>
        <p:blipFill>
          <a:blip r:embed="rId1"/>
          <a:stretch>
            <a:fillRect/>
          </a:stretch>
        </p:blipFill>
        <p:spPr>
          <a:xfrm>
            <a:off x="4869180" y="1988820"/>
            <a:ext cx="228600" cy="228600"/>
          </a:xfrm>
          <a:prstGeom prst="rect">
            <a:avLst/>
          </a:prstGeom>
        </p:spPr>
      </p:pic>
      <p:sp>
        <p:nvSpPr>
          <p:cNvPr id="11" name="a2f_t_54"/>
          <p:cNvSpPr txBox="1"/>
          <p:nvPr/>
        </p:nvSpPr>
        <p:spPr>
          <a:xfrm>
            <a:off x="5440680" y="1810512"/>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Hunting for context</a:t>
            </a:r>
            <a:endParaRPr lang="en-US" sz="1600" dirty="0"/>
          </a:p>
        </p:txBody>
      </p:sp>
      <p:sp>
        <p:nvSpPr>
          <p:cNvPr id="12" name="a2f_t_55"/>
          <p:cNvSpPr txBox="1"/>
          <p:nvPr/>
        </p:nvSpPr>
        <p:spPr>
          <a:xfrm>
            <a:off x="5440680" y="2121408"/>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Jira, Figma, Confluence and SwaggerHub, one tab at a time</a:t>
            </a:r>
            <a:endParaRPr lang="en-US" sz="1200" dirty="0"/>
          </a:p>
        </p:txBody>
      </p:sp>
      <p:sp>
        <p:nvSpPr>
          <p:cNvPr id="13" name="a3f_b_56"/>
          <p:cNvSpPr/>
          <p:nvPr/>
        </p:nvSpPr>
        <p:spPr>
          <a:xfrm>
            <a:off x="4572000" y="2596896"/>
            <a:ext cx="7068312" cy="731520"/>
          </a:xfrm>
          <a:prstGeom prst="roundRect">
            <a:avLst>
              <a:gd name="adj" fmla="val 15000"/>
            </a:avLst>
          </a:prstGeom>
          <a:solidFill>
            <a:schemeClr val="bg2"/>
          </a:solidFill>
          <a:ln w="9525">
            <a:solidFill>
              <a:schemeClr val="accent3"/>
            </a:solidFill>
            <a:prstDash val="solid"/>
          </a:ln>
        </p:spPr>
      </p:sp>
      <p:sp>
        <p:nvSpPr>
          <p:cNvPr id="14" name="a3f_b_57"/>
          <p:cNvSpPr/>
          <p:nvPr/>
        </p:nvSpPr>
        <p:spPr>
          <a:xfrm>
            <a:off x="4754880" y="2734056"/>
            <a:ext cx="457200" cy="457200"/>
          </a:xfrm>
          <a:prstGeom prst="ellipse">
            <a:avLst/>
          </a:prstGeom>
          <a:solidFill>
            <a:schemeClr val="accent1">
              <a:alpha val="20000"/>
            </a:schemeClr>
          </a:solidFill>
          <a:ln/>
        </p:spPr>
      </p:sp>
      <p:pic>
        <p:nvPicPr>
          <p:cNvPr id="15" name="a3f_i_58" descr="preencoded.png">    </p:cNvPr>
          <p:cNvPicPr>
            <a:picLocks noChangeAspect="1"/>
          </p:cNvPicPr>
          <p:nvPr/>
        </p:nvPicPr>
        <p:blipFill>
          <a:blip r:embed="rId2"/>
          <a:stretch>
            <a:fillRect/>
          </a:stretch>
        </p:blipFill>
        <p:spPr>
          <a:xfrm>
            <a:off x="4869180" y="2848356"/>
            <a:ext cx="228600" cy="228600"/>
          </a:xfrm>
          <a:prstGeom prst="rect">
            <a:avLst/>
          </a:prstGeom>
        </p:spPr>
      </p:pic>
      <p:sp>
        <p:nvSpPr>
          <p:cNvPr id="16" name="a3f_t_59"/>
          <p:cNvSpPr txBox="1"/>
          <p:nvPr/>
        </p:nvSpPr>
        <p:spPr>
          <a:xfrm>
            <a:off x="5440680" y="2670048"/>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Chasing incomplete stories</a:t>
            </a:r>
            <a:endParaRPr lang="en-US" sz="1600" dirty="0"/>
          </a:p>
        </p:txBody>
      </p:sp>
      <p:sp>
        <p:nvSpPr>
          <p:cNvPr id="17" name="a3f_t_60"/>
          <p:cNvSpPr txBox="1"/>
          <p:nvPr/>
        </p:nvSpPr>
        <p:spPr>
          <a:xfrm>
            <a:off x="5440680" y="2980944"/>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Gaps surface mid-build, then wait on the reporter</a:t>
            </a:r>
            <a:endParaRPr lang="en-US" sz="1200" dirty="0"/>
          </a:p>
        </p:txBody>
      </p:sp>
      <p:sp>
        <p:nvSpPr>
          <p:cNvPr id="18" name="a4f_b_61"/>
          <p:cNvSpPr/>
          <p:nvPr/>
        </p:nvSpPr>
        <p:spPr>
          <a:xfrm>
            <a:off x="4572000" y="3456432"/>
            <a:ext cx="7068312" cy="731520"/>
          </a:xfrm>
          <a:prstGeom prst="roundRect">
            <a:avLst>
              <a:gd name="adj" fmla="val 15000"/>
            </a:avLst>
          </a:prstGeom>
          <a:solidFill>
            <a:schemeClr val="bg2"/>
          </a:solidFill>
          <a:ln w="9525">
            <a:solidFill>
              <a:schemeClr val="accent3"/>
            </a:solidFill>
            <a:prstDash val="solid"/>
          </a:ln>
        </p:spPr>
      </p:sp>
      <p:sp>
        <p:nvSpPr>
          <p:cNvPr id="19" name="a4f_b_62"/>
          <p:cNvSpPr/>
          <p:nvPr/>
        </p:nvSpPr>
        <p:spPr>
          <a:xfrm>
            <a:off x="4754880" y="3593592"/>
            <a:ext cx="457200" cy="457200"/>
          </a:xfrm>
          <a:prstGeom prst="ellipse">
            <a:avLst/>
          </a:prstGeom>
          <a:solidFill>
            <a:schemeClr val="accent1">
              <a:alpha val="20000"/>
            </a:schemeClr>
          </a:solidFill>
          <a:ln/>
        </p:spPr>
      </p:sp>
      <p:pic>
        <p:nvPicPr>
          <p:cNvPr id="20" name="a4f_i_63" descr="preencoded.png">    </p:cNvPr>
          <p:cNvPicPr>
            <a:picLocks noChangeAspect="1"/>
          </p:cNvPicPr>
          <p:nvPr/>
        </p:nvPicPr>
        <p:blipFill>
          <a:blip r:embed="rId3"/>
          <a:stretch>
            <a:fillRect/>
          </a:stretch>
        </p:blipFill>
        <p:spPr>
          <a:xfrm>
            <a:off x="4869180" y="3707892"/>
            <a:ext cx="228600" cy="228600"/>
          </a:xfrm>
          <a:prstGeom prst="rect">
            <a:avLst/>
          </a:prstGeom>
        </p:spPr>
      </p:pic>
      <p:sp>
        <p:nvSpPr>
          <p:cNvPr id="21" name="a4f_t_64"/>
          <p:cNvSpPr txBox="1"/>
          <p:nvPr/>
        </p:nvSpPr>
        <p:spPr>
          <a:xfrm>
            <a:off x="5440680" y="3529584"/>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Fixing scan findings</a:t>
            </a:r>
            <a:endParaRPr lang="en-US" sz="1600" dirty="0"/>
          </a:p>
        </p:txBody>
      </p:sp>
      <p:sp>
        <p:nvSpPr>
          <p:cNvPr id="22" name="a4f_t_65"/>
          <p:cNvSpPr txBox="1"/>
          <p:nvPr/>
        </p:nvSpPr>
        <p:spPr>
          <a:xfrm>
            <a:off x="5440680" y="3840480"/>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SonarQube, Veracode and Xray, one issue at a time</a:t>
            </a:r>
            <a:endParaRPr lang="en-US" sz="1200" dirty="0"/>
          </a:p>
        </p:txBody>
      </p:sp>
      <p:sp>
        <p:nvSpPr>
          <p:cNvPr id="23" name="a5f_b_66"/>
          <p:cNvSpPr/>
          <p:nvPr/>
        </p:nvSpPr>
        <p:spPr>
          <a:xfrm>
            <a:off x="4572000" y="4315968"/>
            <a:ext cx="7068312" cy="731520"/>
          </a:xfrm>
          <a:prstGeom prst="roundRect">
            <a:avLst>
              <a:gd name="adj" fmla="val 15000"/>
            </a:avLst>
          </a:prstGeom>
          <a:solidFill>
            <a:schemeClr val="bg2"/>
          </a:solidFill>
          <a:ln w="9525">
            <a:solidFill>
              <a:schemeClr val="accent3"/>
            </a:solidFill>
            <a:prstDash val="solid"/>
          </a:ln>
        </p:spPr>
      </p:sp>
      <p:sp>
        <p:nvSpPr>
          <p:cNvPr id="24" name="a5f_b_67"/>
          <p:cNvSpPr/>
          <p:nvPr/>
        </p:nvSpPr>
        <p:spPr>
          <a:xfrm>
            <a:off x="4754880" y="4453128"/>
            <a:ext cx="457200" cy="457200"/>
          </a:xfrm>
          <a:prstGeom prst="ellipse">
            <a:avLst/>
          </a:prstGeom>
          <a:solidFill>
            <a:schemeClr val="accent1">
              <a:alpha val="20000"/>
            </a:schemeClr>
          </a:solidFill>
          <a:ln/>
        </p:spPr>
      </p:sp>
      <p:pic>
        <p:nvPicPr>
          <p:cNvPr id="25" name="a5f_i_68" descr="preencoded.png">    </p:cNvPr>
          <p:cNvPicPr>
            <a:picLocks noChangeAspect="1"/>
          </p:cNvPicPr>
          <p:nvPr/>
        </p:nvPicPr>
        <p:blipFill>
          <a:blip r:embed="rId4"/>
          <a:stretch>
            <a:fillRect/>
          </a:stretch>
        </p:blipFill>
        <p:spPr>
          <a:xfrm>
            <a:off x="4869180" y="4567428"/>
            <a:ext cx="228600" cy="228600"/>
          </a:xfrm>
          <a:prstGeom prst="rect">
            <a:avLst/>
          </a:prstGeom>
        </p:spPr>
      </p:pic>
      <p:sp>
        <p:nvSpPr>
          <p:cNvPr id="26" name="a5f_t_69"/>
          <p:cNvSpPr txBox="1"/>
          <p:nvPr/>
        </p:nvSpPr>
        <p:spPr>
          <a:xfrm>
            <a:off x="5440680" y="4389120"/>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Waiting on a Jenkins expert</a:t>
            </a:r>
            <a:endParaRPr lang="en-US" sz="1600" dirty="0"/>
          </a:p>
        </p:txBody>
      </p:sp>
      <p:sp>
        <p:nvSpPr>
          <p:cNvPr id="27" name="a5f_t_70"/>
          <p:cNvSpPr txBox="1"/>
          <p:nvPr/>
        </p:nvSpPr>
        <p:spPr>
          <a:xfrm>
            <a:off x="5440680" y="4700016"/>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Read the logs, find someone, wait for their slot</a:t>
            </a:r>
            <a:endParaRPr lang="en-US" sz="1200" dirty="0"/>
          </a:p>
        </p:txBody>
      </p:sp>
      <p:sp>
        <p:nvSpPr>
          <p:cNvPr id="28" name="a6f_b_71"/>
          <p:cNvSpPr/>
          <p:nvPr/>
        </p:nvSpPr>
        <p:spPr>
          <a:xfrm>
            <a:off x="4572000" y="5175504"/>
            <a:ext cx="7068312" cy="731520"/>
          </a:xfrm>
          <a:prstGeom prst="roundRect">
            <a:avLst>
              <a:gd name="adj" fmla="val 15000"/>
            </a:avLst>
          </a:prstGeom>
          <a:solidFill>
            <a:schemeClr val="bg2"/>
          </a:solidFill>
          <a:ln w="9525">
            <a:solidFill>
              <a:schemeClr val="accent3"/>
            </a:solidFill>
            <a:prstDash val="solid"/>
          </a:ln>
        </p:spPr>
      </p:sp>
      <p:sp>
        <p:nvSpPr>
          <p:cNvPr id="29" name="a6f_b_72"/>
          <p:cNvSpPr/>
          <p:nvPr/>
        </p:nvSpPr>
        <p:spPr>
          <a:xfrm>
            <a:off x="4754880" y="5312664"/>
            <a:ext cx="457200" cy="457200"/>
          </a:xfrm>
          <a:prstGeom prst="ellipse">
            <a:avLst/>
          </a:prstGeom>
          <a:solidFill>
            <a:schemeClr val="accent1">
              <a:alpha val="20000"/>
            </a:schemeClr>
          </a:solidFill>
          <a:ln/>
        </p:spPr>
      </p:sp>
      <p:pic>
        <p:nvPicPr>
          <p:cNvPr id="30" name="a6f_i_73" descr="preencoded.png">    </p:cNvPr>
          <p:cNvPicPr>
            <a:picLocks noChangeAspect="1"/>
          </p:cNvPicPr>
          <p:nvPr/>
        </p:nvPicPr>
        <p:blipFill>
          <a:blip r:embed="rId5"/>
          <a:stretch>
            <a:fillRect/>
          </a:stretch>
        </p:blipFill>
        <p:spPr>
          <a:xfrm>
            <a:off x="4869180" y="5426964"/>
            <a:ext cx="228600" cy="228600"/>
          </a:xfrm>
          <a:prstGeom prst="rect">
            <a:avLst/>
          </a:prstGeom>
        </p:spPr>
      </p:pic>
      <p:sp>
        <p:nvSpPr>
          <p:cNvPr id="31" name="a6f_t_74"/>
          <p:cNvSpPr txBox="1"/>
          <p:nvPr/>
        </p:nvSpPr>
        <p:spPr>
          <a:xfrm>
            <a:off x="5440680" y="5248656"/>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Writing unit tests by hand</a:t>
            </a:r>
            <a:endParaRPr lang="en-US" sz="1600" dirty="0"/>
          </a:p>
        </p:txBody>
      </p:sp>
      <p:sp>
        <p:nvSpPr>
          <p:cNvPr id="32" name="a6f_t_75"/>
          <p:cNvSpPr txBox="1"/>
          <p:nvPr/>
        </p:nvSpPr>
        <p:spPr>
          <a:xfrm>
            <a:off x="5440680" y="5559552"/>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Slow, repetitive work to reach coverage</a:t>
            </a:r>
            <a:endParaRPr lang="en-US" sz="1200" dirty="0"/>
          </a:p>
        </p:txBody>
      </p:sp>
      <p:sp>
        <p:nvSpPr>
          <p:cNvPr id="33"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par>
                          <p:cTn id="28" fill="hold">
                            <p:stCondLst>
                              <p:cond delay="38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4"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childTnLst>
                          </p:cTn>
                        </p:par>
                        <p:par>
                          <p:cTn id="60" fill="hold">
                            <p:stCondLst>
                              <p:cond delay="114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par>
                          <p:cTn id="76" fill="hold">
                            <p:stCondLst>
                              <p:cond delay="152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par>
                          <p:cTn id="92" fill="hold">
                            <p:stCondLst>
                              <p:cond delay="1900"/>
                            </p:stCondLst>
                            <p:childTnLst>
                              <p:par>
                                <p:cTn id="77" presetID="10" presetClass="entr" presetSubtype="0"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76"/>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it took one 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it took one 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Same 13-point story. One man-day.</a:t>
            </a:r>
            <a:endParaRPr lang="en-US" sz="2800" dirty="0"/>
          </a:p>
        </p:txBody>
      </p:sp>
      <p:sp>
        <p:nvSpPr>
          <p:cNvPr id="5" name="a1f_t_77"/>
          <p:cNvSpPr txBox="1"/>
          <p:nvPr/>
        </p:nvSpPr>
        <p:spPr>
          <a:xfrm>
            <a:off x="548640" y="2011680"/>
            <a:ext cx="1645920" cy="365760"/>
          </a:xfrm>
          <a:prstGeom prst="rect">
            <a:avLst/>
          </a:prstGeom>
          <a:noFill/>
          <a:ln/>
        </p:spPr>
        <p:txBody>
          <a:bodyPr wrap="square" lIns="0" tIns="0" rIns="0" bIns="0" rtlCol="0" anchor="t"/>
          <a:lstStyle/>
          <a:p>
            <a:pPr algn="l" indent="0" marL="0">
              <a:buNone/>
            </a:pPr>
            <a:r>
              <a:rPr lang="en-US" sz="1800" b="1" dirty="0">
                <a:solidFill>
                  <a:schemeClr val="tx2"/>
                </a:solidFill>
              </a:rPr>
              <a:t>Before</a:t>
            </a:r>
            <a:endParaRPr lang="en-US" sz="1800" dirty="0"/>
          </a:p>
        </p:txBody>
      </p:sp>
      <p:sp>
        <p:nvSpPr>
          <p:cNvPr id="6" name="a1f_t_78"/>
          <p:cNvSpPr txBox="1"/>
          <p:nvPr/>
        </p:nvSpPr>
        <p:spPr>
          <a:xfrm>
            <a:off x="548640" y="2377440"/>
            <a:ext cx="1645920" cy="274320"/>
          </a:xfrm>
          <a:prstGeom prst="rect">
            <a:avLst/>
          </a:prstGeom>
          <a:noFill/>
          <a:ln/>
        </p:spPr>
        <p:txBody>
          <a:bodyPr wrap="square" lIns="0" tIns="0" rIns="0" bIns="0" rtlCol="0" anchor="t"/>
          <a:lstStyle/>
          <a:p>
            <a:pPr algn="l" indent="0" marL="0">
              <a:buNone/>
            </a:pPr>
            <a:r>
              <a:rPr lang="en-US" sz="1300" dirty="0">
                <a:solidFill>
                  <a:schemeClr val="tx2"/>
                </a:solidFill>
              </a:rPr>
              <a:t>40 hours</a:t>
            </a:r>
            <a:endParaRPr lang="en-US" sz="1300" dirty="0"/>
          </a:p>
        </p:txBody>
      </p:sp>
      <p:sp>
        <p:nvSpPr>
          <p:cNvPr id="7" name="a2f_t_79"/>
          <p:cNvSpPr txBox="1"/>
          <p:nvPr/>
        </p:nvSpPr>
        <p:spPr>
          <a:xfrm>
            <a:off x="548640" y="3657600"/>
            <a:ext cx="1737360" cy="365760"/>
          </a:xfrm>
          <a:prstGeom prst="rect">
            <a:avLst/>
          </a:prstGeom>
          <a:noFill/>
          <a:ln/>
        </p:spPr>
        <p:txBody>
          <a:bodyPr wrap="square" lIns="0" tIns="0" rIns="0" bIns="0" rtlCol="0" anchor="t"/>
          <a:lstStyle/>
          <a:p>
            <a:pPr algn="l" indent="0" marL="0">
              <a:buNone/>
            </a:pPr>
            <a:r>
              <a:rPr lang="en-US" sz="1800" b="1" dirty="0">
                <a:solidFill>
                  <a:schemeClr val="accent1"/>
                </a:solidFill>
              </a:rPr>
              <a:t>With agents</a:t>
            </a:r>
            <a:endParaRPr lang="en-US" sz="1800" dirty="0"/>
          </a:p>
        </p:txBody>
      </p:sp>
      <p:sp>
        <p:nvSpPr>
          <p:cNvPr id="8" name="a2f_t_80"/>
          <p:cNvSpPr txBox="1"/>
          <p:nvPr/>
        </p:nvSpPr>
        <p:spPr>
          <a:xfrm>
            <a:off x="548640" y="4023360"/>
            <a:ext cx="1645920" cy="274320"/>
          </a:xfrm>
          <a:prstGeom prst="rect">
            <a:avLst/>
          </a:prstGeom>
          <a:noFill/>
          <a:ln/>
        </p:spPr>
        <p:txBody>
          <a:bodyPr wrap="square" lIns="0" tIns="0" rIns="0" bIns="0" rtlCol="0" anchor="t"/>
          <a:lstStyle/>
          <a:p>
            <a:pPr algn="l" indent="0" marL="0">
              <a:buNone/>
            </a:pPr>
            <a:r>
              <a:rPr lang="en-US" sz="1300" dirty="0">
                <a:solidFill>
                  <a:schemeClr val="accent1"/>
                </a:solidFill>
              </a:rPr>
              <a:t>8 hours</a:t>
            </a:r>
            <a:endParaRPr lang="en-US" sz="1300" dirty="0"/>
          </a:p>
        </p:txBody>
      </p:sp>
      <p:sp>
        <p:nvSpPr>
          <p:cNvPr id="9" name="a1f_b_81"/>
          <p:cNvSpPr/>
          <p:nvPr/>
        </p:nvSpPr>
        <p:spPr>
          <a:xfrm>
            <a:off x="2377440" y="1783080"/>
            <a:ext cx="1673352" cy="1097280"/>
          </a:xfrm>
          <a:prstGeom prst="roundRect">
            <a:avLst>
              <a:gd name="adj" fmla="val 11667"/>
            </a:avLst>
          </a:prstGeom>
          <a:solidFill>
            <a:schemeClr val="accent3"/>
          </a:solidFill>
          <a:ln/>
        </p:spPr>
      </p:sp>
      <p:sp>
        <p:nvSpPr>
          <p:cNvPr id="10" name="a1f_t_82"/>
          <p:cNvSpPr txBox="1"/>
          <p:nvPr/>
        </p:nvSpPr>
        <p:spPr>
          <a:xfrm>
            <a:off x="2377440"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1</a:t>
            </a:r>
            <a:endParaRPr lang="en-US" sz="1600" dirty="0"/>
          </a:p>
        </p:txBody>
      </p:sp>
      <p:sp>
        <p:nvSpPr>
          <p:cNvPr id="11" name="a2f_b_83"/>
          <p:cNvSpPr/>
          <p:nvPr/>
        </p:nvSpPr>
        <p:spPr>
          <a:xfrm>
            <a:off x="2377440" y="3429000"/>
            <a:ext cx="1673352" cy="1097280"/>
          </a:xfrm>
          <a:prstGeom prst="roundRect">
            <a:avLst>
              <a:gd name="adj" fmla="val 11667"/>
            </a:avLst>
          </a:prstGeom>
          <a:solidFill>
            <a:schemeClr val="accent1"/>
          </a:solidFill>
          <a:ln/>
        </p:spPr>
      </p:sp>
      <p:sp>
        <p:nvSpPr>
          <p:cNvPr id="12" name="a2f_t_84"/>
          <p:cNvSpPr txBox="1"/>
          <p:nvPr/>
        </p:nvSpPr>
        <p:spPr>
          <a:xfrm>
            <a:off x="2377440" y="3429000"/>
            <a:ext cx="1673352" cy="1097280"/>
          </a:xfrm>
          <a:prstGeom prst="rect">
            <a:avLst/>
          </a:prstGeom>
          <a:noFill/>
          <a:ln/>
        </p:spPr>
        <p:txBody>
          <a:bodyPr wrap="square" lIns="0" tIns="0" rIns="0" bIns="0" rtlCol="0" anchor="ctr"/>
          <a:lstStyle/>
          <a:p>
            <a:pPr algn="ctr" indent="0" marL="0">
              <a:buNone/>
            </a:pPr>
            <a:r>
              <a:rPr lang="en-US" sz="1600" b="1" dirty="0">
                <a:solidFill>
                  <a:schemeClr val="bg1"/>
                </a:solidFill>
              </a:rPr>
              <a:t>Day 1</a:t>
            </a:r>
            <a:endParaRPr lang="en-US" sz="1600" dirty="0"/>
          </a:p>
          <a:p>
            <a:pPr algn="ctr" indent="0" marL="0">
              <a:buNone/>
            </a:pPr>
            <a:r>
              <a:rPr lang="en-US" sz="1600" b="1" dirty="0">
                <a:solidFill>
                  <a:schemeClr val="bg1"/>
                </a:solidFill>
              </a:rPr>
              <a:t>story done</a:t>
            </a:r>
            <a:endParaRPr lang="en-US" sz="1600" dirty="0"/>
          </a:p>
        </p:txBody>
      </p:sp>
      <p:sp>
        <p:nvSpPr>
          <p:cNvPr id="13" name="a1f_b_85"/>
          <p:cNvSpPr/>
          <p:nvPr/>
        </p:nvSpPr>
        <p:spPr>
          <a:xfrm>
            <a:off x="4233672" y="1783080"/>
            <a:ext cx="1673352" cy="1097280"/>
          </a:xfrm>
          <a:prstGeom prst="roundRect">
            <a:avLst>
              <a:gd name="adj" fmla="val 11667"/>
            </a:avLst>
          </a:prstGeom>
          <a:solidFill>
            <a:schemeClr val="accent3"/>
          </a:solidFill>
          <a:ln/>
        </p:spPr>
      </p:sp>
      <p:sp>
        <p:nvSpPr>
          <p:cNvPr id="14" name="a1f_t_86"/>
          <p:cNvSpPr txBox="1"/>
          <p:nvPr/>
        </p:nvSpPr>
        <p:spPr>
          <a:xfrm>
            <a:off x="4233672"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2</a:t>
            </a:r>
            <a:endParaRPr lang="en-US" sz="1600" dirty="0"/>
          </a:p>
        </p:txBody>
      </p:sp>
      <p:sp>
        <p:nvSpPr>
          <p:cNvPr id="15" name="a3f_b_87"/>
          <p:cNvSpPr/>
          <p:nvPr/>
        </p:nvSpPr>
        <p:spPr>
          <a:xfrm>
            <a:off x="4233672" y="3429000"/>
            <a:ext cx="1673352" cy="1097280"/>
          </a:xfrm>
          <a:prstGeom prst="roundRect">
            <a:avLst>
              <a:gd name="adj" fmla="val 11667"/>
            </a:avLst>
          </a:prstGeom>
          <a:ln w="15875">
            <a:solidFill>
              <a:schemeClr val="accent1"/>
            </a:solidFill>
            <a:prstDash val="dash"/>
          </a:ln>
        </p:spPr>
      </p:sp>
      <p:sp>
        <p:nvSpPr>
          <p:cNvPr id="16" name="a3f_t_88"/>
          <p:cNvSpPr txBox="1"/>
          <p:nvPr/>
        </p:nvSpPr>
        <p:spPr>
          <a:xfrm>
            <a:off x="4233672"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17" name="a1f_b_89"/>
          <p:cNvSpPr/>
          <p:nvPr/>
        </p:nvSpPr>
        <p:spPr>
          <a:xfrm>
            <a:off x="6089904" y="1783080"/>
            <a:ext cx="1673352" cy="1097280"/>
          </a:xfrm>
          <a:prstGeom prst="roundRect">
            <a:avLst>
              <a:gd name="adj" fmla="val 11667"/>
            </a:avLst>
          </a:prstGeom>
          <a:solidFill>
            <a:schemeClr val="accent3"/>
          </a:solidFill>
          <a:ln/>
        </p:spPr>
      </p:sp>
      <p:sp>
        <p:nvSpPr>
          <p:cNvPr id="18" name="a1f_t_90"/>
          <p:cNvSpPr txBox="1"/>
          <p:nvPr/>
        </p:nvSpPr>
        <p:spPr>
          <a:xfrm>
            <a:off x="6089904"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3</a:t>
            </a:r>
            <a:endParaRPr lang="en-US" sz="1600" dirty="0"/>
          </a:p>
        </p:txBody>
      </p:sp>
      <p:sp>
        <p:nvSpPr>
          <p:cNvPr id="19" name="a3f_b_91"/>
          <p:cNvSpPr/>
          <p:nvPr/>
        </p:nvSpPr>
        <p:spPr>
          <a:xfrm>
            <a:off x="6089904" y="3429000"/>
            <a:ext cx="1673352" cy="1097280"/>
          </a:xfrm>
          <a:prstGeom prst="roundRect">
            <a:avLst>
              <a:gd name="adj" fmla="val 11667"/>
            </a:avLst>
          </a:prstGeom>
          <a:ln w="15875">
            <a:solidFill>
              <a:schemeClr val="accent1"/>
            </a:solidFill>
            <a:prstDash val="dash"/>
          </a:ln>
        </p:spPr>
      </p:sp>
      <p:sp>
        <p:nvSpPr>
          <p:cNvPr id="20" name="a3f_t_92"/>
          <p:cNvSpPr txBox="1"/>
          <p:nvPr/>
        </p:nvSpPr>
        <p:spPr>
          <a:xfrm>
            <a:off x="6089904"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1" name="a1f_b_93"/>
          <p:cNvSpPr/>
          <p:nvPr/>
        </p:nvSpPr>
        <p:spPr>
          <a:xfrm>
            <a:off x="7946136" y="1783080"/>
            <a:ext cx="1673352" cy="1097280"/>
          </a:xfrm>
          <a:prstGeom prst="roundRect">
            <a:avLst>
              <a:gd name="adj" fmla="val 11667"/>
            </a:avLst>
          </a:prstGeom>
          <a:solidFill>
            <a:schemeClr val="accent3"/>
          </a:solidFill>
          <a:ln/>
        </p:spPr>
      </p:sp>
      <p:sp>
        <p:nvSpPr>
          <p:cNvPr id="22" name="a1f_t_94"/>
          <p:cNvSpPr txBox="1"/>
          <p:nvPr/>
        </p:nvSpPr>
        <p:spPr>
          <a:xfrm>
            <a:off x="7946136"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4</a:t>
            </a:r>
            <a:endParaRPr lang="en-US" sz="1600" dirty="0"/>
          </a:p>
        </p:txBody>
      </p:sp>
      <p:sp>
        <p:nvSpPr>
          <p:cNvPr id="23" name="a3f_b_95"/>
          <p:cNvSpPr/>
          <p:nvPr/>
        </p:nvSpPr>
        <p:spPr>
          <a:xfrm>
            <a:off x="7946136" y="3429000"/>
            <a:ext cx="1673352" cy="1097280"/>
          </a:xfrm>
          <a:prstGeom prst="roundRect">
            <a:avLst>
              <a:gd name="adj" fmla="val 11667"/>
            </a:avLst>
          </a:prstGeom>
          <a:ln w="15875">
            <a:solidFill>
              <a:schemeClr val="accent1"/>
            </a:solidFill>
            <a:prstDash val="dash"/>
          </a:ln>
        </p:spPr>
      </p:sp>
      <p:sp>
        <p:nvSpPr>
          <p:cNvPr id="24" name="a3f_t_96"/>
          <p:cNvSpPr txBox="1"/>
          <p:nvPr/>
        </p:nvSpPr>
        <p:spPr>
          <a:xfrm>
            <a:off x="7946136"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5" name="a1f_b_97"/>
          <p:cNvSpPr/>
          <p:nvPr/>
        </p:nvSpPr>
        <p:spPr>
          <a:xfrm>
            <a:off x="9802368" y="1783080"/>
            <a:ext cx="1673352" cy="1097280"/>
          </a:xfrm>
          <a:prstGeom prst="roundRect">
            <a:avLst>
              <a:gd name="adj" fmla="val 11667"/>
            </a:avLst>
          </a:prstGeom>
          <a:solidFill>
            <a:schemeClr val="accent3"/>
          </a:solidFill>
          <a:ln/>
        </p:spPr>
      </p:sp>
      <p:sp>
        <p:nvSpPr>
          <p:cNvPr id="26" name="a1f_t_98"/>
          <p:cNvSpPr txBox="1"/>
          <p:nvPr/>
        </p:nvSpPr>
        <p:spPr>
          <a:xfrm>
            <a:off x="9802368"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5</a:t>
            </a:r>
            <a:endParaRPr lang="en-US" sz="1600" dirty="0"/>
          </a:p>
        </p:txBody>
      </p:sp>
      <p:sp>
        <p:nvSpPr>
          <p:cNvPr id="27" name="a3f_b_99"/>
          <p:cNvSpPr/>
          <p:nvPr/>
        </p:nvSpPr>
        <p:spPr>
          <a:xfrm>
            <a:off x="9802368" y="3429000"/>
            <a:ext cx="1673352" cy="1097280"/>
          </a:xfrm>
          <a:prstGeom prst="roundRect">
            <a:avLst>
              <a:gd name="adj" fmla="val 11667"/>
            </a:avLst>
          </a:prstGeom>
          <a:ln w="15875">
            <a:solidFill>
              <a:schemeClr val="accent1"/>
            </a:solidFill>
            <a:prstDash val="dash"/>
          </a:ln>
        </p:spPr>
      </p:sp>
      <p:sp>
        <p:nvSpPr>
          <p:cNvPr id="28" name="a3f_t_100"/>
          <p:cNvSpPr txBox="1"/>
          <p:nvPr/>
        </p:nvSpPr>
        <p:spPr>
          <a:xfrm>
            <a:off x="9802368"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9" name="a4f_t_101"/>
          <p:cNvSpPr txBox="1"/>
          <p:nvPr/>
        </p:nvSpPr>
        <p:spPr>
          <a:xfrm>
            <a:off x="548640" y="4983480"/>
            <a:ext cx="2743200" cy="1005840"/>
          </a:xfrm>
          <a:prstGeom prst="rect">
            <a:avLst/>
          </a:prstGeom>
          <a:noFill/>
          <a:ln/>
        </p:spPr>
        <p:txBody>
          <a:bodyPr wrap="square" lIns="0" tIns="0" rIns="0" bIns="0" rtlCol="0" anchor="t"/>
          <a:lstStyle/>
          <a:p>
            <a:pPr algn="l" indent="0" marL="0">
              <a:buNone/>
            </a:pPr>
            <a:r>
              <a:rPr lang="en-US" sz="6000" b="1" dirty="0">
                <a:solidFill>
                  <a:schemeClr val="accent1"/>
                </a:solidFill>
                <a:latin typeface="Georgia" pitchFamily="34" charset="0"/>
                <a:ea typeface="Georgia" pitchFamily="34" charset="-122"/>
                <a:cs typeface="Georgia" pitchFamily="34" charset="-120"/>
              </a:rPr>
              <a:t>−80%</a:t>
            </a:r>
            <a:endParaRPr lang="en-US" sz="6000" dirty="0"/>
          </a:p>
        </p:txBody>
      </p:sp>
      <p:sp>
        <p:nvSpPr>
          <p:cNvPr id="30" name="a4f_t_102"/>
          <p:cNvSpPr txBox="1"/>
          <p:nvPr/>
        </p:nvSpPr>
        <p:spPr>
          <a:xfrm>
            <a:off x="3383280" y="5166360"/>
            <a:ext cx="7772400" cy="731520"/>
          </a:xfrm>
          <a:prstGeom prst="rect">
            <a:avLst/>
          </a:prstGeom>
          <a:noFill/>
          <a:ln/>
        </p:spPr>
        <p:txBody>
          <a:bodyPr wrap="square" lIns="0" tIns="0" rIns="0" bIns="0" rtlCol="0" anchor="t"/>
          <a:lstStyle/>
          <a:p>
            <a:pPr algn="l" indent="0" marL="0">
              <a:buNone/>
            </a:pPr>
            <a:r>
              <a:rPr lang="en-US" sz="2000" i="1" dirty="0">
                <a:solidFill>
                  <a:schemeClr val="tx1"/>
                </a:solidFill>
                <a:latin typeface="Georgia" pitchFamily="34" charset="0"/>
                <a:ea typeface="Georgia" pitchFamily="34" charset="-122"/>
                <a:cs typeface="Georgia" pitchFamily="34" charset="-120"/>
              </a:rPr>
              <a:t>effort per story. The bigger the story,</a:t>
            </a:r>
            <a:endParaRPr lang="en-US" sz="2000" dirty="0"/>
          </a:p>
          <a:p>
            <a:pPr algn="l" indent="0" marL="0">
              <a:buNone/>
            </a:pPr>
            <a:r>
              <a:rPr lang="en-US" sz="2000" i="1" dirty="0">
                <a:solidFill>
                  <a:schemeClr val="tx1"/>
                </a:solidFill>
                <a:latin typeface="Georgia" pitchFamily="34" charset="0"/>
                <a:ea typeface="Georgia" pitchFamily="34" charset="-122"/>
                <a:cs typeface="Georgia" pitchFamily="34" charset="-120"/>
              </a:rPr>
              <a:t>the bigger the saving.</a:t>
            </a:r>
            <a:endParaRPr lang="en-US" sz="2000" dirty="0"/>
          </a:p>
        </p:txBody>
      </p:sp>
      <p:sp>
        <p:nvSpPr>
          <p:cNvPr id="31"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par>
                          <p:cTn id="52" fill="hold">
                            <p:stCondLst>
                              <p:cond delay="380"/>
                            </p:stCondLst>
                            <p:childTnLst>
                              <p:par>
                                <p:cTn id="40" presetID="10"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4"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0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How?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How?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Nine atomic agents. Each does one job, end to end.</a:t>
            </a:r>
            <a:endParaRPr lang="en-US" sz="2800" dirty="0"/>
          </a:p>
        </p:txBody>
      </p:sp>
      <p:sp>
        <p:nvSpPr>
          <p:cNvPr id="5" name="a1f_b_104"/>
          <p:cNvSpPr/>
          <p:nvPr/>
        </p:nvSpPr>
        <p:spPr>
          <a:xfrm>
            <a:off x="548640" y="1691640"/>
            <a:ext cx="3575304" cy="1261872"/>
          </a:xfrm>
          <a:prstGeom prst="roundRect">
            <a:avLst>
              <a:gd name="adj" fmla="val 8696"/>
            </a:avLst>
          </a:prstGeom>
          <a:solidFill>
            <a:schemeClr val="bg2"/>
          </a:solidFill>
          <a:ln w="9525">
            <a:solidFill>
              <a:schemeClr val="accent3"/>
            </a:solidFill>
            <a:prstDash val="solid"/>
          </a:ln>
        </p:spPr>
      </p:sp>
      <p:sp>
        <p:nvSpPr>
          <p:cNvPr id="6" name="a1f_b_105"/>
          <p:cNvSpPr/>
          <p:nvPr/>
        </p:nvSpPr>
        <p:spPr>
          <a:xfrm>
            <a:off x="731520" y="1956816"/>
            <a:ext cx="731520" cy="731520"/>
          </a:xfrm>
          <a:prstGeom prst="roundRect">
            <a:avLst>
              <a:gd name="adj" fmla="val 22000"/>
            </a:avLst>
          </a:prstGeom>
          <a:solidFill>
            <a:schemeClr val="bg2"/>
          </a:solidFill>
          <a:ln w="15875">
            <a:solidFill>
              <a:schemeClr val="accent1"/>
            </a:solidFill>
            <a:prstDash val="solid"/>
          </a:ln>
        </p:spPr>
      </p:sp>
      <p:pic>
        <p:nvPicPr>
          <p:cNvPr id="7" name="a1f_i_106" descr="preencoded.png">    </p:cNvPr>
          <p:cNvPicPr>
            <a:picLocks noChangeAspect="1"/>
          </p:cNvPicPr>
          <p:nvPr/>
        </p:nvPicPr>
        <p:blipFill>
          <a:blip r:embed="rId1"/>
          <a:stretch>
            <a:fillRect/>
          </a:stretch>
        </p:blipFill>
        <p:spPr>
          <a:xfrm>
            <a:off x="907085" y="2132381"/>
            <a:ext cx="380390" cy="380390"/>
          </a:xfrm>
          <a:prstGeom prst="rect">
            <a:avLst/>
          </a:prstGeom>
        </p:spPr>
      </p:pic>
      <p:sp>
        <p:nvSpPr>
          <p:cNvPr id="8" name="a1f_t_107"/>
          <p:cNvSpPr txBox="1"/>
          <p:nvPr/>
        </p:nvSpPr>
        <p:spPr>
          <a:xfrm>
            <a:off x="1645920"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endParaRPr lang="en-US" sz="1300" dirty="0"/>
          </a:p>
        </p:txBody>
      </p:sp>
      <p:sp>
        <p:nvSpPr>
          <p:cNvPr id="9" name="a1f_t_108"/>
          <p:cNvSpPr txBox="1"/>
          <p:nvPr/>
        </p:nvSpPr>
        <p:spPr>
          <a:xfrm>
            <a:off x="1645920"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Jira</a:t>
            </a:r>
            <a:endParaRPr lang="en-US" sz="1100" dirty="0"/>
          </a:p>
        </p:txBody>
      </p:sp>
      <p:sp>
        <p:nvSpPr>
          <p:cNvPr id="10" name="a1f_t_109"/>
          <p:cNvSpPr txBox="1"/>
          <p:nvPr/>
        </p:nvSpPr>
        <p:spPr>
          <a:xfrm>
            <a:off x="1645920"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story, done and backlog stories, and the code</a:t>
            </a:r>
            <a:endParaRPr lang="en-US" sz="1100" dirty="0"/>
          </a:p>
        </p:txBody>
      </p:sp>
      <p:sp>
        <p:nvSpPr>
          <p:cNvPr id="11" name="a1f_b_110"/>
          <p:cNvSpPr/>
          <p:nvPr/>
        </p:nvSpPr>
        <p:spPr>
          <a:xfrm>
            <a:off x="4306824" y="1691640"/>
            <a:ext cx="3575304" cy="1261872"/>
          </a:xfrm>
          <a:prstGeom prst="roundRect">
            <a:avLst>
              <a:gd name="adj" fmla="val 8696"/>
            </a:avLst>
          </a:prstGeom>
          <a:solidFill>
            <a:schemeClr val="bg2"/>
          </a:solidFill>
          <a:ln w="9525">
            <a:solidFill>
              <a:schemeClr val="accent3"/>
            </a:solidFill>
            <a:prstDash val="solid"/>
          </a:ln>
        </p:spPr>
      </p:sp>
      <p:sp>
        <p:nvSpPr>
          <p:cNvPr id="12" name="a1f_b_111"/>
          <p:cNvSpPr/>
          <p:nvPr/>
        </p:nvSpPr>
        <p:spPr>
          <a:xfrm>
            <a:off x="4489704" y="1956816"/>
            <a:ext cx="731520" cy="731520"/>
          </a:xfrm>
          <a:prstGeom prst="roundRect">
            <a:avLst>
              <a:gd name="adj" fmla="val 22000"/>
            </a:avLst>
          </a:prstGeom>
          <a:solidFill>
            <a:schemeClr val="bg2"/>
          </a:solidFill>
          <a:ln w="15875">
            <a:solidFill>
              <a:schemeClr val="accent1"/>
            </a:solidFill>
            <a:prstDash val="solid"/>
          </a:ln>
        </p:spPr>
      </p:sp>
      <p:pic>
        <p:nvPicPr>
          <p:cNvPr id="13" name="a1f_i_112" descr="preencoded.png">    </p:cNvPr>
          <p:cNvPicPr>
            <a:picLocks noChangeAspect="1"/>
          </p:cNvPicPr>
          <p:nvPr/>
        </p:nvPicPr>
        <p:blipFill>
          <a:blip r:embed="rId2"/>
          <a:stretch>
            <a:fillRect/>
          </a:stretch>
        </p:blipFill>
        <p:spPr>
          <a:xfrm>
            <a:off x="4665269" y="2132381"/>
            <a:ext cx="380390" cy="380390"/>
          </a:xfrm>
          <a:prstGeom prst="rect">
            <a:avLst/>
          </a:prstGeom>
        </p:spPr>
      </p:pic>
      <p:sp>
        <p:nvSpPr>
          <p:cNvPr id="14" name="a1f_t_113"/>
          <p:cNvSpPr txBox="1"/>
          <p:nvPr/>
        </p:nvSpPr>
        <p:spPr>
          <a:xfrm>
            <a:off x="5404104"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figma-agent</a:t>
            </a:r>
            <a:endParaRPr lang="en-US" sz="1300" dirty="0"/>
          </a:p>
        </p:txBody>
      </p:sp>
      <p:sp>
        <p:nvSpPr>
          <p:cNvPr id="15" name="a1f_t_114"/>
          <p:cNvSpPr txBox="1"/>
          <p:nvPr/>
        </p:nvSpPr>
        <p:spPr>
          <a:xfrm>
            <a:off x="5404104"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Figma MCP</a:t>
            </a:r>
            <a:endParaRPr lang="en-US" sz="1100" dirty="0"/>
          </a:p>
        </p:txBody>
      </p:sp>
      <p:sp>
        <p:nvSpPr>
          <p:cNvPr id="16" name="a1f_t_115"/>
          <p:cNvSpPr txBox="1"/>
          <p:nvPr/>
        </p:nvSpPr>
        <p:spPr>
          <a:xfrm>
            <a:off x="5404104"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Builds from the node ID with real library components</a:t>
            </a:r>
            <a:endParaRPr lang="en-US" sz="1100" dirty="0"/>
          </a:p>
        </p:txBody>
      </p:sp>
      <p:sp>
        <p:nvSpPr>
          <p:cNvPr id="17" name="a1f_b_116"/>
          <p:cNvSpPr/>
          <p:nvPr/>
        </p:nvSpPr>
        <p:spPr>
          <a:xfrm>
            <a:off x="8065008" y="1691640"/>
            <a:ext cx="3575304" cy="1261872"/>
          </a:xfrm>
          <a:prstGeom prst="roundRect">
            <a:avLst>
              <a:gd name="adj" fmla="val 8696"/>
            </a:avLst>
          </a:prstGeom>
          <a:solidFill>
            <a:schemeClr val="bg2"/>
          </a:solidFill>
          <a:ln w="9525">
            <a:solidFill>
              <a:schemeClr val="accent3"/>
            </a:solidFill>
            <a:prstDash val="solid"/>
          </a:ln>
        </p:spPr>
      </p:sp>
      <p:sp>
        <p:nvSpPr>
          <p:cNvPr id="18" name="a1f_b_117"/>
          <p:cNvSpPr/>
          <p:nvPr/>
        </p:nvSpPr>
        <p:spPr>
          <a:xfrm>
            <a:off x="8247888" y="1956816"/>
            <a:ext cx="731520" cy="731520"/>
          </a:xfrm>
          <a:prstGeom prst="roundRect">
            <a:avLst>
              <a:gd name="adj" fmla="val 22000"/>
            </a:avLst>
          </a:prstGeom>
          <a:solidFill>
            <a:schemeClr val="bg2"/>
          </a:solidFill>
          <a:ln w="15875">
            <a:solidFill>
              <a:schemeClr val="accent1"/>
            </a:solidFill>
            <a:prstDash val="solid"/>
          </a:ln>
        </p:spPr>
      </p:sp>
      <p:pic>
        <p:nvPicPr>
          <p:cNvPr id="19" name="a1f_i_118" descr="preencoded.png">    </p:cNvPr>
          <p:cNvPicPr>
            <a:picLocks noChangeAspect="1"/>
          </p:cNvPicPr>
          <p:nvPr/>
        </p:nvPicPr>
        <p:blipFill>
          <a:blip r:embed="rId3"/>
          <a:stretch>
            <a:fillRect/>
          </a:stretch>
        </p:blipFill>
        <p:spPr>
          <a:xfrm>
            <a:off x="8423453" y="2132381"/>
            <a:ext cx="380390" cy="380390"/>
          </a:xfrm>
          <a:prstGeom prst="rect">
            <a:avLst/>
          </a:prstGeom>
        </p:spPr>
      </p:pic>
      <p:sp>
        <p:nvSpPr>
          <p:cNvPr id="20" name="a1f_t_119"/>
          <p:cNvSpPr txBox="1"/>
          <p:nvPr/>
        </p:nvSpPr>
        <p:spPr>
          <a:xfrm>
            <a:off x="9162288"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swagger-hub-agent</a:t>
            </a:r>
            <a:endParaRPr lang="en-US" sz="1300" dirty="0"/>
          </a:p>
        </p:txBody>
      </p:sp>
      <p:sp>
        <p:nvSpPr>
          <p:cNvPr id="21" name="a1f_t_120"/>
          <p:cNvSpPr txBox="1"/>
          <p:nvPr/>
        </p:nvSpPr>
        <p:spPr>
          <a:xfrm>
            <a:off x="9162288"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SwaggerHub</a:t>
            </a:r>
            <a:endParaRPr lang="en-US" sz="1100" dirty="0"/>
          </a:p>
        </p:txBody>
      </p:sp>
      <p:sp>
        <p:nvSpPr>
          <p:cNvPr id="22" name="a1f_t_121"/>
          <p:cNvSpPr txBox="1"/>
          <p:nvPr/>
        </p:nvSpPr>
        <p:spPr>
          <a:xfrm>
            <a:off x="9162288"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API calls straight from the spec</a:t>
            </a:r>
            <a:endParaRPr lang="en-US" sz="1100" dirty="0"/>
          </a:p>
        </p:txBody>
      </p:sp>
      <p:sp>
        <p:nvSpPr>
          <p:cNvPr id="23" name="a2f_b_122"/>
          <p:cNvSpPr/>
          <p:nvPr/>
        </p:nvSpPr>
        <p:spPr>
          <a:xfrm>
            <a:off x="548640" y="3108960"/>
            <a:ext cx="3575304" cy="1261872"/>
          </a:xfrm>
          <a:prstGeom prst="roundRect">
            <a:avLst>
              <a:gd name="adj" fmla="val 8696"/>
            </a:avLst>
          </a:prstGeom>
          <a:solidFill>
            <a:schemeClr val="bg2"/>
          </a:solidFill>
          <a:ln w="9525">
            <a:solidFill>
              <a:schemeClr val="accent3"/>
            </a:solidFill>
            <a:prstDash val="solid"/>
          </a:ln>
        </p:spPr>
      </p:sp>
      <p:sp>
        <p:nvSpPr>
          <p:cNvPr id="24" name="a2f_b_123"/>
          <p:cNvSpPr/>
          <p:nvPr/>
        </p:nvSpPr>
        <p:spPr>
          <a:xfrm>
            <a:off x="731520" y="3374136"/>
            <a:ext cx="731520" cy="731520"/>
          </a:xfrm>
          <a:prstGeom prst="roundRect">
            <a:avLst>
              <a:gd name="adj" fmla="val 22000"/>
            </a:avLst>
          </a:prstGeom>
          <a:solidFill>
            <a:schemeClr val="bg2"/>
          </a:solidFill>
          <a:ln w="15875">
            <a:solidFill>
              <a:schemeClr val="accent1"/>
            </a:solidFill>
            <a:prstDash val="solid"/>
          </a:ln>
        </p:spPr>
      </p:sp>
      <p:pic>
        <p:nvPicPr>
          <p:cNvPr id="25" name="a2f_i_124" descr="preencoded.png">    </p:cNvPr>
          <p:cNvPicPr>
            <a:picLocks noChangeAspect="1"/>
          </p:cNvPicPr>
          <p:nvPr/>
        </p:nvPicPr>
        <p:blipFill>
          <a:blip r:embed="rId4"/>
          <a:stretch>
            <a:fillRect/>
          </a:stretch>
        </p:blipFill>
        <p:spPr>
          <a:xfrm>
            <a:off x="907085" y="3549701"/>
            <a:ext cx="380390" cy="380390"/>
          </a:xfrm>
          <a:prstGeom prst="rect">
            <a:avLst/>
          </a:prstGeom>
        </p:spPr>
      </p:pic>
      <p:sp>
        <p:nvSpPr>
          <p:cNvPr id="26" name="a2f_t_125"/>
          <p:cNvSpPr txBox="1"/>
          <p:nvPr/>
        </p:nvSpPr>
        <p:spPr>
          <a:xfrm>
            <a:off x="1645920"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confluence-assistant</a:t>
            </a:r>
            <a:endParaRPr lang="en-US" sz="1300" dirty="0"/>
          </a:p>
        </p:txBody>
      </p:sp>
      <p:sp>
        <p:nvSpPr>
          <p:cNvPr id="27" name="a2f_t_126"/>
          <p:cNvSpPr txBox="1"/>
          <p:nvPr/>
        </p:nvSpPr>
        <p:spPr>
          <a:xfrm>
            <a:off x="1645920"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Confluence</a:t>
            </a:r>
            <a:endParaRPr lang="en-US" sz="1100" dirty="0"/>
          </a:p>
        </p:txBody>
      </p:sp>
      <p:sp>
        <p:nvSpPr>
          <p:cNvPr id="28" name="a2f_t_127"/>
          <p:cNvSpPr txBox="1"/>
          <p:nvPr/>
        </p:nvSpPr>
        <p:spPr>
          <a:xfrm>
            <a:off x="1645920"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Pulls linked docs as precise context; publishes docs</a:t>
            </a:r>
            <a:endParaRPr lang="en-US" sz="1100" dirty="0"/>
          </a:p>
        </p:txBody>
      </p:sp>
      <p:sp>
        <p:nvSpPr>
          <p:cNvPr id="29" name="a2f_b_128"/>
          <p:cNvSpPr/>
          <p:nvPr/>
        </p:nvSpPr>
        <p:spPr>
          <a:xfrm>
            <a:off x="4306824" y="3108960"/>
            <a:ext cx="3575304" cy="1261872"/>
          </a:xfrm>
          <a:prstGeom prst="roundRect">
            <a:avLst>
              <a:gd name="adj" fmla="val 8696"/>
            </a:avLst>
          </a:prstGeom>
          <a:solidFill>
            <a:schemeClr val="bg2"/>
          </a:solidFill>
          <a:ln w="9525">
            <a:solidFill>
              <a:schemeClr val="accent3"/>
            </a:solidFill>
            <a:prstDash val="solid"/>
          </a:ln>
        </p:spPr>
      </p:sp>
      <p:sp>
        <p:nvSpPr>
          <p:cNvPr id="30" name="a2f_b_129"/>
          <p:cNvSpPr/>
          <p:nvPr/>
        </p:nvSpPr>
        <p:spPr>
          <a:xfrm>
            <a:off x="4489704" y="3374136"/>
            <a:ext cx="731520" cy="731520"/>
          </a:xfrm>
          <a:prstGeom prst="roundRect">
            <a:avLst>
              <a:gd name="adj" fmla="val 22000"/>
            </a:avLst>
          </a:prstGeom>
          <a:solidFill>
            <a:schemeClr val="bg2"/>
          </a:solidFill>
          <a:ln w="15875">
            <a:solidFill>
              <a:schemeClr val="accent1"/>
            </a:solidFill>
            <a:prstDash val="solid"/>
          </a:ln>
        </p:spPr>
      </p:sp>
      <p:pic>
        <p:nvPicPr>
          <p:cNvPr id="31" name="a2f_i_130" descr="preencoded.png">    </p:cNvPr>
          <p:cNvPicPr>
            <a:picLocks noChangeAspect="1"/>
          </p:cNvPicPr>
          <p:nvPr/>
        </p:nvPicPr>
        <p:blipFill>
          <a:blip r:embed="rId5"/>
          <a:stretch>
            <a:fillRect/>
          </a:stretch>
        </p:blipFill>
        <p:spPr>
          <a:xfrm>
            <a:off x="4665269" y="3549701"/>
            <a:ext cx="380390" cy="380390"/>
          </a:xfrm>
          <a:prstGeom prst="rect">
            <a:avLst/>
          </a:prstGeom>
        </p:spPr>
      </p:pic>
      <p:sp>
        <p:nvSpPr>
          <p:cNvPr id="32" name="a2f_t_131"/>
          <p:cNvSpPr txBox="1"/>
          <p:nvPr/>
        </p:nvSpPr>
        <p:spPr>
          <a:xfrm>
            <a:off x="5404104"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sonar-reporter</a:t>
            </a:r>
            <a:endParaRPr lang="en-US" sz="1300" dirty="0"/>
          </a:p>
        </p:txBody>
      </p:sp>
      <p:sp>
        <p:nvSpPr>
          <p:cNvPr id="33" name="a2f_t_132"/>
          <p:cNvSpPr txBox="1"/>
          <p:nvPr/>
        </p:nvSpPr>
        <p:spPr>
          <a:xfrm>
            <a:off x="5404104"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SonarQube</a:t>
            </a:r>
            <a:endParaRPr lang="en-US" sz="1100" dirty="0"/>
          </a:p>
        </p:txBody>
      </p:sp>
      <p:sp>
        <p:nvSpPr>
          <p:cNvPr id="34" name="a2f_t_133"/>
          <p:cNvSpPr txBox="1"/>
          <p:nvPr/>
        </p:nvSpPr>
        <p:spPr>
          <a:xfrm>
            <a:off x="5404104"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Fetches issues, fixes them, rebuilds, repeats</a:t>
            </a:r>
            <a:endParaRPr lang="en-US" sz="1100" dirty="0"/>
          </a:p>
        </p:txBody>
      </p:sp>
      <p:sp>
        <p:nvSpPr>
          <p:cNvPr id="35" name="a2f_b_134"/>
          <p:cNvSpPr/>
          <p:nvPr/>
        </p:nvSpPr>
        <p:spPr>
          <a:xfrm>
            <a:off x="8065008" y="3108960"/>
            <a:ext cx="3575304" cy="1261872"/>
          </a:xfrm>
          <a:prstGeom prst="roundRect">
            <a:avLst>
              <a:gd name="adj" fmla="val 8696"/>
            </a:avLst>
          </a:prstGeom>
          <a:solidFill>
            <a:schemeClr val="bg2"/>
          </a:solidFill>
          <a:ln w="9525">
            <a:solidFill>
              <a:schemeClr val="accent3"/>
            </a:solidFill>
            <a:prstDash val="solid"/>
          </a:ln>
        </p:spPr>
      </p:sp>
      <p:sp>
        <p:nvSpPr>
          <p:cNvPr id="36" name="a2f_b_135"/>
          <p:cNvSpPr/>
          <p:nvPr/>
        </p:nvSpPr>
        <p:spPr>
          <a:xfrm>
            <a:off x="8247888" y="3374136"/>
            <a:ext cx="731520" cy="731520"/>
          </a:xfrm>
          <a:prstGeom prst="roundRect">
            <a:avLst>
              <a:gd name="adj" fmla="val 22000"/>
            </a:avLst>
          </a:prstGeom>
          <a:solidFill>
            <a:schemeClr val="bg2"/>
          </a:solidFill>
          <a:ln w="15875">
            <a:solidFill>
              <a:schemeClr val="accent1"/>
            </a:solidFill>
            <a:prstDash val="solid"/>
          </a:ln>
        </p:spPr>
      </p:sp>
      <p:pic>
        <p:nvPicPr>
          <p:cNvPr id="37" name="a2f_i_136" descr="preencoded.png">    </p:cNvPr>
          <p:cNvPicPr>
            <a:picLocks noChangeAspect="1"/>
          </p:cNvPicPr>
          <p:nvPr/>
        </p:nvPicPr>
        <p:blipFill>
          <a:blip r:embed="rId6"/>
          <a:stretch>
            <a:fillRect/>
          </a:stretch>
        </p:blipFill>
        <p:spPr>
          <a:xfrm>
            <a:off x="8423453" y="3549701"/>
            <a:ext cx="380390" cy="380390"/>
          </a:xfrm>
          <a:prstGeom prst="rect">
            <a:avLst/>
          </a:prstGeom>
        </p:spPr>
      </p:pic>
      <p:sp>
        <p:nvSpPr>
          <p:cNvPr id="38" name="a2f_t_137"/>
          <p:cNvSpPr txBox="1"/>
          <p:nvPr/>
        </p:nvSpPr>
        <p:spPr>
          <a:xfrm>
            <a:off x="9162288"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the-ci-analyzer</a:t>
            </a:r>
            <a:endParaRPr lang="en-US" sz="1300" dirty="0"/>
          </a:p>
        </p:txBody>
      </p:sp>
      <p:sp>
        <p:nvSpPr>
          <p:cNvPr id="39" name="a2f_t_138"/>
          <p:cNvSpPr txBox="1"/>
          <p:nvPr/>
        </p:nvSpPr>
        <p:spPr>
          <a:xfrm>
            <a:off x="9162288"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Jenkins</a:t>
            </a:r>
            <a:endParaRPr lang="en-US" sz="1100" dirty="0"/>
          </a:p>
        </p:txBody>
      </p:sp>
      <p:sp>
        <p:nvSpPr>
          <p:cNvPr id="40" name="a2f_t_139"/>
          <p:cNvSpPr txBox="1"/>
          <p:nvPr/>
        </p:nvSpPr>
        <p:spPr>
          <a:xfrm>
            <a:off x="9162288"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console, fixes, commits, reruns</a:t>
            </a:r>
            <a:endParaRPr lang="en-US" sz="1100" dirty="0"/>
          </a:p>
        </p:txBody>
      </p:sp>
      <p:sp>
        <p:nvSpPr>
          <p:cNvPr id="41" name="a3f_b_140"/>
          <p:cNvSpPr/>
          <p:nvPr/>
        </p:nvSpPr>
        <p:spPr>
          <a:xfrm>
            <a:off x="548640" y="4526280"/>
            <a:ext cx="3575304" cy="1261872"/>
          </a:xfrm>
          <a:prstGeom prst="roundRect">
            <a:avLst>
              <a:gd name="adj" fmla="val 8696"/>
            </a:avLst>
          </a:prstGeom>
          <a:solidFill>
            <a:schemeClr val="bg2"/>
          </a:solidFill>
          <a:ln w="9525">
            <a:solidFill>
              <a:schemeClr val="accent3"/>
            </a:solidFill>
            <a:prstDash val="solid"/>
          </a:ln>
        </p:spPr>
      </p:sp>
      <p:sp>
        <p:nvSpPr>
          <p:cNvPr id="42" name="a3f_b_141"/>
          <p:cNvSpPr/>
          <p:nvPr/>
        </p:nvSpPr>
        <p:spPr>
          <a:xfrm>
            <a:off x="731520" y="4791456"/>
            <a:ext cx="731520" cy="731520"/>
          </a:xfrm>
          <a:prstGeom prst="roundRect">
            <a:avLst>
              <a:gd name="adj" fmla="val 22000"/>
            </a:avLst>
          </a:prstGeom>
          <a:solidFill>
            <a:schemeClr val="bg2"/>
          </a:solidFill>
          <a:ln w="15875">
            <a:solidFill>
              <a:schemeClr val="accent1"/>
            </a:solidFill>
            <a:prstDash val="solid"/>
          </a:ln>
        </p:spPr>
      </p:sp>
      <p:pic>
        <p:nvPicPr>
          <p:cNvPr id="43" name="a3f_i_142" descr="preencoded.png">    </p:cNvPr>
          <p:cNvPicPr>
            <a:picLocks noChangeAspect="1"/>
          </p:cNvPicPr>
          <p:nvPr/>
        </p:nvPicPr>
        <p:blipFill>
          <a:blip r:embed="rId7"/>
          <a:stretch>
            <a:fillRect/>
          </a:stretch>
        </p:blipFill>
        <p:spPr>
          <a:xfrm>
            <a:off x="907085" y="4967021"/>
            <a:ext cx="380390" cy="380390"/>
          </a:xfrm>
          <a:prstGeom prst="rect">
            <a:avLst/>
          </a:prstGeom>
        </p:spPr>
      </p:pic>
      <p:sp>
        <p:nvSpPr>
          <p:cNvPr id="44" name="a3f_t_143"/>
          <p:cNvSpPr txBox="1"/>
          <p:nvPr/>
        </p:nvSpPr>
        <p:spPr>
          <a:xfrm>
            <a:off x="1645920"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veracode-analyser</a:t>
            </a:r>
            <a:endParaRPr lang="en-US" sz="1300" dirty="0"/>
          </a:p>
        </p:txBody>
      </p:sp>
      <p:sp>
        <p:nvSpPr>
          <p:cNvPr id="45" name="a3f_t_144"/>
          <p:cNvSpPr txBox="1"/>
          <p:nvPr/>
        </p:nvSpPr>
        <p:spPr>
          <a:xfrm>
            <a:off x="1645920"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Veracode · SAST</a:t>
            </a:r>
            <a:endParaRPr lang="en-US" sz="1100" dirty="0"/>
          </a:p>
        </p:txBody>
      </p:sp>
      <p:sp>
        <p:nvSpPr>
          <p:cNvPr id="46" name="a3f_t_145"/>
          <p:cNvSpPr txBox="1"/>
          <p:nvPr/>
        </p:nvSpPr>
        <p:spPr>
          <a:xfrm>
            <a:off x="1645920"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Uploads, waits for the scan, fixes the flaws</a:t>
            </a:r>
            <a:endParaRPr lang="en-US" sz="1100" dirty="0"/>
          </a:p>
        </p:txBody>
      </p:sp>
      <p:sp>
        <p:nvSpPr>
          <p:cNvPr id="47" name="a3f_b_146"/>
          <p:cNvSpPr/>
          <p:nvPr/>
        </p:nvSpPr>
        <p:spPr>
          <a:xfrm>
            <a:off x="4306824" y="4526280"/>
            <a:ext cx="3575304" cy="1261872"/>
          </a:xfrm>
          <a:prstGeom prst="roundRect">
            <a:avLst>
              <a:gd name="adj" fmla="val 8696"/>
            </a:avLst>
          </a:prstGeom>
          <a:solidFill>
            <a:schemeClr val="bg2"/>
          </a:solidFill>
          <a:ln w="9525">
            <a:solidFill>
              <a:schemeClr val="accent3"/>
            </a:solidFill>
            <a:prstDash val="solid"/>
          </a:ln>
        </p:spPr>
      </p:sp>
      <p:sp>
        <p:nvSpPr>
          <p:cNvPr id="48" name="a3f_b_147"/>
          <p:cNvSpPr/>
          <p:nvPr/>
        </p:nvSpPr>
        <p:spPr>
          <a:xfrm>
            <a:off x="4489704" y="4791456"/>
            <a:ext cx="731520" cy="731520"/>
          </a:xfrm>
          <a:prstGeom prst="roundRect">
            <a:avLst>
              <a:gd name="adj" fmla="val 22000"/>
            </a:avLst>
          </a:prstGeom>
          <a:solidFill>
            <a:schemeClr val="bg2"/>
          </a:solidFill>
          <a:ln w="15875">
            <a:solidFill>
              <a:schemeClr val="accent1"/>
            </a:solidFill>
            <a:prstDash val="solid"/>
          </a:ln>
        </p:spPr>
      </p:sp>
      <p:pic>
        <p:nvPicPr>
          <p:cNvPr id="49" name="a3f_i_148" descr="preencoded.png">    </p:cNvPr>
          <p:cNvPicPr>
            <a:picLocks noChangeAspect="1"/>
          </p:cNvPicPr>
          <p:nvPr/>
        </p:nvPicPr>
        <p:blipFill>
          <a:blip r:embed="rId8"/>
          <a:stretch>
            <a:fillRect/>
          </a:stretch>
        </p:blipFill>
        <p:spPr>
          <a:xfrm>
            <a:off x="4665269" y="4967021"/>
            <a:ext cx="380390" cy="380390"/>
          </a:xfrm>
          <a:prstGeom prst="rect">
            <a:avLst/>
          </a:prstGeom>
        </p:spPr>
      </p:pic>
      <p:sp>
        <p:nvSpPr>
          <p:cNvPr id="50" name="a3f_t_149"/>
          <p:cNvSpPr txBox="1"/>
          <p:nvPr/>
        </p:nvSpPr>
        <p:spPr>
          <a:xfrm>
            <a:off x="5404104"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xray-analyzer</a:t>
            </a:r>
            <a:endParaRPr lang="en-US" sz="1300" dirty="0"/>
          </a:p>
        </p:txBody>
      </p:sp>
      <p:sp>
        <p:nvSpPr>
          <p:cNvPr id="51" name="a3f_t_150"/>
          <p:cNvSpPr txBox="1"/>
          <p:nvPr/>
        </p:nvSpPr>
        <p:spPr>
          <a:xfrm>
            <a:off x="5404104"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JFrog Xray · SCA</a:t>
            </a:r>
            <a:endParaRPr lang="en-US" sz="1100" dirty="0"/>
          </a:p>
        </p:txBody>
      </p:sp>
      <p:sp>
        <p:nvSpPr>
          <p:cNvPr id="52" name="a3f_t_151"/>
          <p:cNvSpPr txBox="1"/>
          <p:nvPr/>
        </p:nvSpPr>
        <p:spPr>
          <a:xfrm>
            <a:off x="5404104"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Fixes dependency flaws through our own MCP</a:t>
            </a:r>
            <a:endParaRPr lang="en-US" sz="1100" dirty="0"/>
          </a:p>
        </p:txBody>
      </p:sp>
      <p:sp>
        <p:nvSpPr>
          <p:cNvPr id="53" name="a3f_b_152"/>
          <p:cNvSpPr/>
          <p:nvPr/>
        </p:nvSpPr>
        <p:spPr>
          <a:xfrm>
            <a:off x="8065008" y="4526280"/>
            <a:ext cx="3575304" cy="1261872"/>
          </a:xfrm>
          <a:prstGeom prst="roundRect">
            <a:avLst>
              <a:gd name="adj" fmla="val 8696"/>
            </a:avLst>
          </a:prstGeom>
          <a:solidFill>
            <a:schemeClr val="bg2"/>
          </a:solidFill>
          <a:ln w="9525">
            <a:solidFill>
              <a:schemeClr val="accent3"/>
            </a:solidFill>
            <a:prstDash val="solid"/>
          </a:ln>
        </p:spPr>
      </p:sp>
      <p:sp>
        <p:nvSpPr>
          <p:cNvPr id="54" name="a3f_b_153"/>
          <p:cNvSpPr/>
          <p:nvPr/>
        </p:nvSpPr>
        <p:spPr>
          <a:xfrm>
            <a:off x="8247888" y="4791456"/>
            <a:ext cx="731520" cy="731520"/>
          </a:xfrm>
          <a:prstGeom prst="roundRect">
            <a:avLst>
              <a:gd name="adj" fmla="val 22000"/>
            </a:avLst>
          </a:prstGeom>
          <a:solidFill>
            <a:schemeClr val="bg2"/>
          </a:solidFill>
          <a:ln w="15875">
            <a:solidFill>
              <a:schemeClr val="accent1"/>
            </a:solidFill>
            <a:prstDash val="solid"/>
          </a:ln>
        </p:spPr>
      </p:sp>
      <p:pic>
        <p:nvPicPr>
          <p:cNvPr id="55" name="a3f_i_154" descr="preencoded.png">    </p:cNvPr>
          <p:cNvPicPr>
            <a:picLocks noChangeAspect="1"/>
          </p:cNvPicPr>
          <p:nvPr/>
        </p:nvPicPr>
        <p:blipFill>
          <a:blip r:embed="rId9"/>
          <a:stretch>
            <a:fillRect/>
          </a:stretch>
        </p:blipFill>
        <p:spPr>
          <a:xfrm>
            <a:off x="8423453" y="4967021"/>
            <a:ext cx="380390" cy="380390"/>
          </a:xfrm>
          <a:prstGeom prst="rect">
            <a:avLst/>
          </a:prstGeom>
        </p:spPr>
      </p:pic>
      <p:sp>
        <p:nvSpPr>
          <p:cNvPr id="56" name="a3f_t_155"/>
          <p:cNvSpPr txBox="1"/>
          <p:nvPr/>
        </p:nvSpPr>
        <p:spPr>
          <a:xfrm>
            <a:off x="9162288"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code-coverage-agent</a:t>
            </a:r>
            <a:endParaRPr lang="en-US" sz="1300" dirty="0"/>
          </a:p>
        </p:txBody>
      </p:sp>
      <p:sp>
        <p:nvSpPr>
          <p:cNvPr id="57" name="a3f_t_156"/>
          <p:cNvSpPr txBox="1"/>
          <p:nvPr/>
        </p:nvSpPr>
        <p:spPr>
          <a:xfrm>
            <a:off x="9162288"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Unit tests</a:t>
            </a:r>
            <a:endParaRPr lang="en-US" sz="1100" dirty="0"/>
          </a:p>
        </p:txBody>
      </p:sp>
      <p:sp>
        <p:nvSpPr>
          <p:cNvPr id="58" name="a3f_t_157"/>
          <p:cNvSpPr txBox="1"/>
          <p:nvPr/>
        </p:nvSpPr>
        <p:spPr>
          <a:xfrm>
            <a:off x="9162288"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tests and loops until 95% coverage</a:t>
            </a:r>
            <a:endParaRPr lang="en-US" sz="1100" dirty="0"/>
          </a:p>
        </p:txBody>
      </p:sp>
      <p:sp>
        <p:nvSpPr>
          <p:cNvPr id="59" name="a4f_t_158"/>
          <p:cNvSpPr txBox="1"/>
          <p:nvPr/>
        </p:nvSpPr>
        <p:spPr>
          <a:xfrm>
            <a:off x="548640" y="5989320"/>
            <a:ext cx="7315200" cy="274320"/>
          </a:xfrm>
          <a:prstGeom prst="rect">
            <a:avLst/>
          </a:prstGeom>
          <a:noFill/>
          <a:ln/>
        </p:spPr>
        <p:txBody>
          <a:bodyPr wrap="square" lIns="0" tIns="0" rIns="0" bIns="0" rtlCol="0" anchor="t"/>
          <a:lstStyle/>
          <a:p>
            <a:pPr algn="l" indent="0" marL="0">
              <a:buNone/>
            </a:pPr>
            <a:r>
              <a:rPr lang="en-US" sz="1200" i="1" dirty="0">
                <a:solidFill>
                  <a:schemeClr val="tx2"/>
                </a:solidFill>
              </a:rPr>
              <a:t>Built solo  ·  Claude models via GitHub Copilot and Kiro</a:t>
            </a:r>
            <a:endParaRPr lang="en-US" sz="1200" dirty="0"/>
          </a:p>
        </p:txBody>
      </p:sp>
      <p:sp>
        <p:nvSpPr>
          <p:cNvPr id="6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5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par>
                          <p:cTn id="112" fill="hold">
                            <p:stCondLst>
                              <p:cond delay="380"/>
                            </p:stCondLst>
                            <p:childTnLst>
                              <p:par>
                                <p:cTn id="58" presetID="10" presetClass="entr" presetSubtype="0"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5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5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5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5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67"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5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50"/>
                                        <p:tgtEl>
                                          <p:spTgt spid="4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50"/>
                                        <p:tgtEl>
                                          <p:spTgt spid="4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5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50"/>
                                        <p:tgtEl>
                                          <p:spTgt spid="4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50"/>
                                        <p:tgtEl>
                                          <p:spTgt spid="5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50"/>
                                        <p:tgtEl>
                                          <p:spTgt spid="5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50"/>
                                        <p:tgtEl>
                                          <p:spTgt spid="5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50"/>
                                        <p:tgtEl>
                                          <p:spTgt spid="53"/>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50"/>
                                        <p:tgtEl>
                                          <p:spTgt spid="5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50"/>
                                        <p:tgtEl>
                                          <p:spTgt spid="55"/>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450"/>
                                        <p:tgtEl>
                                          <p:spTgt spid="56"/>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450"/>
                                        <p:tgtEl>
                                          <p:spTgt spid="57"/>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fade">
                                      <p:cBhvr>
                                        <p:cTn id="166" dur="450"/>
                                        <p:tgtEl>
                                          <p:spTgt spid="58"/>
                                        </p:tgtEl>
                                      </p:cBhvr>
                                    </p:animEffect>
                                  </p:childTnLst>
                                </p:cTn>
                              </p:par>
                            </p:childTnLst>
                          </p:cTn>
                        </p:par>
                        <p:par>
                          <p:cTn id="171" fill="hold">
                            <p:stCondLst>
                              <p:cond delay="1140"/>
                            </p:stCondLst>
                            <p:childTnLst>
                              <p:par>
                                <p:cTn id="168" presetID="10" presetClass="entr" presetSubtype="0" fill="hold" grpId="0" nodeType="after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6" grpId="0" animBg="1"/>
      <p:bldP spid="57" grpId="0" animBg="1"/>
      <p:bldP spid="58" grpId="0" animBg="1"/>
      <p:bldP spid="59" grpId="0" animBg="1"/>
    </p:bldLst>
  </p:timing>
</p:sld>
</file>

<file path=ppt/slides/slide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5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happens when the agents work together?</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happens when the agents work together?</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A master agent conducts. Specialists do the work.</a:t>
            </a:r>
            <a:endParaRPr lang="en-US" sz="2800" dirty="0"/>
          </a:p>
        </p:txBody>
      </p:sp>
      <p:sp>
        <p:nvSpPr>
          <p:cNvPr id="5" name="a1f_b_160"/>
          <p:cNvSpPr/>
          <p:nvPr/>
        </p:nvSpPr>
        <p:spPr>
          <a:xfrm>
            <a:off x="3012948" y="1600200"/>
            <a:ext cx="685800" cy="685800"/>
          </a:xfrm>
          <a:prstGeom prst="roundRect">
            <a:avLst>
              <a:gd name="adj" fmla="val 22000"/>
            </a:avLst>
          </a:prstGeom>
          <a:solidFill>
            <a:schemeClr val="bg2"/>
          </a:solidFill>
          <a:ln w="15875">
            <a:solidFill>
              <a:schemeClr val="accent1"/>
            </a:solidFill>
            <a:prstDash val="solid"/>
          </a:ln>
        </p:spPr>
      </p:sp>
      <p:pic>
        <p:nvPicPr>
          <p:cNvPr id="6" name="a1f_i_161" descr="preencoded.png">    </p:cNvPr>
          <p:cNvPicPr>
            <a:picLocks noChangeAspect="1"/>
          </p:cNvPicPr>
          <p:nvPr/>
        </p:nvPicPr>
        <p:blipFill>
          <a:blip r:embed="rId1"/>
          <a:stretch>
            <a:fillRect/>
          </a:stretch>
        </p:blipFill>
        <p:spPr>
          <a:xfrm>
            <a:off x="3177540" y="1764792"/>
            <a:ext cx="356616" cy="356616"/>
          </a:xfrm>
          <a:prstGeom prst="rect">
            <a:avLst/>
          </a:prstGeom>
        </p:spPr>
      </p:pic>
      <p:sp>
        <p:nvSpPr>
          <p:cNvPr id="7" name="a1f_b_162"/>
          <p:cNvSpPr/>
          <p:nvPr/>
        </p:nvSpPr>
        <p:spPr>
          <a:xfrm>
            <a:off x="3538728" y="1463040"/>
            <a:ext cx="310896" cy="310896"/>
          </a:xfrm>
          <a:prstGeom prst="ellipse">
            <a:avLst/>
          </a:prstGeom>
          <a:solidFill>
            <a:schemeClr val="bg1"/>
          </a:solidFill>
          <a:ln w="12700">
            <a:solidFill>
              <a:schemeClr val="accent1"/>
            </a:solidFill>
            <a:prstDash val="solid"/>
          </a:ln>
        </p:spPr>
      </p:sp>
      <p:pic>
        <p:nvPicPr>
          <p:cNvPr id="8" name="a1f_i_163" descr="/Users/deepakkumar/Documents/Claude projects/the-agentic-delivery-pipeline/pitch/build/assets/mcp-light.png">    </p:cNvPr>
          <p:cNvPicPr>
            <a:picLocks noChangeAspect="1"/>
          </p:cNvPicPr>
          <p:nvPr/>
        </p:nvPicPr>
        <p:blipFill>
          <a:blip r:embed="rId2"/>
          <a:stretch>
            <a:fillRect/>
          </a:stretch>
        </p:blipFill>
        <p:spPr>
          <a:xfrm>
            <a:off x="3584448" y="1508760"/>
            <a:ext cx="219456" cy="219456"/>
          </a:xfrm>
          <a:prstGeom prst="rect">
            <a:avLst/>
          </a:prstGeom>
        </p:spPr>
      </p:pic>
      <p:sp>
        <p:nvSpPr>
          <p:cNvPr id="9" name="a1f_t_164"/>
          <p:cNvSpPr txBox="1"/>
          <p:nvPr/>
        </p:nvSpPr>
        <p:spPr>
          <a:xfrm>
            <a:off x="25328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Jira</a:t>
            </a:r>
            <a:endParaRPr lang="en-US" sz="1200" dirty="0"/>
          </a:p>
        </p:txBody>
      </p:sp>
      <p:sp>
        <p:nvSpPr>
          <p:cNvPr id="10" name="a2f_l_165"/>
          <p:cNvSpPr/>
          <p:nvPr/>
        </p:nvSpPr>
        <p:spPr>
          <a:xfrm>
            <a:off x="3355848" y="2606040"/>
            <a:ext cx="914" cy="137160"/>
          </a:xfrm>
          <a:prstGeom prst="line">
            <a:avLst/>
          </a:prstGeom>
          <a:noFill/>
          <a:ln w="15875">
            <a:solidFill>
              <a:schemeClr val="accent4"/>
            </a:solidFill>
            <a:prstDash val="solid"/>
          </a:ln>
        </p:spPr>
      </p:sp>
      <p:pic>
        <p:nvPicPr>
          <p:cNvPr id="11" name="a2f_i_166" descr="/Users/deepakkumar/Documents/Claude projects/the-agentic-delivery-pipeline/pitch/build/assets/agent.gif">    </p:cNvPr>
          <p:cNvPicPr>
            <a:picLocks noChangeAspect="1"/>
          </p:cNvPicPr>
          <p:nvPr/>
        </p:nvPicPr>
        <p:blipFill>
          <a:blip r:embed="rId3"/>
          <a:stretch>
            <a:fillRect/>
          </a:stretch>
        </p:blipFill>
        <p:spPr>
          <a:xfrm>
            <a:off x="3072384" y="2743200"/>
            <a:ext cx="566928" cy="393192"/>
          </a:xfrm>
          <a:prstGeom prst="rect">
            <a:avLst/>
          </a:prstGeom>
        </p:spPr>
      </p:pic>
      <p:sp>
        <p:nvSpPr>
          <p:cNvPr id="12" name="a2f_l_167"/>
          <p:cNvSpPr/>
          <p:nvPr/>
        </p:nvSpPr>
        <p:spPr>
          <a:xfrm>
            <a:off x="3355848" y="3154680"/>
            <a:ext cx="2743200" cy="274320"/>
          </a:xfrm>
          <a:prstGeom prst="line">
            <a:avLst/>
          </a:prstGeom>
          <a:noFill/>
          <a:ln w="15875">
            <a:solidFill>
              <a:schemeClr val="accent4"/>
            </a:solidFill>
            <a:prstDash val="solid"/>
          </a:ln>
        </p:spPr>
      </p:sp>
      <p:sp>
        <p:nvSpPr>
          <p:cNvPr id="13" name="a1f_b_168"/>
          <p:cNvSpPr/>
          <p:nvPr/>
        </p:nvSpPr>
        <p:spPr>
          <a:xfrm>
            <a:off x="4841748" y="1600200"/>
            <a:ext cx="685800" cy="685800"/>
          </a:xfrm>
          <a:prstGeom prst="roundRect">
            <a:avLst>
              <a:gd name="adj" fmla="val 22000"/>
            </a:avLst>
          </a:prstGeom>
          <a:solidFill>
            <a:schemeClr val="bg2"/>
          </a:solidFill>
          <a:ln w="15875">
            <a:solidFill>
              <a:schemeClr val="accent1"/>
            </a:solidFill>
            <a:prstDash val="solid"/>
          </a:ln>
        </p:spPr>
      </p:sp>
      <p:pic>
        <p:nvPicPr>
          <p:cNvPr id="14" name="a1f_i_169" descr="preencoded.png">    </p:cNvPr>
          <p:cNvPicPr>
            <a:picLocks noChangeAspect="1"/>
          </p:cNvPicPr>
          <p:nvPr/>
        </p:nvPicPr>
        <p:blipFill>
          <a:blip r:embed="rId4"/>
          <a:stretch>
            <a:fillRect/>
          </a:stretch>
        </p:blipFill>
        <p:spPr>
          <a:xfrm>
            <a:off x="5006340" y="1764792"/>
            <a:ext cx="356616" cy="356616"/>
          </a:xfrm>
          <a:prstGeom prst="rect">
            <a:avLst/>
          </a:prstGeom>
        </p:spPr>
      </p:pic>
      <p:sp>
        <p:nvSpPr>
          <p:cNvPr id="15" name="a1f_b_170"/>
          <p:cNvSpPr/>
          <p:nvPr/>
        </p:nvSpPr>
        <p:spPr>
          <a:xfrm>
            <a:off x="5367528" y="1463040"/>
            <a:ext cx="310896" cy="310896"/>
          </a:xfrm>
          <a:prstGeom prst="ellipse">
            <a:avLst/>
          </a:prstGeom>
          <a:solidFill>
            <a:schemeClr val="bg1"/>
          </a:solidFill>
          <a:ln w="12700">
            <a:solidFill>
              <a:schemeClr val="accent1"/>
            </a:solidFill>
            <a:prstDash val="solid"/>
          </a:ln>
        </p:spPr>
      </p:sp>
      <p:pic>
        <p:nvPicPr>
          <p:cNvPr id="16" name="a1f_i_171" descr="/Users/deepakkumar/Documents/Claude projects/the-agentic-delivery-pipeline/pitch/build/assets/mcp-light.png">    </p:cNvPr>
          <p:cNvPicPr>
            <a:picLocks noChangeAspect="1"/>
          </p:cNvPicPr>
          <p:nvPr/>
        </p:nvPicPr>
        <p:blipFill>
          <a:blip r:embed="rId5"/>
          <a:stretch>
            <a:fillRect/>
          </a:stretch>
        </p:blipFill>
        <p:spPr>
          <a:xfrm>
            <a:off x="5413248" y="1508760"/>
            <a:ext cx="219456" cy="219456"/>
          </a:xfrm>
          <a:prstGeom prst="rect">
            <a:avLst/>
          </a:prstGeom>
        </p:spPr>
      </p:pic>
      <p:sp>
        <p:nvSpPr>
          <p:cNvPr id="17" name="a1f_t_172"/>
          <p:cNvSpPr txBox="1"/>
          <p:nvPr/>
        </p:nvSpPr>
        <p:spPr>
          <a:xfrm>
            <a:off x="43616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Figma</a:t>
            </a:r>
            <a:endParaRPr lang="en-US" sz="1200" dirty="0"/>
          </a:p>
        </p:txBody>
      </p:sp>
      <p:sp>
        <p:nvSpPr>
          <p:cNvPr id="18" name="a2f_l_173"/>
          <p:cNvSpPr/>
          <p:nvPr/>
        </p:nvSpPr>
        <p:spPr>
          <a:xfrm>
            <a:off x="5184648" y="2606040"/>
            <a:ext cx="914" cy="137160"/>
          </a:xfrm>
          <a:prstGeom prst="line">
            <a:avLst/>
          </a:prstGeom>
          <a:noFill/>
          <a:ln w="15875">
            <a:solidFill>
              <a:schemeClr val="accent4"/>
            </a:solidFill>
            <a:prstDash val="solid"/>
          </a:ln>
        </p:spPr>
      </p:sp>
      <p:pic>
        <p:nvPicPr>
          <p:cNvPr id="19" name="a2f_i_174" descr="/Users/deepakkumar/Documents/Claude projects/the-agentic-delivery-pipeline/pitch/build/assets/agent.gif">    </p:cNvPr>
          <p:cNvPicPr>
            <a:picLocks noChangeAspect="1"/>
          </p:cNvPicPr>
          <p:nvPr/>
        </p:nvPicPr>
        <p:blipFill>
          <a:blip r:embed="rId6"/>
          <a:stretch>
            <a:fillRect/>
          </a:stretch>
        </p:blipFill>
        <p:spPr>
          <a:xfrm>
            <a:off x="4901184" y="2743200"/>
            <a:ext cx="566928" cy="393192"/>
          </a:xfrm>
          <a:prstGeom prst="rect">
            <a:avLst/>
          </a:prstGeom>
        </p:spPr>
      </p:pic>
      <p:sp>
        <p:nvSpPr>
          <p:cNvPr id="20" name="a2f_l_175"/>
          <p:cNvSpPr/>
          <p:nvPr/>
        </p:nvSpPr>
        <p:spPr>
          <a:xfrm>
            <a:off x="5184648" y="3154680"/>
            <a:ext cx="914400" cy="274320"/>
          </a:xfrm>
          <a:prstGeom prst="line">
            <a:avLst/>
          </a:prstGeom>
          <a:noFill/>
          <a:ln w="15875">
            <a:solidFill>
              <a:schemeClr val="accent4"/>
            </a:solidFill>
            <a:prstDash val="solid"/>
          </a:ln>
        </p:spPr>
      </p:sp>
      <p:sp>
        <p:nvSpPr>
          <p:cNvPr id="21" name="a1f_b_176"/>
          <p:cNvSpPr/>
          <p:nvPr/>
        </p:nvSpPr>
        <p:spPr>
          <a:xfrm>
            <a:off x="6670548" y="1600200"/>
            <a:ext cx="685800" cy="685800"/>
          </a:xfrm>
          <a:prstGeom prst="roundRect">
            <a:avLst>
              <a:gd name="adj" fmla="val 22000"/>
            </a:avLst>
          </a:prstGeom>
          <a:solidFill>
            <a:schemeClr val="bg2"/>
          </a:solidFill>
          <a:ln w="15875">
            <a:solidFill>
              <a:schemeClr val="accent1"/>
            </a:solidFill>
            <a:prstDash val="solid"/>
          </a:ln>
        </p:spPr>
      </p:sp>
      <p:pic>
        <p:nvPicPr>
          <p:cNvPr id="22" name="a1f_i_177" descr="preencoded.png">    </p:cNvPr>
          <p:cNvPicPr>
            <a:picLocks noChangeAspect="1"/>
          </p:cNvPicPr>
          <p:nvPr/>
        </p:nvPicPr>
        <p:blipFill>
          <a:blip r:embed="rId7"/>
          <a:stretch>
            <a:fillRect/>
          </a:stretch>
        </p:blipFill>
        <p:spPr>
          <a:xfrm>
            <a:off x="6835140" y="1764792"/>
            <a:ext cx="356616" cy="356616"/>
          </a:xfrm>
          <a:prstGeom prst="rect">
            <a:avLst/>
          </a:prstGeom>
        </p:spPr>
      </p:pic>
      <p:sp>
        <p:nvSpPr>
          <p:cNvPr id="23" name="a1f_b_178"/>
          <p:cNvSpPr/>
          <p:nvPr/>
        </p:nvSpPr>
        <p:spPr>
          <a:xfrm>
            <a:off x="7196328" y="1463040"/>
            <a:ext cx="310896" cy="310896"/>
          </a:xfrm>
          <a:prstGeom prst="ellipse">
            <a:avLst/>
          </a:prstGeom>
          <a:solidFill>
            <a:schemeClr val="bg1"/>
          </a:solidFill>
          <a:ln w="12700">
            <a:solidFill>
              <a:schemeClr val="accent1"/>
            </a:solidFill>
            <a:prstDash val="solid"/>
          </a:ln>
        </p:spPr>
      </p:sp>
      <p:pic>
        <p:nvPicPr>
          <p:cNvPr id="24" name="a1f_i_179" descr="/Users/deepakkumar/Documents/Claude projects/the-agentic-delivery-pipeline/pitch/build/assets/mcp-light.png">    </p:cNvPr>
          <p:cNvPicPr>
            <a:picLocks noChangeAspect="1"/>
          </p:cNvPicPr>
          <p:nvPr/>
        </p:nvPicPr>
        <p:blipFill>
          <a:blip r:embed="rId8"/>
          <a:stretch>
            <a:fillRect/>
          </a:stretch>
        </p:blipFill>
        <p:spPr>
          <a:xfrm>
            <a:off x="7242048" y="1508760"/>
            <a:ext cx="219456" cy="219456"/>
          </a:xfrm>
          <a:prstGeom prst="rect">
            <a:avLst/>
          </a:prstGeom>
        </p:spPr>
      </p:pic>
      <p:sp>
        <p:nvSpPr>
          <p:cNvPr id="25" name="a1f_t_180"/>
          <p:cNvSpPr txBox="1"/>
          <p:nvPr/>
        </p:nvSpPr>
        <p:spPr>
          <a:xfrm>
            <a:off x="61904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Confluence</a:t>
            </a:r>
            <a:endParaRPr lang="en-US" sz="1200" dirty="0"/>
          </a:p>
        </p:txBody>
      </p:sp>
      <p:sp>
        <p:nvSpPr>
          <p:cNvPr id="26" name="a2f_l_181"/>
          <p:cNvSpPr/>
          <p:nvPr/>
        </p:nvSpPr>
        <p:spPr>
          <a:xfrm>
            <a:off x="7013448" y="2606040"/>
            <a:ext cx="914" cy="137160"/>
          </a:xfrm>
          <a:prstGeom prst="line">
            <a:avLst/>
          </a:prstGeom>
          <a:noFill/>
          <a:ln w="15875">
            <a:solidFill>
              <a:schemeClr val="accent4"/>
            </a:solidFill>
            <a:prstDash val="solid"/>
          </a:ln>
        </p:spPr>
      </p:sp>
      <p:pic>
        <p:nvPicPr>
          <p:cNvPr id="27" name="a2f_i_182" descr="/Users/deepakkumar/Documents/Claude projects/the-agentic-delivery-pipeline/pitch/build/assets/agent.gif">    </p:cNvPr>
          <p:cNvPicPr>
            <a:picLocks noChangeAspect="1"/>
          </p:cNvPicPr>
          <p:nvPr/>
        </p:nvPicPr>
        <p:blipFill>
          <a:blip r:embed="rId9"/>
          <a:stretch>
            <a:fillRect/>
          </a:stretch>
        </p:blipFill>
        <p:spPr>
          <a:xfrm>
            <a:off x="6729984" y="2743200"/>
            <a:ext cx="566928" cy="393192"/>
          </a:xfrm>
          <a:prstGeom prst="rect">
            <a:avLst/>
          </a:prstGeom>
        </p:spPr>
      </p:pic>
      <p:sp>
        <p:nvSpPr>
          <p:cNvPr id="28" name="a2f_l_183"/>
          <p:cNvSpPr/>
          <p:nvPr/>
        </p:nvSpPr>
        <p:spPr>
          <a:xfrm flipH="1">
            <a:off x="6099048" y="3154680"/>
            <a:ext cx="914400" cy="274320"/>
          </a:xfrm>
          <a:prstGeom prst="line">
            <a:avLst/>
          </a:prstGeom>
          <a:noFill/>
          <a:ln w="15875">
            <a:solidFill>
              <a:schemeClr val="accent4"/>
            </a:solidFill>
            <a:prstDash val="solid"/>
          </a:ln>
        </p:spPr>
      </p:sp>
      <p:sp>
        <p:nvSpPr>
          <p:cNvPr id="29" name="a1f_b_184"/>
          <p:cNvSpPr/>
          <p:nvPr/>
        </p:nvSpPr>
        <p:spPr>
          <a:xfrm>
            <a:off x="8499348" y="1600200"/>
            <a:ext cx="685800" cy="685800"/>
          </a:xfrm>
          <a:prstGeom prst="roundRect">
            <a:avLst>
              <a:gd name="adj" fmla="val 22000"/>
            </a:avLst>
          </a:prstGeom>
          <a:solidFill>
            <a:schemeClr val="bg2"/>
          </a:solidFill>
          <a:ln w="15875">
            <a:solidFill>
              <a:schemeClr val="accent1"/>
            </a:solidFill>
            <a:prstDash val="solid"/>
          </a:ln>
        </p:spPr>
      </p:sp>
      <p:pic>
        <p:nvPicPr>
          <p:cNvPr id="30" name="a1f_i_185" descr="preencoded.png">    </p:cNvPr>
          <p:cNvPicPr>
            <a:picLocks noChangeAspect="1"/>
          </p:cNvPicPr>
          <p:nvPr/>
        </p:nvPicPr>
        <p:blipFill>
          <a:blip r:embed="rId10"/>
          <a:stretch>
            <a:fillRect/>
          </a:stretch>
        </p:blipFill>
        <p:spPr>
          <a:xfrm>
            <a:off x="8663940" y="1764792"/>
            <a:ext cx="356616" cy="356616"/>
          </a:xfrm>
          <a:prstGeom prst="rect">
            <a:avLst/>
          </a:prstGeom>
        </p:spPr>
      </p:pic>
      <p:sp>
        <p:nvSpPr>
          <p:cNvPr id="31" name="a1f_b_186"/>
          <p:cNvSpPr/>
          <p:nvPr/>
        </p:nvSpPr>
        <p:spPr>
          <a:xfrm>
            <a:off x="9025128" y="1463040"/>
            <a:ext cx="310896" cy="310896"/>
          </a:xfrm>
          <a:prstGeom prst="ellipse">
            <a:avLst/>
          </a:prstGeom>
          <a:solidFill>
            <a:schemeClr val="bg1"/>
          </a:solidFill>
          <a:ln w="12700">
            <a:solidFill>
              <a:schemeClr val="accent1"/>
            </a:solidFill>
            <a:prstDash val="solid"/>
          </a:ln>
        </p:spPr>
      </p:sp>
      <p:pic>
        <p:nvPicPr>
          <p:cNvPr id="32" name="a1f_i_187" descr="/Users/deepakkumar/Documents/Claude projects/the-agentic-delivery-pipeline/pitch/build/assets/mcp-light.png">    </p:cNvPr>
          <p:cNvPicPr>
            <a:picLocks noChangeAspect="1"/>
          </p:cNvPicPr>
          <p:nvPr/>
        </p:nvPicPr>
        <p:blipFill>
          <a:blip r:embed="rId11"/>
          <a:stretch>
            <a:fillRect/>
          </a:stretch>
        </p:blipFill>
        <p:spPr>
          <a:xfrm>
            <a:off x="9070848" y="1508760"/>
            <a:ext cx="219456" cy="219456"/>
          </a:xfrm>
          <a:prstGeom prst="rect">
            <a:avLst/>
          </a:prstGeom>
        </p:spPr>
      </p:pic>
      <p:sp>
        <p:nvSpPr>
          <p:cNvPr id="33" name="a1f_t_188"/>
          <p:cNvSpPr txBox="1"/>
          <p:nvPr/>
        </p:nvSpPr>
        <p:spPr>
          <a:xfrm>
            <a:off x="80192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SwaggerHub</a:t>
            </a:r>
            <a:endParaRPr lang="en-US" sz="1200" dirty="0"/>
          </a:p>
        </p:txBody>
      </p:sp>
      <p:sp>
        <p:nvSpPr>
          <p:cNvPr id="34" name="a2f_l_189"/>
          <p:cNvSpPr/>
          <p:nvPr/>
        </p:nvSpPr>
        <p:spPr>
          <a:xfrm>
            <a:off x="8842248" y="2606040"/>
            <a:ext cx="914" cy="137160"/>
          </a:xfrm>
          <a:prstGeom prst="line">
            <a:avLst/>
          </a:prstGeom>
          <a:noFill/>
          <a:ln w="15875">
            <a:solidFill>
              <a:schemeClr val="accent4"/>
            </a:solidFill>
            <a:prstDash val="solid"/>
          </a:ln>
        </p:spPr>
      </p:sp>
      <p:pic>
        <p:nvPicPr>
          <p:cNvPr id="35" name="a2f_i_190" descr="/Users/deepakkumar/Documents/Claude projects/the-agentic-delivery-pipeline/pitch/build/assets/agent.gif">    </p:cNvPr>
          <p:cNvPicPr>
            <a:picLocks noChangeAspect="1"/>
          </p:cNvPicPr>
          <p:nvPr/>
        </p:nvPicPr>
        <p:blipFill>
          <a:blip r:embed="rId12"/>
          <a:stretch>
            <a:fillRect/>
          </a:stretch>
        </p:blipFill>
        <p:spPr>
          <a:xfrm>
            <a:off x="8558784" y="2743200"/>
            <a:ext cx="566928" cy="393192"/>
          </a:xfrm>
          <a:prstGeom prst="rect">
            <a:avLst/>
          </a:prstGeom>
        </p:spPr>
      </p:pic>
      <p:sp>
        <p:nvSpPr>
          <p:cNvPr id="36" name="a2f_l_191"/>
          <p:cNvSpPr/>
          <p:nvPr/>
        </p:nvSpPr>
        <p:spPr>
          <a:xfrm flipH="1">
            <a:off x="6099048" y="3154680"/>
            <a:ext cx="2743200" cy="274320"/>
          </a:xfrm>
          <a:prstGeom prst="line">
            <a:avLst/>
          </a:prstGeom>
          <a:noFill/>
          <a:ln w="15875">
            <a:solidFill>
              <a:schemeClr val="accent4"/>
            </a:solidFill>
            <a:prstDash val="solid"/>
          </a:ln>
        </p:spPr>
      </p:sp>
      <p:sp>
        <p:nvSpPr>
          <p:cNvPr id="37" name="a1f_t_192"/>
          <p:cNvSpPr txBox="1"/>
          <p:nvPr/>
        </p:nvSpPr>
        <p:spPr>
          <a:xfrm>
            <a:off x="9601200" y="1572768"/>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MCP</a:t>
            </a:r>
            <a:endParaRPr lang="en-US" sz="1100" dirty="0"/>
          </a:p>
        </p:txBody>
      </p:sp>
      <p:sp>
        <p:nvSpPr>
          <p:cNvPr id="38" name="a1f_t_193"/>
          <p:cNvSpPr txBox="1"/>
          <p:nvPr/>
        </p:nvSpPr>
        <p:spPr>
          <a:xfrm>
            <a:off x="9601200" y="1828800"/>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one live tool connection each</a:t>
            </a:r>
            <a:endParaRPr lang="en-US" sz="1100" dirty="0"/>
          </a:p>
        </p:txBody>
      </p:sp>
      <p:sp>
        <p:nvSpPr>
          <p:cNvPr id="39" name="a2f_t_194"/>
          <p:cNvSpPr txBox="1"/>
          <p:nvPr/>
        </p:nvSpPr>
        <p:spPr>
          <a:xfrm>
            <a:off x="9601200" y="2743200"/>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Subagents</a:t>
            </a:r>
            <a:endParaRPr lang="en-US" sz="1100" dirty="0"/>
          </a:p>
        </p:txBody>
      </p:sp>
      <p:sp>
        <p:nvSpPr>
          <p:cNvPr id="40" name="a2f_t_195"/>
          <p:cNvSpPr txBox="1"/>
          <p:nvPr/>
        </p:nvSpPr>
        <p:spPr>
          <a:xfrm>
            <a:off x="9601200" y="2999232"/>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each in its own context</a:t>
            </a:r>
            <a:endParaRPr lang="en-US" sz="1100" dirty="0"/>
          </a:p>
        </p:txBody>
      </p:sp>
      <p:sp>
        <p:nvSpPr>
          <p:cNvPr id="41" name="a3f_t_196"/>
          <p:cNvSpPr txBox="1"/>
          <p:nvPr/>
        </p:nvSpPr>
        <p:spPr>
          <a:xfrm>
            <a:off x="548640" y="3337560"/>
            <a:ext cx="2377440" cy="274320"/>
          </a:xfrm>
          <a:prstGeom prst="rect">
            <a:avLst/>
          </a:prstGeom>
          <a:noFill/>
          <a:ln/>
        </p:spPr>
        <p:txBody>
          <a:bodyPr wrap="square" lIns="0" tIns="0" rIns="0" bIns="0" rtlCol="0" anchor="t"/>
          <a:lstStyle/>
          <a:p>
            <a:pPr algn="l" indent="0" marL="0">
              <a:buNone/>
            </a:pPr>
            <a:r>
              <a:rPr lang="en-US" sz="1100" i="1" dirty="0">
                <a:solidFill>
                  <a:schemeClr val="accent1"/>
                </a:solidFill>
              </a:rPr>
              <a:t>prompt-submit hook</a:t>
            </a:r>
            <a:endParaRPr lang="en-US" sz="1100" dirty="0"/>
          </a:p>
        </p:txBody>
      </p:sp>
      <p:sp>
        <p:nvSpPr>
          <p:cNvPr id="42" name="a3f_b_197"/>
          <p:cNvSpPr/>
          <p:nvPr/>
        </p:nvSpPr>
        <p:spPr>
          <a:xfrm>
            <a:off x="548640" y="3639312"/>
            <a:ext cx="2377440" cy="548640"/>
          </a:xfrm>
          <a:prstGeom prst="roundRect">
            <a:avLst>
              <a:gd name="adj" fmla="val 20000"/>
            </a:avLst>
          </a:prstGeom>
          <a:solidFill>
            <a:schemeClr val="bg2"/>
          </a:solidFill>
          <a:ln w="9525">
            <a:solidFill>
              <a:schemeClr val="accent3"/>
            </a:solidFill>
            <a:prstDash val="solid"/>
          </a:ln>
        </p:spPr>
      </p:sp>
      <p:sp>
        <p:nvSpPr>
          <p:cNvPr id="43" name="a3f_t_198"/>
          <p:cNvSpPr txBox="1"/>
          <p:nvPr/>
        </p:nvSpPr>
        <p:spPr>
          <a:xfrm>
            <a:off x="548640" y="3639312"/>
            <a:ext cx="2377440" cy="548640"/>
          </a:xfrm>
          <a:prstGeom prst="rect">
            <a:avLst/>
          </a:prstGeom>
          <a:noFill/>
          <a:ln/>
        </p:spPr>
        <p:txBody>
          <a:bodyPr wrap="square" lIns="0" tIns="0" rIns="0" bIns="0" rtlCol="0" anchor="ctr"/>
          <a:lstStyle/>
          <a:p>
            <a:pPr algn="ctr" indent="0" marL="0">
              <a:buNone/>
            </a:pPr>
            <a:r>
              <a:rPr lang="en-US" sz="1200" b="1" dirty="0">
                <a:solidFill>
                  <a:schemeClr val="tx1"/>
                </a:solidFill>
              </a:rPr>
              <a:t>Developer submits a prompt</a:t>
            </a:r>
            <a:endParaRPr lang="en-US" sz="1200" dirty="0"/>
          </a:p>
        </p:txBody>
      </p:sp>
      <p:sp>
        <p:nvSpPr>
          <p:cNvPr id="44" name="a3f_l_199"/>
          <p:cNvSpPr/>
          <p:nvPr/>
        </p:nvSpPr>
        <p:spPr>
          <a:xfrm>
            <a:off x="2926080" y="3913632"/>
            <a:ext cx="2606040" cy="914"/>
          </a:xfrm>
          <a:prstGeom prst="line">
            <a:avLst/>
          </a:prstGeom>
          <a:noFill/>
          <a:ln w="15875">
            <a:solidFill>
              <a:schemeClr val="accent1"/>
            </a:solidFill>
            <a:prstDash val="solid"/>
            <a:tailEnd type="triangle"/>
          </a:ln>
        </p:spPr>
      </p:sp>
      <p:pic>
        <p:nvPicPr>
          <p:cNvPr id="45" name="a4f_i_200" descr="/Users/deepakkumar/Documents/Claude projects/the-agentic-delivery-pipeline/pitch/build/assets/master-agent.gif">    </p:cNvPr>
          <p:cNvPicPr>
            <a:picLocks noChangeAspect="1"/>
          </p:cNvPicPr>
          <p:nvPr/>
        </p:nvPicPr>
        <p:blipFill>
          <a:blip r:embed="rId13"/>
          <a:stretch>
            <a:fillRect/>
          </a:stretch>
        </p:blipFill>
        <p:spPr>
          <a:xfrm>
            <a:off x="5577840" y="3401568"/>
            <a:ext cx="1042416" cy="1042416"/>
          </a:xfrm>
          <a:prstGeom prst="rect">
            <a:avLst/>
          </a:prstGeom>
        </p:spPr>
      </p:pic>
      <p:sp>
        <p:nvSpPr>
          <p:cNvPr id="46" name="a4f_t_201"/>
          <p:cNvSpPr txBox="1"/>
          <p:nvPr/>
        </p:nvSpPr>
        <p:spPr>
          <a:xfrm>
            <a:off x="5184648" y="4462272"/>
            <a:ext cx="1828800" cy="274320"/>
          </a:xfrm>
          <a:prstGeom prst="rect">
            <a:avLst/>
          </a:prstGeom>
          <a:noFill/>
          <a:ln/>
        </p:spPr>
        <p:txBody>
          <a:bodyPr wrap="square" lIns="0" tIns="0" rIns="0" bIns="0" rtlCol="0" anchor="t"/>
          <a:lstStyle/>
          <a:p>
            <a:pPr algn="ctr" indent="0" marL="0">
              <a:buNone/>
            </a:pPr>
            <a:r>
              <a:rPr lang="en-US" sz="1300" b="1" dirty="0">
                <a:solidFill>
                  <a:schemeClr val="accent1"/>
                </a:solidFill>
              </a:rPr>
              <a:t>Master agent</a:t>
            </a:r>
            <a:endParaRPr lang="en-US" sz="1300" dirty="0"/>
          </a:p>
        </p:txBody>
      </p:sp>
      <p:sp>
        <p:nvSpPr>
          <p:cNvPr id="47" name="a5f_l_202"/>
          <p:cNvSpPr/>
          <p:nvPr/>
        </p:nvSpPr>
        <p:spPr>
          <a:xfrm>
            <a:off x="6099048" y="4754880"/>
            <a:ext cx="914" cy="182880"/>
          </a:xfrm>
          <a:prstGeom prst="line">
            <a:avLst/>
          </a:prstGeom>
          <a:noFill/>
          <a:ln w="15875">
            <a:solidFill>
              <a:schemeClr val="accent1"/>
            </a:solidFill>
            <a:prstDash val="solid"/>
            <a:tailEnd type="triangle"/>
          </a:ln>
        </p:spPr>
      </p:sp>
      <p:sp>
        <p:nvSpPr>
          <p:cNvPr id="48" name="a5f_b_203"/>
          <p:cNvSpPr/>
          <p:nvPr/>
        </p:nvSpPr>
        <p:spPr>
          <a:xfrm>
            <a:off x="5367528" y="4937760"/>
            <a:ext cx="1463040" cy="1005840"/>
          </a:xfrm>
          <a:prstGeom prst="diamond">
            <a:avLst/>
          </a:prstGeom>
          <a:solidFill>
            <a:schemeClr val="bg2"/>
          </a:solidFill>
          <a:ln w="15875">
            <a:solidFill>
              <a:schemeClr val="accent1"/>
            </a:solidFill>
            <a:prstDash val="solid"/>
          </a:ln>
        </p:spPr>
      </p:sp>
      <p:sp>
        <p:nvSpPr>
          <p:cNvPr id="49" name="a5f_t_204"/>
          <p:cNvSpPr txBox="1"/>
          <p:nvPr/>
        </p:nvSpPr>
        <p:spPr>
          <a:xfrm>
            <a:off x="5367528" y="4937760"/>
            <a:ext cx="1463040" cy="1005840"/>
          </a:xfrm>
          <a:prstGeom prst="rect">
            <a:avLst/>
          </a:prstGeom>
          <a:noFill/>
          <a:ln/>
        </p:spPr>
        <p:txBody>
          <a:bodyPr wrap="square" lIns="0" tIns="0" rIns="0" bIns="0" rtlCol="0" anchor="ctr"/>
          <a:lstStyle/>
          <a:p>
            <a:pPr algn="ctr" indent="0" marL="0">
              <a:buNone/>
            </a:pPr>
            <a:r>
              <a:rPr lang="en-US" sz="1200" b="1" dirty="0">
                <a:solidFill>
                  <a:schemeClr val="tx1"/>
                </a:solidFill>
              </a:rPr>
              <a:t>Input</a:t>
            </a:r>
            <a:endParaRPr lang="en-US" sz="1200" dirty="0"/>
          </a:p>
          <a:p>
            <a:pPr algn="ctr" indent="0" marL="0">
              <a:buNone/>
            </a:pPr>
            <a:r>
              <a:rPr lang="en-US" sz="1200" b="1" dirty="0">
                <a:solidFill>
                  <a:schemeClr val="tx1"/>
                </a:solidFill>
              </a:rPr>
              <a:t>complete?</a:t>
            </a:r>
            <a:endParaRPr lang="en-US" sz="1200" dirty="0"/>
          </a:p>
        </p:txBody>
      </p:sp>
      <p:sp>
        <p:nvSpPr>
          <p:cNvPr id="50" name="a6f_l_205"/>
          <p:cNvSpPr/>
          <p:nvPr/>
        </p:nvSpPr>
        <p:spPr>
          <a:xfrm flipH="1">
            <a:off x="4709160" y="5440680"/>
            <a:ext cx="658368" cy="914"/>
          </a:xfrm>
          <a:prstGeom prst="line">
            <a:avLst/>
          </a:prstGeom>
          <a:noFill/>
          <a:ln w="15875">
            <a:solidFill>
              <a:schemeClr val="accent4"/>
            </a:solidFill>
            <a:prstDash val="solid"/>
            <a:tailEnd type="triangle"/>
          </a:ln>
        </p:spPr>
      </p:sp>
      <p:sp>
        <p:nvSpPr>
          <p:cNvPr id="51" name="a6f_t_206"/>
          <p:cNvSpPr txBox="1"/>
          <p:nvPr/>
        </p:nvSpPr>
        <p:spPr>
          <a:xfrm>
            <a:off x="480060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No</a:t>
            </a:r>
            <a:endParaRPr lang="en-US" sz="1200" dirty="0"/>
          </a:p>
        </p:txBody>
      </p:sp>
      <p:sp>
        <p:nvSpPr>
          <p:cNvPr id="52" name="a6f_b_207"/>
          <p:cNvSpPr/>
          <p:nvPr/>
        </p:nvSpPr>
        <p:spPr>
          <a:xfrm>
            <a:off x="2240280" y="5074920"/>
            <a:ext cx="2468880" cy="731520"/>
          </a:xfrm>
          <a:prstGeom prst="roundRect">
            <a:avLst>
              <a:gd name="adj" fmla="val 15000"/>
            </a:avLst>
          </a:prstGeom>
          <a:solidFill>
            <a:schemeClr val="bg2"/>
          </a:solidFill>
          <a:ln w="9525">
            <a:solidFill>
              <a:schemeClr val="accent3"/>
            </a:solidFill>
            <a:prstDash val="solid"/>
          </a:ln>
        </p:spPr>
      </p:sp>
      <p:sp>
        <p:nvSpPr>
          <p:cNvPr id="53" name="a6f_t_208"/>
          <p:cNvSpPr txBox="1"/>
          <p:nvPr/>
        </p:nvSpPr>
        <p:spPr>
          <a:xfrm>
            <a:off x="2331720" y="5074920"/>
            <a:ext cx="2286000" cy="731520"/>
          </a:xfrm>
          <a:prstGeom prst="rect">
            <a:avLst/>
          </a:prstGeom>
          <a:noFill/>
          <a:ln/>
        </p:spPr>
        <p:txBody>
          <a:bodyPr wrap="square" lIns="0" tIns="0" rIns="0" bIns="0" rtlCol="0" anchor="ctr"/>
          <a:lstStyle/>
          <a:p>
            <a:pPr algn="ctr" indent="0" marL="0">
              <a:buNone/>
            </a:pPr>
            <a:r>
              <a:rPr lang="en-US" sz="1200" dirty="0">
                <a:solidFill>
                  <a:schemeClr val="tx1"/>
                </a:solidFill>
              </a:rPr>
              <a:t>Comment on Jira, assign back to the reporter</a:t>
            </a:r>
            <a:endParaRPr lang="en-US" sz="1200" dirty="0"/>
          </a:p>
        </p:txBody>
      </p:sp>
      <p:sp>
        <p:nvSpPr>
          <p:cNvPr id="54" name="a6f_l_209"/>
          <p:cNvSpPr/>
          <p:nvPr/>
        </p:nvSpPr>
        <p:spPr>
          <a:xfrm flipH="1">
            <a:off x="1783080" y="5440680"/>
            <a:ext cx="457200" cy="914"/>
          </a:xfrm>
          <a:prstGeom prst="line">
            <a:avLst/>
          </a:prstGeom>
          <a:noFill/>
          <a:ln w="15875">
            <a:solidFill>
              <a:schemeClr val="accent4"/>
            </a:solidFill>
            <a:prstDash val="solid"/>
            <a:tailEnd type="triangle"/>
          </a:ln>
        </p:spPr>
      </p:sp>
      <p:sp>
        <p:nvSpPr>
          <p:cNvPr id="55" name="a6f_b_210"/>
          <p:cNvSpPr/>
          <p:nvPr/>
        </p:nvSpPr>
        <p:spPr>
          <a:xfrm>
            <a:off x="1097280" y="5120640"/>
            <a:ext cx="658368" cy="658368"/>
          </a:xfrm>
          <a:prstGeom prst="ellipse">
            <a:avLst/>
          </a:prstGeom>
          <a:ln w="15875">
            <a:solidFill>
              <a:schemeClr val="accent4"/>
            </a:solidFill>
            <a:prstDash val="solid"/>
          </a:ln>
        </p:spPr>
      </p:sp>
      <p:sp>
        <p:nvSpPr>
          <p:cNvPr id="56" name="a6f_t_211"/>
          <p:cNvSpPr txBox="1"/>
          <p:nvPr/>
        </p:nvSpPr>
        <p:spPr>
          <a:xfrm>
            <a:off x="1097280" y="5120640"/>
            <a:ext cx="658368" cy="658368"/>
          </a:xfrm>
          <a:prstGeom prst="rect">
            <a:avLst/>
          </a:prstGeom>
          <a:noFill/>
          <a:ln/>
        </p:spPr>
        <p:txBody>
          <a:bodyPr wrap="square" lIns="0" tIns="0" rIns="0" bIns="0" rtlCol="0" anchor="ctr"/>
          <a:lstStyle/>
          <a:p>
            <a:pPr algn="ctr" indent="0" marL="0">
              <a:buNone/>
            </a:pPr>
            <a:r>
              <a:rPr lang="en-US" sz="1200" b="1" dirty="0">
                <a:solidFill>
                  <a:schemeClr val="tx2"/>
                </a:solidFill>
              </a:rPr>
              <a:t>Exit</a:t>
            </a:r>
            <a:endParaRPr lang="en-US" sz="1200" dirty="0"/>
          </a:p>
        </p:txBody>
      </p:sp>
      <p:sp>
        <p:nvSpPr>
          <p:cNvPr id="57" name="a7f_l_212"/>
          <p:cNvSpPr/>
          <p:nvPr/>
        </p:nvSpPr>
        <p:spPr>
          <a:xfrm>
            <a:off x="6830568" y="5440680"/>
            <a:ext cx="621792" cy="914"/>
          </a:xfrm>
          <a:prstGeom prst="line">
            <a:avLst/>
          </a:prstGeom>
          <a:noFill/>
          <a:ln w="15875">
            <a:solidFill>
              <a:schemeClr val="accent1"/>
            </a:solidFill>
            <a:prstDash val="solid"/>
            <a:tailEnd type="triangle"/>
          </a:ln>
        </p:spPr>
      </p:sp>
      <p:sp>
        <p:nvSpPr>
          <p:cNvPr id="58" name="a7f_t_213"/>
          <p:cNvSpPr txBox="1"/>
          <p:nvPr/>
        </p:nvSpPr>
        <p:spPr>
          <a:xfrm>
            <a:off x="690372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Yes</a:t>
            </a:r>
            <a:endParaRPr lang="en-US" sz="1200" dirty="0"/>
          </a:p>
        </p:txBody>
      </p:sp>
      <p:sp>
        <p:nvSpPr>
          <p:cNvPr id="59" name="a7f_b_214"/>
          <p:cNvSpPr/>
          <p:nvPr/>
        </p:nvSpPr>
        <p:spPr>
          <a:xfrm>
            <a:off x="7452360" y="5074920"/>
            <a:ext cx="1600200" cy="731520"/>
          </a:xfrm>
          <a:prstGeom prst="roundRect">
            <a:avLst>
              <a:gd name="adj" fmla="val 15000"/>
            </a:avLst>
          </a:prstGeom>
          <a:solidFill>
            <a:schemeClr val="bg2"/>
          </a:solidFill>
          <a:ln w="15875">
            <a:solidFill>
              <a:schemeClr val="accent1"/>
            </a:solidFill>
            <a:prstDash val="solid"/>
          </a:ln>
        </p:spPr>
      </p:sp>
      <p:sp>
        <p:nvSpPr>
          <p:cNvPr id="60" name="a7f_t_215"/>
          <p:cNvSpPr txBox="1"/>
          <p:nvPr/>
        </p:nvSpPr>
        <p:spPr>
          <a:xfrm>
            <a:off x="7452360" y="5074920"/>
            <a:ext cx="1600200" cy="7315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Input JSON</a:t>
            </a:r>
            <a:endParaRPr lang="en-US" sz="1300" dirty="0"/>
          </a:p>
        </p:txBody>
      </p:sp>
      <p:sp>
        <p:nvSpPr>
          <p:cNvPr id="61" name="a7f_l_216"/>
          <p:cNvSpPr/>
          <p:nvPr/>
        </p:nvSpPr>
        <p:spPr>
          <a:xfrm>
            <a:off x="9052560" y="5440680"/>
            <a:ext cx="365760" cy="914"/>
          </a:xfrm>
          <a:prstGeom prst="line">
            <a:avLst/>
          </a:prstGeom>
          <a:noFill/>
          <a:ln w="15875">
            <a:solidFill>
              <a:schemeClr val="accent1"/>
            </a:solidFill>
            <a:prstDash val="solid"/>
            <a:tailEnd type="triangle"/>
          </a:ln>
        </p:spPr>
      </p:sp>
      <p:sp>
        <p:nvSpPr>
          <p:cNvPr id="62" name="a7f_b_217"/>
          <p:cNvSpPr/>
          <p:nvPr/>
        </p:nvSpPr>
        <p:spPr>
          <a:xfrm>
            <a:off x="9418320" y="5074920"/>
            <a:ext cx="2221992" cy="731520"/>
          </a:xfrm>
          <a:prstGeom prst="roundRect">
            <a:avLst>
              <a:gd name="adj" fmla="val 15000"/>
            </a:avLst>
          </a:prstGeom>
          <a:solidFill>
            <a:schemeClr val="accent1"/>
          </a:solidFill>
          <a:ln/>
        </p:spPr>
      </p:sp>
      <p:sp>
        <p:nvSpPr>
          <p:cNvPr id="63" name="a7f_t_218"/>
          <p:cNvSpPr txBox="1"/>
          <p:nvPr/>
        </p:nvSpPr>
        <p:spPr>
          <a:xfrm>
            <a:off x="9509760" y="5074920"/>
            <a:ext cx="2039112" cy="731520"/>
          </a:xfrm>
          <a:prstGeom prst="rect">
            <a:avLst/>
          </a:prstGeom>
          <a:noFill/>
          <a:ln/>
        </p:spPr>
        <p:txBody>
          <a:bodyPr wrap="square" lIns="0" tIns="0" rIns="0" bIns="0" rtlCol="0" anchor="ctr"/>
          <a:lstStyle/>
          <a:p>
            <a:pPr algn="ctr" indent="0" marL="0">
              <a:buNone/>
            </a:pPr>
            <a:r>
              <a:rPr lang="en-US" sz="1300" b="1" dirty="0">
                <a:solidFill>
                  <a:schemeClr val="bg1"/>
                </a:solidFill>
              </a:rPr>
              <a:t>Build loop</a:t>
            </a:r>
            <a:endParaRPr lang="en-US" sz="1400" dirty="0"/>
          </a:p>
          <a:p>
            <a:pPr algn="ctr" indent="0" marL="0">
              <a:buNone/>
            </a:pPr>
            <a:r>
              <a:rPr lang="en-US" sz="1000" dirty="0">
                <a:solidFill>
                  <a:schemeClr val="bg1"/>
                </a:solidFill>
              </a:rPr>
              <a:t>tests → code → Playwright</a:t>
            </a:r>
            <a:endParaRPr lang="en-US" sz="1400" dirty="0"/>
          </a:p>
          <a:p>
            <a:pPr algn="ctr" indent="0" marL="0">
              <a:buNone/>
            </a:pPr>
            <a:r>
              <a:rPr lang="en-US" sz="1000" dirty="0">
                <a:solidFill>
                  <a:schemeClr val="bg1"/>
                </a:solidFill>
              </a:rPr>
              <a:t>max 5 tries</a:t>
            </a:r>
            <a:endParaRPr lang="en-US" sz="1400" dirty="0"/>
          </a:p>
        </p:txBody>
      </p:sp>
      <p:sp>
        <p:nvSpPr>
          <p:cNvPr id="64"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5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45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5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50"/>
                                        <p:tgtEl>
                                          <p:spTgt spid="38"/>
                                        </p:tgtEl>
                                      </p:cBhvr>
                                    </p:animEffect>
                                  </p:childTnLst>
                                </p:cTn>
                              </p:par>
                            </p:childTnLst>
                          </p:cTn>
                        </p:par>
                        <p:par>
                          <p:cTn id="112" fill="hold">
                            <p:stCondLst>
                              <p:cond delay="380"/>
                            </p:stCondLst>
                            <p:childTnLst>
                              <p:par>
                                <p:cTn id="70" presetID="10" presetClass="entr" presetSubtype="0" fill="hold" grpId="0" nodeType="after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450"/>
                                        <p:tgtEl>
                                          <p:spTgt spid="1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45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450"/>
                                        <p:tgtEl>
                                          <p:spTgt spid="1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5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45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45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25"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childTnLst>
                          </p:cTn>
                        </p:par>
                        <p:par>
                          <p:cTn id="132" fill="hold">
                            <p:stCondLst>
                              <p:cond delay="1140"/>
                            </p:stCondLst>
                            <p:childTnLst>
                              <p:par>
                                <p:cTn id="126" presetID="10" presetClass="entr" presetSubtype="0" fill="hold" grpId="0" nodeType="after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45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450"/>
                                        <p:tgtEl>
                                          <p:spTgt spid="46"/>
                                        </p:tgtEl>
                                      </p:cBhvr>
                                    </p:animEffect>
                                  </p:childTnLst>
                                </p:cTn>
                              </p:par>
                            </p:childTnLst>
                          </p:cTn>
                        </p:par>
                        <p:par>
                          <p:cTn id="142" fill="hold">
                            <p:stCondLst>
                              <p:cond delay="1520"/>
                            </p:stCondLst>
                            <p:childTnLst>
                              <p:par>
                                <p:cTn id="133" presetID="10" presetClass="entr" presetSubtype="0" fill="hold" grpId="0"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450"/>
                                        <p:tgtEl>
                                          <p:spTgt spid="49"/>
                                        </p:tgtEl>
                                      </p:cBhvr>
                                    </p:animEffect>
                                  </p:childTnLst>
                                </p:cTn>
                              </p:par>
                            </p:childTnLst>
                          </p:cTn>
                        </p:par>
                        <p:par>
                          <p:cTn id="164" fill="hold">
                            <p:stCondLst>
                              <p:cond delay="1900"/>
                            </p:stCondLst>
                            <p:childTnLst>
                              <p:par>
                                <p:cTn id="143" presetID="10" presetClass="entr" presetSubtype="0" fill="hold" grpId="0" nodeType="after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50"/>
                                        <p:tgtEl>
                                          <p:spTgt spid="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5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50"/>
                                        <p:tgtEl>
                                          <p:spTgt spid="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50"/>
                                        <p:tgtEl>
                                          <p:spTgt spid="56"/>
                                        </p:tgtEl>
                                      </p:cBhvr>
                                    </p:animEffect>
                                  </p:childTnLst>
                                </p:cTn>
                              </p:par>
                            </p:childTnLst>
                          </p:cTn>
                        </p:par>
                        <p:par>
                          <p:cTn id="186" fill="hold">
                            <p:stCondLst>
                              <p:cond delay="2280"/>
                            </p:stCondLst>
                            <p:childTnLst>
                              <p:par>
                                <p:cTn id="165" presetID="10" presetClass="entr" presetSubtype="0" fill="hold" grpId="0" nodeType="after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fade">
                                      <p:cBhvr>
                                        <p:cTn id="167" dur="450"/>
                                        <p:tgtEl>
                                          <p:spTgt spid="57"/>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fade">
                                      <p:cBhvr>
                                        <p:cTn id="170" dur="450"/>
                                        <p:tgtEl>
                                          <p:spTgt spid="58"/>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450"/>
                                        <p:tgtEl>
                                          <p:spTgt spid="59"/>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450"/>
                                        <p:tgtEl>
                                          <p:spTgt spid="60"/>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Effect transition="in" filter="fade">
                                      <p:cBhvr>
                                        <p:cTn id="179" dur="450"/>
                                        <p:tgtEl>
                                          <p:spTgt spid="6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450"/>
                                        <p:tgtEl>
                                          <p:spTgt spid="6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3"/>
                                        </p:tgtEl>
                                        <p:attrNameLst>
                                          <p:attrName>style.visibility</p:attrName>
                                        </p:attrNameLst>
                                      </p:cBhvr>
                                      <p:to>
                                        <p:strVal val="visible"/>
                                      </p:to>
                                    </p:set>
                                    <p:animEffect transition="in" filter="fade">
                                      <p:cBhvr>
                                        <p:cTn id="185" dur="4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2" grpId="0" animBg="1"/>
      <p:bldP spid="13" grpId="0" animBg="1"/>
      <p:bldP spid="15" grpId="0" animBg="1"/>
      <p:bldP spid="17" grpId="0" animBg="1"/>
      <p:bldP spid="18" grpId="0" animBg="1"/>
      <p:bldP spid="20" grpId="0" animBg="1"/>
      <p:bldP spid="21" grpId="0" animBg="1"/>
      <p:bldP spid="23" grpId="0" animBg="1"/>
      <p:bldP spid="25" grpId="0" animBg="1"/>
      <p:bldP spid="26" grpId="0" animBg="1"/>
      <p:bldP spid="28" grpId="0" animBg="1"/>
      <p:bldP spid="29" grpId="0" animBg="1"/>
      <p:bldP spid="31"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1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05</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the story itself is incomplete?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the story itself is incomplete?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It stops early and sends the story back</a:t>
            </a:r>
            <a:endParaRPr lang="en-US" sz="2800" dirty="0"/>
          </a:p>
        </p:txBody>
      </p:sp>
      <p:sp>
        <p:nvSpPr>
          <p:cNvPr id="5" name="a1f_b_220"/>
          <p:cNvSpPr/>
          <p:nvPr/>
        </p:nvSpPr>
        <p:spPr>
          <a:xfrm>
            <a:off x="548640" y="1737360"/>
            <a:ext cx="5760720" cy="3931920"/>
          </a:xfrm>
          <a:prstGeom prst="roundRect">
            <a:avLst>
              <a:gd name="adj" fmla="val 4186"/>
            </a:avLst>
          </a:prstGeom>
          <a:solidFill>
            <a:schemeClr val="bg2"/>
          </a:solidFill>
          <a:ln w="9525">
            <a:solidFill>
              <a:schemeClr val="accent3"/>
            </a:solidFill>
            <a:prstDash val="solid"/>
          </a:ln>
        </p:spPr>
      </p:sp>
      <p:sp>
        <p:nvSpPr>
          <p:cNvPr id="6" name="a1f_b_221"/>
          <p:cNvSpPr/>
          <p:nvPr/>
        </p:nvSpPr>
        <p:spPr>
          <a:xfrm>
            <a:off x="822960" y="1965960"/>
            <a:ext cx="457200" cy="457200"/>
          </a:xfrm>
          <a:prstGeom prst="roundRect">
            <a:avLst>
              <a:gd name="adj" fmla="val 22000"/>
            </a:avLst>
          </a:prstGeom>
          <a:solidFill>
            <a:schemeClr val="bg2"/>
          </a:solidFill>
          <a:ln w="15875">
            <a:solidFill>
              <a:schemeClr val="accent1"/>
            </a:solidFill>
            <a:prstDash val="solid"/>
          </a:ln>
        </p:spPr>
      </p:sp>
      <p:pic>
        <p:nvPicPr>
          <p:cNvPr id="7" name="a1f_i_222" descr="preencoded.png">    </p:cNvPr>
          <p:cNvPicPr>
            <a:picLocks noChangeAspect="1"/>
          </p:cNvPicPr>
          <p:nvPr/>
        </p:nvPicPr>
        <p:blipFill>
          <a:blip r:embed="rId1"/>
          <a:stretch>
            <a:fillRect/>
          </a:stretch>
        </p:blipFill>
        <p:spPr>
          <a:xfrm>
            <a:off x="932688" y="2075688"/>
            <a:ext cx="237744" cy="237744"/>
          </a:xfrm>
          <a:prstGeom prst="rect">
            <a:avLst/>
          </a:prstGeom>
        </p:spPr>
      </p:pic>
      <p:sp>
        <p:nvSpPr>
          <p:cNvPr id="8" name="a1f_t_223"/>
          <p:cNvSpPr txBox="1"/>
          <p:nvPr/>
        </p:nvSpPr>
        <p:spPr>
          <a:xfrm>
            <a:off x="1463040" y="2057400"/>
            <a:ext cx="4572000" cy="274320"/>
          </a:xfrm>
          <a:prstGeom prst="rect">
            <a:avLst/>
          </a:prstGeom>
          <a:noFill/>
          <a:ln/>
        </p:spPr>
        <p:txBody>
          <a:bodyPr wrap="square" lIns="0" tIns="0" rIns="0" bIns="0" rtlCol="0" anchor="t"/>
          <a:lstStyle/>
          <a:p>
            <a:pPr algn="l" indent="0" marL="0">
              <a:buNone/>
            </a:pPr>
            <a:r>
              <a:rPr lang="en-US" sz="1400" b="1" dirty="0">
                <a:solidFill>
                  <a:schemeClr val="tx1"/>
                </a:solidFill>
              </a:rPr>
              <a:t>WEB-1234  ·  Account summary card</a:t>
            </a:r>
            <a:endParaRPr lang="en-US" sz="1400" dirty="0"/>
          </a:p>
        </p:txBody>
      </p:sp>
      <p:pic>
        <p:nvPicPr>
          <p:cNvPr id="9" name="a2f_i_224" descr="/Users/deepakkumar/Documents/Claude projects/the-agentic-delivery-pipeline/pitch/build/assets/agent.png">    </p:cNvPr>
          <p:cNvPicPr>
            <a:picLocks noChangeAspect="1"/>
          </p:cNvPicPr>
          <p:nvPr/>
        </p:nvPicPr>
        <p:blipFill>
          <a:blip r:embed="rId2"/>
          <a:stretch>
            <a:fillRect/>
          </a:stretch>
        </p:blipFill>
        <p:spPr>
          <a:xfrm>
            <a:off x="822960" y="2697480"/>
            <a:ext cx="548640" cy="384048"/>
          </a:xfrm>
          <a:prstGeom prst="rect">
            <a:avLst/>
          </a:prstGeom>
        </p:spPr>
      </p:pic>
      <p:sp>
        <p:nvSpPr>
          <p:cNvPr id="10" name="a2f_t_225"/>
          <p:cNvSpPr txBox="1"/>
          <p:nvPr/>
        </p:nvSpPr>
        <p:spPr>
          <a:xfrm>
            <a:off x="1463040" y="2743200"/>
            <a:ext cx="457200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r>
              <a:rPr lang="en-US" sz="1100" dirty="0">
                <a:solidFill>
                  <a:schemeClr val="tx2"/>
                </a:solidFill>
              </a:rPr>
              <a:t>  commented just now</a:t>
            </a:r>
            <a:endParaRPr lang="en-US" sz="1300" dirty="0"/>
          </a:p>
        </p:txBody>
      </p:sp>
      <p:sp>
        <p:nvSpPr>
          <p:cNvPr id="11" name="a2f_t_226"/>
          <p:cNvSpPr txBox="1"/>
          <p:nvPr/>
        </p:nvSpPr>
        <p:spPr>
          <a:xfrm>
            <a:off x="1463040" y="3154680"/>
            <a:ext cx="4663440" cy="1463040"/>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Before I build this, two things are missing:</a:t>
            </a:r>
            <a:endParaRPr lang="en-US" sz="1400" dirty="0"/>
          </a:p>
          <a:p>
            <a:pPr algn="l" marL="342900" indent="-342900">
              <a:spcAft>
                <a:spcPts val="400"/>
              </a:spcAft>
              <a:buSzPct val="100000"/>
              <a:buChar char="•"/>
            </a:pPr>
            <a:r>
              <a:rPr lang="en-US" sz="1400" dirty="0">
                <a:solidFill>
                  <a:schemeClr val="tx1"/>
                </a:solidFill>
              </a:rPr>
              <a:t>Acceptance criteria for the error state</a:t>
            </a:r>
            <a:endParaRPr lang="en-US" sz="1400" dirty="0"/>
          </a:p>
          <a:p>
            <a:pPr algn="l" marL="342900" indent="-342900">
              <a:spcAft>
                <a:spcPts val="400"/>
              </a:spcAft>
              <a:buSzPct val="100000"/>
              <a:buChar char="•"/>
            </a:pPr>
            <a:r>
              <a:rPr lang="en-US" sz="1400" dirty="0">
                <a:solidFill>
                  <a:schemeClr val="tx1"/>
                </a:solidFill>
              </a:rPr>
              <a:t>The Figma link for the mobile layout</a:t>
            </a:r>
            <a:endParaRPr lang="en-US" sz="1400" dirty="0"/>
          </a:p>
          <a:p>
            <a:pPr algn="l" indent="0" marL="0">
              <a:spcAft>
                <a:spcPts val="400"/>
              </a:spcAft>
              <a:buNone/>
            </a:pPr>
            <a:r>
              <a:rPr lang="en-US" sz="1400" dirty="0">
                <a:solidFill>
                  <a:schemeClr val="tx1"/>
                </a:solidFill>
              </a:rPr>
              <a:t>Assigning back to the reporter.</a:t>
            </a:r>
            <a:endParaRPr lang="en-US" sz="1400" dirty="0"/>
          </a:p>
        </p:txBody>
      </p:sp>
      <p:sp>
        <p:nvSpPr>
          <p:cNvPr id="12" name="a3f_b_227"/>
          <p:cNvSpPr/>
          <p:nvPr/>
        </p:nvSpPr>
        <p:spPr>
          <a:xfrm>
            <a:off x="1463040" y="4892040"/>
            <a:ext cx="2377440" cy="411480"/>
          </a:xfrm>
          <a:prstGeom prst="roundRect">
            <a:avLst>
              <a:gd name="adj" fmla="val 48889"/>
            </a:avLst>
          </a:prstGeom>
          <a:ln w="15875">
            <a:solidFill>
              <a:schemeClr val="accent1"/>
            </a:solidFill>
            <a:prstDash val="solid"/>
          </a:ln>
        </p:spPr>
      </p:sp>
      <p:sp>
        <p:nvSpPr>
          <p:cNvPr id="13" name="a3f_t_228"/>
          <p:cNvSpPr txBox="1"/>
          <p:nvPr/>
        </p:nvSpPr>
        <p:spPr>
          <a:xfrm>
            <a:off x="1463040" y="4892040"/>
            <a:ext cx="2377440" cy="411480"/>
          </a:xfrm>
          <a:prstGeom prst="rect">
            <a:avLst/>
          </a:prstGeom>
          <a:noFill/>
          <a:ln/>
        </p:spPr>
        <p:txBody>
          <a:bodyPr wrap="square" lIns="0" tIns="0" rIns="0" bIns="0" rtlCol="0" anchor="ctr"/>
          <a:lstStyle/>
          <a:p>
            <a:pPr algn="ctr" indent="0" marL="0">
              <a:buNone/>
            </a:pPr>
            <a:r>
              <a:rPr lang="en-US" sz="1200" b="1" dirty="0">
                <a:solidFill>
                  <a:schemeClr val="accent1"/>
                </a:solidFill>
              </a:rPr>
              <a:t>Assignee  →  Reporter</a:t>
            </a:r>
            <a:endParaRPr lang="en-US" sz="1200" dirty="0"/>
          </a:p>
        </p:txBody>
      </p:sp>
      <p:sp>
        <p:nvSpPr>
          <p:cNvPr id="14" name="a1f_t_229"/>
          <p:cNvSpPr txBox="1"/>
          <p:nvPr/>
        </p:nvSpPr>
        <p:spPr>
          <a:xfrm>
            <a:off x="548640" y="5760720"/>
            <a:ext cx="3657600" cy="274320"/>
          </a:xfrm>
          <a:prstGeom prst="rect">
            <a:avLst/>
          </a:prstGeom>
          <a:noFill/>
          <a:ln/>
        </p:spPr>
        <p:txBody>
          <a:bodyPr wrap="square" lIns="0" tIns="0" rIns="0" bIns="0" rtlCol="0" anchor="t"/>
          <a:lstStyle/>
          <a:p>
            <a:pPr algn="l" indent="0" marL="0">
              <a:buNone/>
            </a:pPr>
            <a:r>
              <a:rPr lang="en-US" sz="1000" i="1" dirty="0">
                <a:solidFill>
                  <a:schemeClr val="tx2"/>
                </a:solidFill>
              </a:rPr>
              <a:t>Illustrative example</a:t>
            </a:r>
            <a:endParaRPr lang="en-US" sz="1000" dirty="0"/>
          </a:p>
        </p:txBody>
      </p:sp>
      <p:sp>
        <p:nvSpPr>
          <p:cNvPr id="15" name="a4f_b_230"/>
          <p:cNvSpPr/>
          <p:nvPr/>
        </p:nvSpPr>
        <p:spPr>
          <a:xfrm>
            <a:off x="6675120" y="1783080"/>
            <a:ext cx="4965192" cy="1097280"/>
          </a:xfrm>
          <a:prstGeom prst="roundRect">
            <a:avLst>
              <a:gd name="adj" fmla="val 10000"/>
            </a:avLst>
          </a:prstGeom>
          <a:solidFill>
            <a:schemeClr val="bg2"/>
          </a:solidFill>
          <a:ln w="9525">
            <a:solidFill>
              <a:schemeClr val="accent3"/>
            </a:solidFill>
            <a:prstDash val="solid"/>
          </a:ln>
        </p:spPr>
      </p:sp>
      <p:sp>
        <p:nvSpPr>
          <p:cNvPr id="16" name="a4f_b_231"/>
          <p:cNvSpPr/>
          <p:nvPr/>
        </p:nvSpPr>
        <p:spPr>
          <a:xfrm>
            <a:off x="6858000" y="2057400"/>
            <a:ext cx="548640" cy="548640"/>
          </a:xfrm>
          <a:prstGeom prst="ellipse">
            <a:avLst/>
          </a:prstGeom>
          <a:solidFill>
            <a:schemeClr val="accent1">
              <a:alpha val="20000"/>
            </a:schemeClr>
          </a:solidFill>
          <a:ln/>
        </p:spPr>
      </p:sp>
      <p:pic>
        <p:nvPicPr>
          <p:cNvPr id="17" name="a4f_i_232" descr="preencoded.png">    </p:cNvPr>
          <p:cNvPicPr>
            <a:picLocks noChangeAspect="1"/>
          </p:cNvPicPr>
          <p:nvPr/>
        </p:nvPicPr>
        <p:blipFill>
          <a:blip r:embed="rId3"/>
          <a:stretch>
            <a:fillRect/>
          </a:stretch>
        </p:blipFill>
        <p:spPr>
          <a:xfrm>
            <a:off x="6995160" y="2194560"/>
            <a:ext cx="274320" cy="274320"/>
          </a:xfrm>
          <a:prstGeom prst="rect">
            <a:avLst/>
          </a:prstGeom>
        </p:spPr>
      </p:pic>
      <p:sp>
        <p:nvSpPr>
          <p:cNvPr id="18" name="a4f_t_233"/>
          <p:cNvSpPr txBox="1"/>
          <p:nvPr/>
        </p:nvSpPr>
        <p:spPr>
          <a:xfrm>
            <a:off x="7635240" y="203911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tokens burned on guesswork</a:t>
            </a:r>
            <a:endParaRPr lang="en-US" sz="1600" dirty="0"/>
          </a:p>
        </p:txBody>
      </p:sp>
      <p:sp>
        <p:nvSpPr>
          <p:cNvPr id="19" name="a4f_t_234"/>
          <p:cNvSpPr txBox="1"/>
          <p:nvPr/>
        </p:nvSpPr>
        <p:spPr>
          <a:xfrm>
            <a:off x="7635240" y="235000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run exits before any build work starts</a:t>
            </a:r>
            <a:endParaRPr lang="en-US" sz="1200" dirty="0"/>
          </a:p>
        </p:txBody>
      </p:sp>
      <p:sp>
        <p:nvSpPr>
          <p:cNvPr id="20" name="a5f_b_235"/>
          <p:cNvSpPr/>
          <p:nvPr/>
        </p:nvSpPr>
        <p:spPr>
          <a:xfrm>
            <a:off x="6675120" y="3108960"/>
            <a:ext cx="4965192" cy="1097280"/>
          </a:xfrm>
          <a:prstGeom prst="roundRect">
            <a:avLst>
              <a:gd name="adj" fmla="val 10000"/>
            </a:avLst>
          </a:prstGeom>
          <a:solidFill>
            <a:schemeClr val="bg2"/>
          </a:solidFill>
          <a:ln w="9525">
            <a:solidFill>
              <a:schemeClr val="accent3"/>
            </a:solidFill>
            <a:prstDash val="solid"/>
          </a:ln>
        </p:spPr>
      </p:sp>
      <p:sp>
        <p:nvSpPr>
          <p:cNvPr id="21" name="a5f_b_236"/>
          <p:cNvSpPr/>
          <p:nvPr/>
        </p:nvSpPr>
        <p:spPr>
          <a:xfrm>
            <a:off x="6858000" y="3383280"/>
            <a:ext cx="548640" cy="548640"/>
          </a:xfrm>
          <a:prstGeom prst="ellipse">
            <a:avLst/>
          </a:prstGeom>
          <a:solidFill>
            <a:schemeClr val="accent1">
              <a:alpha val="20000"/>
            </a:schemeClr>
          </a:solidFill>
          <a:ln/>
        </p:spPr>
      </p:sp>
      <p:pic>
        <p:nvPicPr>
          <p:cNvPr id="22" name="a5f_i_237" descr="preencoded.png">    </p:cNvPr>
          <p:cNvPicPr>
            <a:picLocks noChangeAspect="1"/>
          </p:cNvPicPr>
          <p:nvPr/>
        </p:nvPicPr>
        <p:blipFill>
          <a:blip r:embed="rId4"/>
          <a:stretch>
            <a:fillRect/>
          </a:stretch>
        </p:blipFill>
        <p:spPr>
          <a:xfrm>
            <a:off x="6995160" y="3520440"/>
            <a:ext cx="274320" cy="274320"/>
          </a:xfrm>
          <a:prstGeom prst="rect">
            <a:avLst/>
          </a:prstGeom>
        </p:spPr>
      </p:pic>
      <p:sp>
        <p:nvSpPr>
          <p:cNvPr id="23" name="a5f_t_238"/>
          <p:cNvSpPr txBox="1"/>
          <p:nvPr/>
        </p:nvSpPr>
        <p:spPr>
          <a:xfrm>
            <a:off x="7635240" y="336499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hours spent on the wrong build</a:t>
            </a:r>
            <a:endParaRPr lang="en-US" sz="1600" dirty="0"/>
          </a:p>
        </p:txBody>
      </p:sp>
      <p:sp>
        <p:nvSpPr>
          <p:cNvPr id="24" name="a5f_t_239"/>
          <p:cNvSpPr txBox="1"/>
          <p:nvPr/>
        </p:nvSpPr>
        <p:spPr>
          <a:xfrm>
            <a:off x="7635240" y="367588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reporter fixes the story first</a:t>
            </a:r>
            <a:endParaRPr lang="en-US" sz="1200" dirty="0"/>
          </a:p>
        </p:txBody>
      </p:sp>
      <p:sp>
        <p:nvSpPr>
          <p:cNvPr id="25" name="a6f_b_240"/>
          <p:cNvSpPr/>
          <p:nvPr/>
        </p:nvSpPr>
        <p:spPr>
          <a:xfrm>
            <a:off x="6675120" y="4434840"/>
            <a:ext cx="4965192" cy="1097280"/>
          </a:xfrm>
          <a:prstGeom prst="roundRect">
            <a:avLst>
              <a:gd name="adj" fmla="val 10000"/>
            </a:avLst>
          </a:prstGeom>
          <a:solidFill>
            <a:schemeClr val="bg2"/>
          </a:solidFill>
          <a:ln w="9525">
            <a:solidFill>
              <a:schemeClr val="accent3"/>
            </a:solidFill>
            <a:prstDash val="solid"/>
          </a:ln>
        </p:spPr>
      </p:sp>
      <p:sp>
        <p:nvSpPr>
          <p:cNvPr id="26" name="a6f_b_241"/>
          <p:cNvSpPr/>
          <p:nvPr/>
        </p:nvSpPr>
        <p:spPr>
          <a:xfrm>
            <a:off x="6858000" y="4709160"/>
            <a:ext cx="548640" cy="548640"/>
          </a:xfrm>
          <a:prstGeom prst="ellipse">
            <a:avLst/>
          </a:prstGeom>
          <a:solidFill>
            <a:schemeClr val="accent1">
              <a:alpha val="20000"/>
            </a:schemeClr>
          </a:solidFill>
          <a:ln/>
        </p:spPr>
      </p:sp>
      <p:pic>
        <p:nvPicPr>
          <p:cNvPr id="27" name="a6f_i_242" descr="preencoded.png">    </p:cNvPr>
          <p:cNvPicPr>
            <a:picLocks noChangeAspect="1"/>
          </p:cNvPicPr>
          <p:nvPr/>
        </p:nvPicPr>
        <p:blipFill>
          <a:blip r:embed="rId5"/>
          <a:stretch>
            <a:fillRect/>
          </a:stretch>
        </p:blipFill>
        <p:spPr>
          <a:xfrm>
            <a:off x="6995160" y="4846320"/>
            <a:ext cx="274320" cy="274320"/>
          </a:xfrm>
          <a:prstGeom prst="rect">
            <a:avLst/>
          </a:prstGeom>
        </p:spPr>
      </p:pic>
      <p:sp>
        <p:nvSpPr>
          <p:cNvPr id="28" name="a6f_t_243"/>
          <p:cNvSpPr txBox="1"/>
          <p:nvPr/>
        </p:nvSpPr>
        <p:spPr>
          <a:xfrm>
            <a:off x="7635240" y="469087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Checks more than one story</a:t>
            </a:r>
            <a:endParaRPr lang="en-US" sz="1600" dirty="0"/>
          </a:p>
        </p:txBody>
      </p:sp>
      <p:sp>
        <p:nvSpPr>
          <p:cNvPr id="29" name="a6f_t_244"/>
          <p:cNvSpPr txBox="1"/>
          <p:nvPr/>
        </p:nvSpPr>
        <p:spPr>
          <a:xfrm>
            <a:off x="7635240" y="500176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Done and backlog stories, plus the code itself</a:t>
            </a:r>
            <a:endParaRPr lang="en-US" sz="1200" dirty="0"/>
          </a:p>
        </p:txBody>
      </p:sp>
      <p:sp>
        <p:nvSpPr>
          <p:cNvPr id="3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par>
                          <p:cTn id="28"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35"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par>
                          <p:cTn id="51"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childTnLst>
                          </p:cTn>
                        </p:par>
                        <p:par>
                          <p:cTn id="67" fill="hold">
                            <p:stCondLst>
                              <p:cond delay="152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childTnLst>
                          </p:cTn>
                        </p:par>
                        <p:par>
                          <p:cTn id="83" fill="hold">
                            <p:stCondLst>
                              <p:cond delay="19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4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06</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Who fixes the build when it breaks?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Who fixes the build when it breaks?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the-ci-analyzer fixes it and re-runs the build</a:t>
            </a:r>
            <a:endParaRPr lang="en-US" sz="2800" dirty="0"/>
          </a:p>
        </p:txBody>
      </p:sp>
      <p:sp>
        <p:nvSpPr>
          <p:cNvPr id="5" name="a1f_t_246"/>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6" name="a2f_b_247"/>
          <p:cNvSpPr/>
          <p:nvPr/>
        </p:nvSpPr>
        <p:spPr>
          <a:xfrm>
            <a:off x="548640" y="2194560"/>
            <a:ext cx="4206240" cy="548640"/>
          </a:xfrm>
          <a:prstGeom prst="roundRect">
            <a:avLst>
              <a:gd name="adj" fmla="val 20000"/>
            </a:avLst>
          </a:prstGeom>
          <a:solidFill>
            <a:schemeClr val="bg2"/>
          </a:solidFill>
          <a:ln w="9525">
            <a:solidFill>
              <a:schemeClr val="accent3"/>
            </a:solidFill>
            <a:prstDash val="solid"/>
          </a:ln>
        </p:spPr>
      </p:sp>
      <p:sp>
        <p:nvSpPr>
          <p:cNvPr id="7" name="a2f_b_248"/>
          <p:cNvSpPr/>
          <p:nvPr/>
        </p:nvSpPr>
        <p:spPr>
          <a:xfrm>
            <a:off x="731520" y="2286000"/>
            <a:ext cx="365760" cy="365760"/>
          </a:xfrm>
          <a:prstGeom prst="ellipse">
            <a:avLst/>
          </a:prstGeom>
          <a:solidFill>
            <a:schemeClr val="accent4">
              <a:alpha val="40000"/>
            </a:schemeClr>
          </a:solidFill>
          <a:ln/>
        </p:spPr>
      </p:sp>
      <p:pic>
        <p:nvPicPr>
          <p:cNvPr id="8" name="a2f_i_249" descr="preencoded.png">    </p:cNvPr>
          <p:cNvPicPr>
            <a:picLocks noChangeAspect="1"/>
          </p:cNvPicPr>
          <p:nvPr/>
        </p:nvPicPr>
        <p:blipFill>
          <a:blip r:embed="rId1"/>
          <a:stretch>
            <a:fillRect/>
          </a:stretch>
        </p:blipFill>
        <p:spPr>
          <a:xfrm>
            <a:off x="822960" y="2377440"/>
            <a:ext cx="182880" cy="182880"/>
          </a:xfrm>
          <a:prstGeom prst="rect">
            <a:avLst/>
          </a:prstGeom>
        </p:spPr>
      </p:pic>
      <p:sp>
        <p:nvSpPr>
          <p:cNvPr id="9" name="a2f_t_250"/>
          <p:cNvSpPr txBox="1"/>
          <p:nvPr/>
        </p:nvSpPr>
        <p:spPr>
          <a:xfrm>
            <a:off x="1325880" y="2194560"/>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Log in to Jenkins</a:t>
            </a:r>
            <a:endParaRPr lang="en-US" sz="1400" dirty="0"/>
          </a:p>
        </p:txBody>
      </p:sp>
      <p:sp>
        <p:nvSpPr>
          <p:cNvPr id="10" name="a3f_b_251"/>
          <p:cNvSpPr/>
          <p:nvPr/>
        </p:nvSpPr>
        <p:spPr>
          <a:xfrm>
            <a:off x="548640" y="2852928"/>
            <a:ext cx="4206240" cy="548640"/>
          </a:xfrm>
          <a:prstGeom prst="roundRect">
            <a:avLst>
              <a:gd name="adj" fmla="val 20000"/>
            </a:avLst>
          </a:prstGeom>
          <a:solidFill>
            <a:schemeClr val="bg2"/>
          </a:solidFill>
          <a:ln w="9525">
            <a:solidFill>
              <a:schemeClr val="accent3"/>
            </a:solidFill>
            <a:prstDash val="solid"/>
          </a:ln>
        </p:spPr>
      </p:sp>
      <p:sp>
        <p:nvSpPr>
          <p:cNvPr id="11" name="a3f_b_252"/>
          <p:cNvSpPr/>
          <p:nvPr/>
        </p:nvSpPr>
        <p:spPr>
          <a:xfrm>
            <a:off x="731520" y="2944368"/>
            <a:ext cx="365760" cy="365760"/>
          </a:xfrm>
          <a:prstGeom prst="ellipse">
            <a:avLst/>
          </a:prstGeom>
          <a:solidFill>
            <a:schemeClr val="accent4">
              <a:alpha val="40000"/>
            </a:schemeClr>
          </a:solidFill>
          <a:ln/>
        </p:spPr>
      </p:sp>
      <p:pic>
        <p:nvPicPr>
          <p:cNvPr id="12" name="a3f_i_253" descr="preencoded.png">    </p:cNvPr>
          <p:cNvPicPr>
            <a:picLocks noChangeAspect="1"/>
          </p:cNvPicPr>
          <p:nvPr/>
        </p:nvPicPr>
        <p:blipFill>
          <a:blip r:embed="rId2"/>
          <a:stretch>
            <a:fillRect/>
          </a:stretch>
        </p:blipFill>
        <p:spPr>
          <a:xfrm>
            <a:off x="822960" y="3035808"/>
            <a:ext cx="182880" cy="182880"/>
          </a:xfrm>
          <a:prstGeom prst="rect">
            <a:avLst/>
          </a:prstGeom>
        </p:spPr>
      </p:pic>
      <p:sp>
        <p:nvSpPr>
          <p:cNvPr id="13" name="a3f_t_254"/>
          <p:cNvSpPr txBox="1"/>
          <p:nvPr/>
        </p:nvSpPr>
        <p:spPr>
          <a:xfrm>
            <a:off x="1325880" y="2852928"/>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Read the console logs</a:t>
            </a:r>
            <a:endParaRPr lang="en-US" sz="1400" dirty="0"/>
          </a:p>
        </p:txBody>
      </p:sp>
      <p:sp>
        <p:nvSpPr>
          <p:cNvPr id="14" name="a4f_b_255"/>
          <p:cNvSpPr/>
          <p:nvPr/>
        </p:nvSpPr>
        <p:spPr>
          <a:xfrm>
            <a:off x="548640" y="3511296"/>
            <a:ext cx="4206240" cy="548640"/>
          </a:xfrm>
          <a:prstGeom prst="roundRect">
            <a:avLst>
              <a:gd name="adj" fmla="val 20000"/>
            </a:avLst>
          </a:prstGeom>
          <a:solidFill>
            <a:schemeClr val="bg2"/>
          </a:solidFill>
          <a:ln w="9525">
            <a:solidFill>
              <a:schemeClr val="accent3"/>
            </a:solidFill>
            <a:prstDash val="solid"/>
          </a:ln>
        </p:spPr>
      </p:sp>
      <p:sp>
        <p:nvSpPr>
          <p:cNvPr id="15" name="a4f_b_256"/>
          <p:cNvSpPr/>
          <p:nvPr/>
        </p:nvSpPr>
        <p:spPr>
          <a:xfrm>
            <a:off x="731520" y="3602736"/>
            <a:ext cx="365760" cy="365760"/>
          </a:xfrm>
          <a:prstGeom prst="ellipse">
            <a:avLst/>
          </a:prstGeom>
          <a:solidFill>
            <a:schemeClr val="accent4">
              <a:alpha val="40000"/>
            </a:schemeClr>
          </a:solidFill>
          <a:ln/>
        </p:spPr>
      </p:sp>
      <p:pic>
        <p:nvPicPr>
          <p:cNvPr id="16" name="a4f_i_257" descr="preencoded.png">    </p:cNvPr>
          <p:cNvPicPr>
            <a:picLocks noChangeAspect="1"/>
          </p:cNvPicPr>
          <p:nvPr/>
        </p:nvPicPr>
        <p:blipFill>
          <a:blip r:embed="rId3"/>
          <a:stretch>
            <a:fillRect/>
          </a:stretch>
        </p:blipFill>
        <p:spPr>
          <a:xfrm>
            <a:off x="822960" y="3694176"/>
            <a:ext cx="182880" cy="182880"/>
          </a:xfrm>
          <a:prstGeom prst="rect">
            <a:avLst/>
          </a:prstGeom>
        </p:spPr>
      </p:pic>
      <p:sp>
        <p:nvSpPr>
          <p:cNvPr id="17" name="a4f_t_258"/>
          <p:cNvSpPr txBox="1"/>
          <p:nvPr/>
        </p:nvSpPr>
        <p:spPr>
          <a:xfrm>
            <a:off x="1325880" y="3511296"/>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Find a Jenkins expert</a:t>
            </a:r>
            <a:endParaRPr lang="en-US" sz="1400" dirty="0"/>
          </a:p>
        </p:txBody>
      </p:sp>
      <p:sp>
        <p:nvSpPr>
          <p:cNvPr id="18" name="a5f_b_259"/>
          <p:cNvSpPr/>
          <p:nvPr/>
        </p:nvSpPr>
        <p:spPr>
          <a:xfrm>
            <a:off x="548640" y="4169664"/>
            <a:ext cx="4206240" cy="548640"/>
          </a:xfrm>
          <a:prstGeom prst="roundRect">
            <a:avLst>
              <a:gd name="adj" fmla="val 20000"/>
            </a:avLst>
          </a:prstGeom>
          <a:solidFill>
            <a:schemeClr val="bg2"/>
          </a:solidFill>
          <a:ln w="9525">
            <a:solidFill>
              <a:schemeClr val="accent3"/>
            </a:solidFill>
            <a:prstDash val="solid"/>
          </a:ln>
        </p:spPr>
      </p:sp>
      <p:sp>
        <p:nvSpPr>
          <p:cNvPr id="19" name="a5f_b_260"/>
          <p:cNvSpPr/>
          <p:nvPr/>
        </p:nvSpPr>
        <p:spPr>
          <a:xfrm>
            <a:off x="731520" y="4261104"/>
            <a:ext cx="365760" cy="365760"/>
          </a:xfrm>
          <a:prstGeom prst="ellipse">
            <a:avLst/>
          </a:prstGeom>
          <a:solidFill>
            <a:schemeClr val="accent4">
              <a:alpha val="40000"/>
            </a:schemeClr>
          </a:solidFill>
          <a:ln/>
        </p:spPr>
      </p:sp>
      <p:pic>
        <p:nvPicPr>
          <p:cNvPr id="20" name="a5f_i_261" descr="preencoded.png">    </p:cNvPr>
          <p:cNvPicPr>
            <a:picLocks noChangeAspect="1"/>
          </p:cNvPicPr>
          <p:nvPr/>
        </p:nvPicPr>
        <p:blipFill>
          <a:blip r:embed="rId4"/>
          <a:stretch>
            <a:fillRect/>
          </a:stretch>
        </p:blipFill>
        <p:spPr>
          <a:xfrm>
            <a:off x="822960" y="4352544"/>
            <a:ext cx="182880" cy="182880"/>
          </a:xfrm>
          <a:prstGeom prst="rect">
            <a:avLst/>
          </a:prstGeom>
        </p:spPr>
      </p:pic>
      <p:sp>
        <p:nvSpPr>
          <p:cNvPr id="21" name="a5f_t_262"/>
          <p:cNvSpPr txBox="1"/>
          <p:nvPr/>
        </p:nvSpPr>
        <p:spPr>
          <a:xfrm>
            <a:off x="1325880" y="4169664"/>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Wait for their availability</a:t>
            </a:r>
            <a:endParaRPr lang="en-US" sz="1400" dirty="0"/>
          </a:p>
        </p:txBody>
      </p:sp>
      <p:sp>
        <p:nvSpPr>
          <p:cNvPr id="22" name="a6f_b_263"/>
          <p:cNvSpPr/>
          <p:nvPr/>
        </p:nvSpPr>
        <p:spPr>
          <a:xfrm>
            <a:off x="548640" y="4828032"/>
            <a:ext cx="4206240" cy="548640"/>
          </a:xfrm>
          <a:prstGeom prst="roundRect">
            <a:avLst>
              <a:gd name="adj" fmla="val 20000"/>
            </a:avLst>
          </a:prstGeom>
          <a:solidFill>
            <a:schemeClr val="bg2"/>
          </a:solidFill>
          <a:ln w="9525">
            <a:solidFill>
              <a:schemeClr val="accent3"/>
            </a:solidFill>
            <a:prstDash val="solid"/>
          </a:ln>
        </p:spPr>
      </p:sp>
      <p:sp>
        <p:nvSpPr>
          <p:cNvPr id="23" name="a6f_b_264"/>
          <p:cNvSpPr/>
          <p:nvPr/>
        </p:nvSpPr>
        <p:spPr>
          <a:xfrm>
            <a:off x="731520" y="4919472"/>
            <a:ext cx="365760" cy="365760"/>
          </a:xfrm>
          <a:prstGeom prst="ellipse">
            <a:avLst/>
          </a:prstGeom>
          <a:solidFill>
            <a:schemeClr val="accent4">
              <a:alpha val="40000"/>
            </a:schemeClr>
          </a:solidFill>
          <a:ln/>
        </p:spPr>
      </p:sp>
      <p:pic>
        <p:nvPicPr>
          <p:cNvPr id="24" name="a6f_i_265" descr="preencoded.png">    </p:cNvPr>
          <p:cNvPicPr>
            <a:picLocks noChangeAspect="1"/>
          </p:cNvPicPr>
          <p:nvPr/>
        </p:nvPicPr>
        <p:blipFill>
          <a:blip r:embed="rId5"/>
          <a:stretch>
            <a:fillRect/>
          </a:stretch>
        </p:blipFill>
        <p:spPr>
          <a:xfrm>
            <a:off x="822960" y="5010912"/>
            <a:ext cx="182880" cy="182880"/>
          </a:xfrm>
          <a:prstGeom prst="rect">
            <a:avLst/>
          </a:prstGeom>
        </p:spPr>
      </p:pic>
      <p:sp>
        <p:nvSpPr>
          <p:cNvPr id="25" name="a6f_t_266"/>
          <p:cNvSpPr txBox="1"/>
          <p:nvPr/>
        </p:nvSpPr>
        <p:spPr>
          <a:xfrm>
            <a:off x="1325880" y="4828032"/>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Apply the suggested fix</a:t>
            </a:r>
            <a:endParaRPr lang="en-US" sz="1400" dirty="0"/>
          </a:p>
        </p:txBody>
      </p:sp>
      <p:sp>
        <p:nvSpPr>
          <p:cNvPr id="26" name="a13f_t_267"/>
          <p:cNvSpPr txBox="1"/>
          <p:nvPr/>
        </p:nvSpPr>
        <p:spPr>
          <a:xfrm>
            <a:off x="548640" y="5623560"/>
            <a:ext cx="4206240" cy="548640"/>
          </a:xfrm>
          <a:prstGeom prst="rect">
            <a:avLst/>
          </a:prstGeom>
          <a:noFill/>
          <a:ln/>
        </p:spPr>
        <p:txBody>
          <a:bodyPr wrap="square" lIns="0" tIns="0" rIns="0" bIns="0" rtlCol="0" anchor="t"/>
          <a:lstStyle/>
          <a:p>
            <a:pPr algn="l" indent="0" marL="0">
              <a:buNone/>
            </a:pPr>
            <a:r>
              <a:rPr lang="en-US" sz="2800" b="1" dirty="0">
                <a:solidFill>
                  <a:schemeClr val="accent1"/>
                </a:solidFill>
                <a:latin typeface="Georgia" pitchFamily="34" charset="0"/>
                <a:ea typeface="Georgia" pitchFamily="34" charset="-122"/>
                <a:cs typeface="Georgia" pitchFamily="34" charset="-120"/>
              </a:rPr>
              <a:t>~90% less effort</a:t>
            </a:r>
            <a:endParaRPr lang="en-US" sz="2800" dirty="0"/>
          </a:p>
        </p:txBody>
      </p:sp>
      <p:sp>
        <p:nvSpPr>
          <p:cNvPr id="27" name="a7f_t_268"/>
          <p:cNvSpPr txBox="1"/>
          <p:nvPr/>
        </p:nvSpPr>
        <p:spPr>
          <a:xfrm>
            <a:off x="5394960" y="1783080"/>
            <a:ext cx="18288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28" name="a7f_b_269"/>
          <p:cNvSpPr/>
          <p:nvPr/>
        </p:nvSpPr>
        <p:spPr>
          <a:xfrm>
            <a:off x="6995160" y="2148840"/>
            <a:ext cx="3566160" cy="3566160"/>
          </a:xfrm>
          <a:prstGeom prst="ellipse">
            <a:avLst/>
          </a:prstGeom>
          <a:ln w="19050">
            <a:solidFill>
              <a:schemeClr val="accent3"/>
            </a:solidFill>
            <a:prstDash val="dash"/>
          </a:ln>
        </p:spPr>
      </p:sp>
      <p:pic>
        <p:nvPicPr>
          <p:cNvPr id="29" name="a7f_i_270" descr="/Users/deepakkumar/Documents/Claude projects/the-agentic-delivery-pipeline/pitch/build/assets/loop.gif">    </p:cNvPr>
          <p:cNvPicPr>
            <a:picLocks noChangeAspect="1"/>
          </p:cNvPicPr>
          <p:nvPr/>
        </p:nvPicPr>
        <p:blipFill>
          <a:blip r:embed="rId6"/>
          <a:stretch>
            <a:fillRect/>
          </a:stretch>
        </p:blipFill>
        <p:spPr>
          <a:xfrm>
            <a:off x="8046720" y="3200400"/>
            <a:ext cx="1463040" cy="1463040"/>
          </a:xfrm>
          <a:prstGeom prst="rect">
            <a:avLst/>
          </a:prstGeom>
        </p:spPr>
      </p:pic>
      <p:pic>
        <p:nvPicPr>
          <p:cNvPr id="30" name="a7f_i_271" descr="preencoded.png">    </p:cNvPr>
          <p:cNvPicPr>
            <a:picLocks noChangeAspect="1"/>
          </p:cNvPicPr>
          <p:nvPr/>
        </p:nvPicPr>
        <p:blipFill>
          <a:blip r:embed="rId7"/>
          <a:stretch>
            <a:fillRect/>
          </a:stretch>
        </p:blipFill>
        <p:spPr>
          <a:xfrm>
            <a:off x="8503920" y="3657600"/>
            <a:ext cx="548640" cy="548640"/>
          </a:xfrm>
          <a:prstGeom prst="rect">
            <a:avLst/>
          </a:prstGeom>
        </p:spPr>
      </p:pic>
      <p:sp>
        <p:nvSpPr>
          <p:cNvPr id="31" name="a8f_b_272"/>
          <p:cNvSpPr/>
          <p:nvPr/>
        </p:nvSpPr>
        <p:spPr>
          <a:xfrm>
            <a:off x="7772400" y="1892808"/>
            <a:ext cx="2011680" cy="512064"/>
          </a:xfrm>
          <a:prstGeom prst="roundRect">
            <a:avLst>
              <a:gd name="adj" fmla="val 50000"/>
            </a:avLst>
          </a:prstGeom>
          <a:solidFill>
            <a:schemeClr val="bg2"/>
          </a:solidFill>
          <a:ln w="15875">
            <a:solidFill>
              <a:schemeClr val="accent1"/>
            </a:solidFill>
            <a:prstDash val="solid"/>
          </a:ln>
        </p:spPr>
      </p:sp>
      <p:sp>
        <p:nvSpPr>
          <p:cNvPr id="32" name="a8f_t_273"/>
          <p:cNvSpPr txBox="1"/>
          <p:nvPr/>
        </p:nvSpPr>
        <p:spPr>
          <a:xfrm>
            <a:off x="7772400" y="189280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Read console output</a:t>
            </a:r>
            <a:endParaRPr lang="en-US" sz="1300" dirty="0"/>
          </a:p>
        </p:txBody>
      </p:sp>
      <p:sp>
        <p:nvSpPr>
          <p:cNvPr id="33" name="a9f_b_274"/>
          <p:cNvSpPr/>
          <p:nvPr/>
        </p:nvSpPr>
        <p:spPr>
          <a:xfrm>
            <a:off x="9555480" y="3675888"/>
            <a:ext cx="2011680" cy="512064"/>
          </a:xfrm>
          <a:prstGeom prst="roundRect">
            <a:avLst>
              <a:gd name="adj" fmla="val 50000"/>
            </a:avLst>
          </a:prstGeom>
          <a:solidFill>
            <a:schemeClr val="bg2"/>
          </a:solidFill>
          <a:ln w="15875">
            <a:solidFill>
              <a:schemeClr val="accent1"/>
            </a:solidFill>
            <a:prstDash val="solid"/>
          </a:ln>
        </p:spPr>
      </p:sp>
      <p:sp>
        <p:nvSpPr>
          <p:cNvPr id="34" name="a9f_t_275"/>
          <p:cNvSpPr txBox="1"/>
          <p:nvPr/>
        </p:nvSpPr>
        <p:spPr>
          <a:xfrm>
            <a:off x="955548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Fix the failure</a:t>
            </a:r>
            <a:endParaRPr lang="en-US" sz="1300" dirty="0"/>
          </a:p>
        </p:txBody>
      </p:sp>
      <p:sp>
        <p:nvSpPr>
          <p:cNvPr id="35" name="a10f_b_276"/>
          <p:cNvSpPr/>
          <p:nvPr/>
        </p:nvSpPr>
        <p:spPr>
          <a:xfrm>
            <a:off x="7772400" y="5458968"/>
            <a:ext cx="2011680" cy="512064"/>
          </a:xfrm>
          <a:prstGeom prst="roundRect">
            <a:avLst>
              <a:gd name="adj" fmla="val 50000"/>
            </a:avLst>
          </a:prstGeom>
          <a:solidFill>
            <a:schemeClr val="bg2"/>
          </a:solidFill>
          <a:ln w="15875">
            <a:solidFill>
              <a:schemeClr val="accent1"/>
            </a:solidFill>
            <a:prstDash val="solid"/>
          </a:ln>
        </p:spPr>
      </p:sp>
      <p:sp>
        <p:nvSpPr>
          <p:cNvPr id="36" name="a10f_t_277"/>
          <p:cNvSpPr txBox="1"/>
          <p:nvPr/>
        </p:nvSpPr>
        <p:spPr>
          <a:xfrm>
            <a:off x="7772400" y="545896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Commit and push</a:t>
            </a:r>
            <a:endParaRPr lang="en-US" sz="1300" dirty="0"/>
          </a:p>
        </p:txBody>
      </p:sp>
      <p:sp>
        <p:nvSpPr>
          <p:cNvPr id="37" name="a11f_b_278"/>
          <p:cNvSpPr/>
          <p:nvPr/>
        </p:nvSpPr>
        <p:spPr>
          <a:xfrm>
            <a:off x="5989320" y="3675888"/>
            <a:ext cx="2011680" cy="512064"/>
          </a:xfrm>
          <a:prstGeom prst="roundRect">
            <a:avLst>
              <a:gd name="adj" fmla="val 50000"/>
            </a:avLst>
          </a:prstGeom>
          <a:solidFill>
            <a:schemeClr val="bg2"/>
          </a:solidFill>
          <a:ln w="15875">
            <a:solidFill>
              <a:schemeClr val="accent1"/>
            </a:solidFill>
            <a:prstDash val="solid"/>
          </a:ln>
        </p:spPr>
      </p:sp>
      <p:sp>
        <p:nvSpPr>
          <p:cNvPr id="38" name="a11f_t_279"/>
          <p:cNvSpPr txBox="1"/>
          <p:nvPr/>
        </p:nvSpPr>
        <p:spPr>
          <a:xfrm>
            <a:off x="598932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Re-run the build</a:t>
            </a:r>
            <a:endParaRPr lang="en-US" sz="1300" dirty="0"/>
          </a:p>
        </p:txBody>
      </p:sp>
      <p:sp>
        <p:nvSpPr>
          <p:cNvPr id="39" name="a12f_t_280"/>
          <p:cNvSpPr txBox="1"/>
          <p:nvPr/>
        </p:nvSpPr>
        <p:spPr>
          <a:xfrm>
            <a:off x="9829800" y="5303520"/>
            <a:ext cx="2011680" cy="274320"/>
          </a:xfrm>
          <a:prstGeom prst="rect">
            <a:avLst/>
          </a:prstGeom>
          <a:noFill/>
          <a:ln/>
        </p:spPr>
        <p:txBody>
          <a:bodyPr wrap="square" lIns="0" tIns="0" rIns="0" bIns="0" rtlCol="0" anchor="t"/>
          <a:lstStyle/>
          <a:p>
            <a:pPr algn="l" indent="0" marL="0">
              <a:buNone/>
            </a:pPr>
            <a:r>
              <a:rPr lang="en-US" sz="1200" i="1" dirty="0">
                <a:solidFill>
                  <a:schemeClr val="accent1"/>
                </a:solidFill>
              </a:rPr>
              <a:t>loops until green</a:t>
            </a:r>
            <a:endParaRPr lang="en-US" sz="1200" dirty="0"/>
          </a:p>
        </p:txBody>
      </p:sp>
      <p:sp>
        <p:nvSpPr>
          <p:cNvPr id="4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childTnLst>
                          </p:cTn>
                        </p:par>
                        <p:par>
                          <p:cTn id="19"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childTnLst>
                          </p:cTn>
                        </p:par>
                        <p:par>
                          <p:cTn id="32" fill="hold">
                            <p:stCondLst>
                              <p:cond delay="76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45"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8"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childTnLst>
                          </p:cTn>
                        </p:par>
                        <p:par>
                          <p:cTn id="71" fill="hold">
                            <p:stCondLst>
                              <p:cond delay="1900"/>
                            </p:stCondLst>
                            <p:childTnLst>
                              <p:par>
                                <p:cTn id="59" presetID="10" presetClass="entr" presetSubtype="0"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par>
                          <p:cTn id="84" fill="hold">
                            <p:stCondLst>
                              <p:cond delay="228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par>
                          <p:cTn id="91" fill="hold">
                            <p:stCondLst>
                              <p:cond delay="266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childTnLst>
                          </p:cTn>
                        </p:par>
                        <p:par>
                          <p:cTn id="98" fill="hold">
                            <p:stCondLst>
                              <p:cond delay="3040"/>
                            </p:stCondLst>
                            <p:childTnLst>
                              <p:par>
                                <p:cTn id="92" presetID="10" presetClass="entr" presetSubtype="0" fill="hold" grpId="0"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childTnLst>
                          </p:cTn>
                        </p:par>
                        <p:par>
                          <p:cTn id="105" fill="hold">
                            <p:stCondLst>
                              <p:cond delay="3420"/>
                            </p:stCondLst>
                            <p:childTnLst>
                              <p:par>
                                <p:cTn id="99" presetID="10" presetClass="entr" presetSubtype="0"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2" fill="hold">
                            <p:stCondLst>
                              <p:cond delay="3800"/>
                            </p:stCondLst>
                            <p:childTnLst>
                              <p:par>
                                <p:cTn id="106" presetID="10" presetClass="entr" presetSubtype="0"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childTnLst>
                          </p:cTn>
                        </p:par>
                        <p:par>
                          <p:cTn id="116" fill="hold">
                            <p:stCondLst>
                              <p:cond delay="4180"/>
                            </p:stCondLst>
                            <p:childTnLst>
                              <p:par>
                                <p:cTn id="113" presetID="10" presetClass="entr" presetSubtype="0" fill="hold" grpId="0" nodeType="after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childTnLst>
                          </p:cTn>
                        </p:par>
                        <p:par>
                          <p:cTn id="120" fill="hold">
                            <p:stCondLst>
                              <p:cond delay="4560"/>
                            </p:stCondLst>
                            <p:childTnLst>
                              <p:par>
                                <p:cTn id="117" presetID="10" presetClass="entr" presetSubtype="0"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8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07</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And code quality and security?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And code quality and security?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Scan, fix, rebuild, rescan, until it's clean</a:t>
            </a:r>
            <a:endParaRPr lang="en-US" sz="2800" dirty="0"/>
          </a:p>
        </p:txBody>
      </p:sp>
      <p:sp>
        <p:nvSpPr>
          <p:cNvPr id="5" name="a1f_b_282"/>
          <p:cNvSpPr/>
          <p:nvPr/>
        </p:nvSpPr>
        <p:spPr>
          <a:xfrm>
            <a:off x="548640" y="1691640"/>
            <a:ext cx="3474720" cy="3703320"/>
          </a:xfrm>
          <a:prstGeom prst="roundRect">
            <a:avLst>
              <a:gd name="adj" fmla="val 4737"/>
            </a:avLst>
          </a:prstGeom>
          <a:ln w="9525">
            <a:solidFill>
              <a:schemeClr val="accent3"/>
            </a:solidFill>
            <a:prstDash val="solid"/>
          </a:ln>
        </p:spPr>
      </p:sp>
      <p:sp>
        <p:nvSpPr>
          <p:cNvPr id="6" name="a1f_b_283"/>
          <p:cNvSpPr/>
          <p:nvPr/>
        </p:nvSpPr>
        <p:spPr>
          <a:xfrm>
            <a:off x="1901952" y="1920240"/>
            <a:ext cx="768096" cy="768096"/>
          </a:xfrm>
          <a:prstGeom prst="roundRect">
            <a:avLst>
              <a:gd name="adj" fmla="val 22000"/>
            </a:avLst>
          </a:prstGeom>
          <a:solidFill>
            <a:schemeClr val="bg2"/>
          </a:solidFill>
          <a:ln w="15875">
            <a:solidFill>
              <a:schemeClr val="accent1"/>
            </a:solidFill>
            <a:prstDash val="solid"/>
          </a:ln>
        </p:spPr>
      </p:sp>
      <p:pic>
        <p:nvPicPr>
          <p:cNvPr id="7" name="a1f_i_284" descr="preencoded.png">    </p:cNvPr>
          <p:cNvPicPr>
            <a:picLocks noChangeAspect="1"/>
          </p:cNvPicPr>
          <p:nvPr/>
        </p:nvPicPr>
        <p:blipFill>
          <a:blip r:embed="rId1"/>
          <a:stretch>
            <a:fillRect/>
          </a:stretch>
        </p:blipFill>
        <p:spPr>
          <a:xfrm>
            <a:off x="2086295" y="2104583"/>
            <a:ext cx="399410" cy="399410"/>
          </a:xfrm>
          <a:prstGeom prst="rect">
            <a:avLst/>
          </a:prstGeom>
        </p:spPr>
      </p:pic>
      <p:sp>
        <p:nvSpPr>
          <p:cNvPr id="8" name="a1f_t_285"/>
          <p:cNvSpPr txBox="1"/>
          <p:nvPr/>
        </p:nvSpPr>
        <p:spPr>
          <a:xfrm>
            <a:off x="548640"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SonarQube</a:t>
            </a:r>
            <a:endParaRPr lang="en-US" sz="1800" dirty="0"/>
          </a:p>
        </p:txBody>
      </p:sp>
      <p:sp>
        <p:nvSpPr>
          <p:cNvPr id="9" name="a1f_t_286"/>
          <p:cNvSpPr txBox="1"/>
          <p:nvPr/>
        </p:nvSpPr>
        <p:spPr>
          <a:xfrm>
            <a:off x="548640"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Code quality</a:t>
            </a:r>
            <a:endParaRPr lang="en-US" sz="1200" dirty="0"/>
          </a:p>
        </p:txBody>
      </p:sp>
      <p:sp>
        <p:nvSpPr>
          <p:cNvPr id="10" name="a1f_t_287"/>
          <p:cNvSpPr txBox="1"/>
          <p:nvPr/>
        </p:nvSpPr>
        <p:spPr>
          <a:xfrm>
            <a:off x="548640"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sonar-reporter</a:t>
            </a:r>
            <a:endParaRPr lang="en-US" sz="1300" dirty="0"/>
          </a:p>
        </p:txBody>
      </p:sp>
      <p:pic>
        <p:nvPicPr>
          <p:cNvPr id="11" name="a1f_i_288" descr="/Users/deepakkumar/Documents/Claude projects/the-agentic-delivery-pipeline/pitch/build/assets/loop.gif">    </p:cNvPr>
          <p:cNvPicPr>
            <a:picLocks noChangeAspect="1"/>
          </p:cNvPicPr>
          <p:nvPr/>
        </p:nvPicPr>
        <p:blipFill>
          <a:blip r:embed="rId2"/>
          <a:stretch>
            <a:fillRect/>
          </a:stretch>
        </p:blipFill>
        <p:spPr>
          <a:xfrm>
            <a:off x="1874520" y="3767328"/>
            <a:ext cx="822960" cy="822960"/>
          </a:xfrm>
          <a:prstGeom prst="rect">
            <a:avLst/>
          </a:prstGeom>
        </p:spPr>
      </p:pic>
      <p:sp>
        <p:nvSpPr>
          <p:cNvPr id="12" name="a1f_t_289"/>
          <p:cNvSpPr txBox="1"/>
          <p:nvPr/>
        </p:nvSpPr>
        <p:spPr>
          <a:xfrm>
            <a:off x="731520"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Fetch issues → fix</a:t>
            </a:r>
            <a:endParaRPr lang="en-US" sz="1200" dirty="0"/>
          </a:p>
          <a:p>
            <a:pPr algn="ctr" indent="0" marL="0">
              <a:buNone/>
            </a:pPr>
            <a:r>
              <a:rPr lang="en-US" sz="1200" dirty="0">
                <a:solidFill>
                  <a:schemeClr val="tx2"/>
                </a:solidFill>
              </a:rPr>
              <a:t>→ build → recheck</a:t>
            </a:r>
            <a:endParaRPr lang="en-US" sz="1200" dirty="0"/>
          </a:p>
        </p:txBody>
      </p:sp>
      <p:sp>
        <p:nvSpPr>
          <p:cNvPr id="13" name="a2f_b_290"/>
          <p:cNvSpPr/>
          <p:nvPr/>
        </p:nvSpPr>
        <p:spPr>
          <a:xfrm>
            <a:off x="4361688" y="1691640"/>
            <a:ext cx="3474720" cy="3703320"/>
          </a:xfrm>
          <a:prstGeom prst="roundRect">
            <a:avLst>
              <a:gd name="adj" fmla="val 4737"/>
            </a:avLst>
          </a:prstGeom>
          <a:ln w="9525">
            <a:solidFill>
              <a:schemeClr val="accent3"/>
            </a:solidFill>
            <a:prstDash val="solid"/>
          </a:ln>
        </p:spPr>
      </p:sp>
      <p:sp>
        <p:nvSpPr>
          <p:cNvPr id="14" name="a2f_b_291"/>
          <p:cNvSpPr/>
          <p:nvPr/>
        </p:nvSpPr>
        <p:spPr>
          <a:xfrm>
            <a:off x="5715000" y="1920240"/>
            <a:ext cx="768096" cy="768096"/>
          </a:xfrm>
          <a:prstGeom prst="roundRect">
            <a:avLst>
              <a:gd name="adj" fmla="val 22000"/>
            </a:avLst>
          </a:prstGeom>
          <a:solidFill>
            <a:schemeClr val="bg2"/>
          </a:solidFill>
          <a:ln w="15875">
            <a:solidFill>
              <a:schemeClr val="accent1"/>
            </a:solidFill>
            <a:prstDash val="solid"/>
          </a:ln>
        </p:spPr>
      </p:sp>
      <p:pic>
        <p:nvPicPr>
          <p:cNvPr id="15" name="a2f_i_292" descr="preencoded.png">    </p:cNvPr>
          <p:cNvPicPr>
            <a:picLocks noChangeAspect="1"/>
          </p:cNvPicPr>
          <p:nvPr/>
        </p:nvPicPr>
        <p:blipFill>
          <a:blip r:embed="rId3"/>
          <a:stretch>
            <a:fillRect/>
          </a:stretch>
        </p:blipFill>
        <p:spPr>
          <a:xfrm>
            <a:off x="5899343" y="2104583"/>
            <a:ext cx="399410" cy="399410"/>
          </a:xfrm>
          <a:prstGeom prst="rect">
            <a:avLst/>
          </a:prstGeom>
        </p:spPr>
      </p:pic>
      <p:sp>
        <p:nvSpPr>
          <p:cNvPr id="16" name="a2f_t_293"/>
          <p:cNvSpPr txBox="1"/>
          <p:nvPr/>
        </p:nvSpPr>
        <p:spPr>
          <a:xfrm>
            <a:off x="4361688"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Veracode</a:t>
            </a:r>
            <a:endParaRPr lang="en-US" sz="1800" dirty="0"/>
          </a:p>
        </p:txBody>
      </p:sp>
      <p:sp>
        <p:nvSpPr>
          <p:cNvPr id="17" name="a2f_t_294"/>
          <p:cNvSpPr txBox="1"/>
          <p:nvPr/>
        </p:nvSpPr>
        <p:spPr>
          <a:xfrm>
            <a:off x="4361688"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SAST</a:t>
            </a:r>
            <a:endParaRPr lang="en-US" sz="1200" dirty="0"/>
          </a:p>
        </p:txBody>
      </p:sp>
      <p:sp>
        <p:nvSpPr>
          <p:cNvPr id="18" name="a2f_t_295"/>
          <p:cNvSpPr txBox="1"/>
          <p:nvPr/>
        </p:nvSpPr>
        <p:spPr>
          <a:xfrm>
            <a:off x="4361688"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veracode-analyser</a:t>
            </a:r>
            <a:endParaRPr lang="en-US" sz="1300" dirty="0"/>
          </a:p>
        </p:txBody>
      </p:sp>
      <p:pic>
        <p:nvPicPr>
          <p:cNvPr id="19" name="a2f_i_296" descr="/Users/deepakkumar/Documents/Claude projects/the-agentic-delivery-pipeline/pitch/build/assets/loop.gif">    </p:cNvPr>
          <p:cNvPicPr>
            <a:picLocks noChangeAspect="1"/>
          </p:cNvPicPr>
          <p:nvPr/>
        </p:nvPicPr>
        <p:blipFill>
          <a:blip r:embed="rId4"/>
          <a:stretch>
            <a:fillRect/>
          </a:stretch>
        </p:blipFill>
        <p:spPr>
          <a:xfrm>
            <a:off x="5687568" y="3767328"/>
            <a:ext cx="822960" cy="822960"/>
          </a:xfrm>
          <a:prstGeom prst="rect">
            <a:avLst/>
          </a:prstGeom>
        </p:spPr>
      </p:pic>
      <p:sp>
        <p:nvSpPr>
          <p:cNvPr id="20" name="a2f_t_297"/>
          <p:cNvSpPr txBox="1"/>
          <p:nvPr/>
        </p:nvSpPr>
        <p:spPr>
          <a:xfrm>
            <a:off x="4544568"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Zip → upload → scan</a:t>
            </a:r>
            <a:endParaRPr lang="en-US" sz="1200" dirty="0"/>
          </a:p>
          <a:p>
            <a:pPr algn="ctr" indent="0" marL="0">
              <a:buNone/>
            </a:pPr>
            <a:r>
              <a:rPr lang="en-US" sz="1200" dirty="0">
                <a:solidFill>
                  <a:schemeClr val="tx2"/>
                </a:solidFill>
              </a:rPr>
              <a:t>→ fix → rescan</a:t>
            </a:r>
            <a:endParaRPr lang="en-US" sz="1200" dirty="0"/>
          </a:p>
        </p:txBody>
      </p:sp>
      <p:sp>
        <p:nvSpPr>
          <p:cNvPr id="21" name="a3f_b_298"/>
          <p:cNvSpPr/>
          <p:nvPr/>
        </p:nvSpPr>
        <p:spPr>
          <a:xfrm>
            <a:off x="8174736" y="1691640"/>
            <a:ext cx="3474720" cy="3703320"/>
          </a:xfrm>
          <a:prstGeom prst="roundRect">
            <a:avLst>
              <a:gd name="adj" fmla="val 4737"/>
            </a:avLst>
          </a:prstGeom>
          <a:ln w="9525">
            <a:solidFill>
              <a:schemeClr val="accent3"/>
            </a:solidFill>
            <a:prstDash val="solid"/>
          </a:ln>
        </p:spPr>
      </p:sp>
      <p:sp>
        <p:nvSpPr>
          <p:cNvPr id="22" name="a3f_b_299"/>
          <p:cNvSpPr/>
          <p:nvPr/>
        </p:nvSpPr>
        <p:spPr>
          <a:xfrm>
            <a:off x="9528048" y="1920240"/>
            <a:ext cx="768096" cy="768096"/>
          </a:xfrm>
          <a:prstGeom prst="roundRect">
            <a:avLst>
              <a:gd name="adj" fmla="val 22000"/>
            </a:avLst>
          </a:prstGeom>
          <a:solidFill>
            <a:schemeClr val="bg2"/>
          </a:solidFill>
          <a:ln w="15875">
            <a:solidFill>
              <a:schemeClr val="accent1"/>
            </a:solidFill>
            <a:prstDash val="solid"/>
          </a:ln>
        </p:spPr>
      </p:sp>
      <p:pic>
        <p:nvPicPr>
          <p:cNvPr id="23" name="a3f_i_300" descr="preencoded.png">    </p:cNvPr>
          <p:cNvPicPr>
            <a:picLocks noChangeAspect="1"/>
          </p:cNvPicPr>
          <p:nvPr/>
        </p:nvPicPr>
        <p:blipFill>
          <a:blip r:embed="rId5"/>
          <a:stretch>
            <a:fillRect/>
          </a:stretch>
        </p:blipFill>
        <p:spPr>
          <a:xfrm>
            <a:off x="9712391" y="2104583"/>
            <a:ext cx="399410" cy="399410"/>
          </a:xfrm>
          <a:prstGeom prst="rect">
            <a:avLst/>
          </a:prstGeom>
        </p:spPr>
      </p:pic>
      <p:sp>
        <p:nvSpPr>
          <p:cNvPr id="24" name="a3f_t_301"/>
          <p:cNvSpPr txBox="1"/>
          <p:nvPr/>
        </p:nvSpPr>
        <p:spPr>
          <a:xfrm>
            <a:off x="8174736"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JFrog Xray</a:t>
            </a:r>
            <a:endParaRPr lang="en-US" sz="1800" dirty="0"/>
          </a:p>
        </p:txBody>
      </p:sp>
      <p:sp>
        <p:nvSpPr>
          <p:cNvPr id="25" name="a3f_t_302"/>
          <p:cNvSpPr txBox="1"/>
          <p:nvPr/>
        </p:nvSpPr>
        <p:spPr>
          <a:xfrm>
            <a:off x="8174736"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SCA</a:t>
            </a:r>
            <a:endParaRPr lang="en-US" sz="1200" dirty="0"/>
          </a:p>
        </p:txBody>
      </p:sp>
      <p:sp>
        <p:nvSpPr>
          <p:cNvPr id="26" name="a3f_t_303"/>
          <p:cNvSpPr txBox="1"/>
          <p:nvPr/>
        </p:nvSpPr>
        <p:spPr>
          <a:xfrm>
            <a:off x="8174736"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xray-analyzer</a:t>
            </a:r>
            <a:endParaRPr lang="en-US" sz="1300" dirty="0"/>
          </a:p>
        </p:txBody>
      </p:sp>
      <p:pic>
        <p:nvPicPr>
          <p:cNvPr id="27" name="a3f_i_304" descr="/Users/deepakkumar/Documents/Claude projects/the-agentic-delivery-pipeline/pitch/build/assets/loop.gif">    </p:cNvPr>
          <p:cNvPicPr>
            <a:picLocks noChangeAspect="1"/>
          </p:cNvPicPr>
          <p:nvPr/>
        </p:nvPicPr>
        <p:blipFill>
          <a:blip r:embed="rId6"/>
          <a:stretch>
            <a:fillRect/>
          </a:stretch>
        </p:blipFill>
        <p:spPr>
          <a:xfrm>
            <a:off x="9500616" y="3767328"/>
            <a:ext cx="822960" cy="822960"/>
          </a:xfrm>
          <a:prstGeom prst="rect">
            <a:avLst/>
          </a:prstGeom>
        </p:spPr>
      </p:pic>
      <p:sp>
        <p:nvSpPr>
          <p:cNvPr id="28" name="a3f_t_305"/>
          <p:cNvSpPr txBox="1"/>
          <p:nvPr/>
        </p:nvSpPr>
        <p:spPr>
          <a:xfrm>
            <a:off x="8357616"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Read flaws via in-house MCP</a:t>
            </a:r>
            <a:endParaRPr lang="en-US" sz="1200" dirty="0"/>
          </a:p>
          <a:p>
            <a:pPr algn="ctr" indent="0" marL="0">
              <a:buNone/>
            </a:pPr>
            <a:r>
              <a:rPr lang="en-US" sz="1200" dirty="0">
                <a:solidFill>
                  <a:schemeClr val="tx2"/>
                </a:solidFill>
              </a:rPr>
              <a:t>→ fix → rescan</a:t>
            </a:r>
            <a:endParaRPr lang="en-US" sz="1200" dirty="0"/>
          </a:p>
        </p:txBody>
      </p:sp>
      <p:sp>
        <p:nvSpPr>
          <p:cNvPr id="29" name="a4f_t_306"/>
          <p:cNvSpPr txBox="1"/>
          <p:nvPr/>
        </p:nvSpPr>
        <p:spPr>
          <a:xfrm>
            <a:off x="548640" y="5623560"/>
            <a:ext cx="11091672" cy="502920"/>
          </a:xfrm>
          <a:prstGeom prst="rect">
            <a:avLst/>
          </a:prstGeom>
          <a:noFill/>
          <a:ln/>
        </p:spPr>
        <p:txBody>
          <a:bodyPr wrap="square" lIns="0" tIns="0" rIns="0" bIns="0" rtlCol="0" anchor="t"/>
          <a:lstStyle/>
          <a:p>
            <a:pPr algn="l" indent="0" marL="0">
              <a:buNone/>
            </a:pPr>
            <a:r>
              <a:rPr lang="en-US" sz="2400" b="1" dirty="0">
                <a:solidFill>
                  <a:schemeClr val="accent1"/>
                </a:solidFill>
                <a:latin typeface="Georgia" pitchFamily="34" charset="0"/>
                <a:ea typeface="Georgia" pitchFamily="34" charset="-122"/>
                <a:cs typeface="Georgia" pitchFamily="34" charset="-120"/>
              </a:rPr>
              <a:t>~90% less effort.</a:t>
            </a:r>
            <a:r>
              <a:rPr lang="en-US" sz="2400" dirty="0">
                <a:solidFill>
                  <a:schemeClr val="tx1"/>
                </a:solidFill>
                <a:latin typeface="Georgia" pitchFamily="34" charset="0"/>
                <a:ea typeface="Georgia" pitchFamily="34" charset="-122"/>
                <a:cs typeface="Georgia" pitchFamily="34" charset="-120"/>
              </a:rPr>
              <a:t>  The 10% left is PR review.</a:t>
            </a:r>
            <a:endParaRPr lang="en-US" sz="2400" dirty="0"/>
          </a:p>
        </p:txBody>
      </p:sp>
      <p:sp>
        <p:nvSpPr>
          <p:cNvPr id="3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childTnLst>
                          </p:cTn>
                        </p:par>
                        <p:par>
                          <p:cTn id="52" fill="hold">
                            <p:stCondLst>
                              <p:cond delay="38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1"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0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08</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Two man-months of unit tests?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Two man-months of unit tests?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95% coverage in under two weeks, at a tenth of the cost</a:t>
            </a:r>
            <a:endParaRPr lang="en-US" sz="2800" dirty="0"/>
          </a:p>
        </p:txBody>
      </p:sp>
      <p:sp>
        <p:nvSpPr>
          <p:cNvPr id="5" name="a1f_t_308"/>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TIME</a:t>
            </a:r>
            <a:endParaRPr lang="en-US" sz="1200" dirty="0"/>
          </a:p>
        </p:txBody>
      </p:sp>
      <p:sp>
        <p:nvSpPr>
          <p:cNvPr id="6" name="a1f_t_309"/>
          <p:cNvSpPr txBox="1"/>
          <p:nvPr/>
        </p:nvSpPr>
        <p:spPr>
          <a:xfrm>
            <a:off x="548640" y="2194560"/>
            <a:ext cx="3657600" cy="292608"/>
          </a:xfrm>
          <a:prstGeom prst="rect">
            <a:avLst/>
          </a:prstGeom>
          <a:noFill/>
          <a:ln/>
        </p:spPr>
        <p:txBody>
          <a:bodyPr wrap="square" lIns="0" tIns="0" rIns="0" bIns="0" rtlCol="0" anchor="t"/>
          <a:lstStyle/>
          <a:p>
            <a:pPr algn="l" indent="0" marL="0">
              <a:buNone/>
            </a:pPr>
            <a:r>
              <a:rPr lang="en-US" sz="1500" b="1" dirty="0">
                <a:solidFill>
                  <a:schemeClr val="tx2"/>
                </a:solidFill>
              </a:rPr>
              <a:t>Human only</a:t>
            </a:r>
            <a:endParaRPr lang="en-US" sz="1500" dirty="0"/>
          </a:p>
        </p:txBody>
      </p:sp>
      <p:sp>
        <p:nvSpPr>
          <p:cNvPr id="7" name="a1w_b_310"/>
          <p:cNvSpPr/>
          <p:nvPr/>
        </p:nvSpPr>
        <p:spPr>
          <a:xfrm>
            <a:off x="548640" y="2560320"/>
            <a:ext cx="5852160" cy="548640"/>
          </a:xfrm>
          <a:prstGeom prst="rect">
            <a:avLst/>
          </a:prstGeom>
          <a:solidFill>
            <a:schemeClr val="accent4"/>
          </a:solidFill>
          <a:ln/>
        </p:spPr>
      </p:sp>
      <p:sp>
        <p:nvSpPr>
          <p:cNvPr id="8" name="a1w_t_311"/>
          <p:cNvSpPr txBox="1"/>
          <p:nvPr/>
        </p:nvSpPr>
        <p:spPr>
          <a:xfrm>
            <a:off x="731520" y="2560320"/>
            <a:ext cx="5486400" cy="548640"/>
          </a:xfrm>
          <a:prstGeom prst="rect">
            <a:avLst/>
          </a:prstGeom>
          <a:noFill/>
          <a:ln/>
        </p:spPr>
        <p:txBody>
          <a:bodyPr wrap="square" lIns="0" tIns="0" rIns="0" bIns="0" rtlCol="0" anchor="ctr"/>
          <a:lstStyle/>
          <a:p>
            <a:pPr algn="l" indent="0" marL="0">
              <a:buNone/>
            </a:pPr>
            <a:r>
              <a:rPr lang="en-US" sz="1400" b="1" dirty="0">
                <a:solidFill>
                  <a:schemeClr val="tx1"/>
                </a:solidFill>
              </a:rPr>
              <a:t>8 weeks  ·  2 man-months</a:t>
            </a:r>
            <a:endParaRPr lang="en-US" sz="1400" dirty="0"/>
          </a:p>
        </p:txBody>
      </p:sp>
      <p:sp>
        <p:nvSpPr>
          <p:cNvPr id="9" name="a2f_t_312"/>
          <p:cNvSpPr txBox="1"/>
          <p:nvPr/>
        </p:nvSpPr>
        <p:spPr>
          <a:xfrm>
            <a:off x="548640" y="3429000"/>
            <a:ext cx="3657600" cy="292608"/>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code-coverage-agent</a:t>
            </a:r>
            <a:endParaRPr lang="en-US" sz="1500" dirty="0"/>
          </a:p>
        </p:txBody>
      </p:sp>
      <p:sp>
        <p:nvSpPr>
          <p:cNvPr id="10" name="a2w_b_313"/>
          <p:cNvSpPr/>
          <p:nvPr/>
        </p:nvSpPr>
        <p:spPr>
          <a:xfrm>
            <a:off x="548640" y="3794760"/>
            <a:ext cx="1417320" cy="548640"/>
          </a:xfrm>
          <a:prstGeom prst="rect">
            <a:avLst/>
          </a:prstGeom>
          <a:solidFill>
            <a:schemeClr val="accent1"/>
          </a:solidFill>
          <a:ln/>
        </p:spPr>
      </p:sp>
      <p:sp>
        <p:nvSpPr>
          <p:cNvPr id="11" name="a3f_t_314"/>
          <p:cNvSpPr txBox="1"/>
          <p:nvPr/>
        </p:nvSpPr>
        <p:spPr>
          <a:xfrm>
            <a:off x="2103120" y="3794760"/>
            <a:ext cx="2286000" cy="548640"/>
          </a:xfrm>
          <a:prstGeom prst="rect">
            <a:avLst/>
          </a:prstGeom>
          <a:noFill/>
          <a:ln/>
        </p:spPr>
        <p:txBody>
          <a:bodyPr wrap="square" lIns="0" tIns="0" rIns="0" bIns="0" rtlCol="0" anchor="ctr"/>
          <a:lstStyle/>
          <a:p>
            <a:pPr algn="l" indent="0" marL="0">
              <a:buNone/>
            </a:pPr>
            <a:r>
              <a:rPr lang="en-US" sz="1800" b="1" dirty="0">
                <a:solidFill>
                  <a:schemeClr val="accent1"/>
                </a:solidFill>
              </a:rPr>
              <a:t>&lt; 2 weeks</a:t>
            </a:r>
            <a:endParaRPr lang="en-US" sz="1800" dirty="0"/>
          </a:p>
        </p:txBody>
      </p:sp>
      <p:pic>
        <p:nvPicPr>
          <p:cNvPr id="12" name="a3f_i_315" descr="/Users/deepakkumar/Documents/Claude projects/the-agentic-delivery-pipeline/pitch/build/assets/loop.gif">    </p:cNvPr>
          <p:cNvPicPr>
            <a:picLocks noChangeAspect="1"/>
          </p:cNvPicPr>
          <p:nvPr/>
        </p:nvPicPr>
        <p:blipFill>
          <a:blip r:embed="rId1"/>
          <a:stretch>
            <a:fillRect/>
          </a:stretch>
        </p:blipFill>
        <p:spPr>
          <a:xfrm>
            <a:off x="548640" y="4754880"/>
            <a:ext cx="777240" cy="777240"/>
          </a:xfrm>
          <a:prstGeom prst="rect">
            <a:avLst/>
          </a:prstGeom>
        </p:spPr>
      </p:pic>
      <p:sp>
        <p:nvSpPr>
          <p:cNvPr id="13" name="a3f_t_316"/>
          <p:cNvSpPr txBox="1"/>
          <p:nvPr/>
        </p:nvSpPr>
        <p:spPr>
          <a:xfrm>
            <a:off x="1508760" y="4846320"/>
            <a:ext cx="4754880" cy="640080"/>
          </a:xfrm>
          <a:prstGeom prst="rect">
            <a:avLst/>
          </a:prstGeom>
          <a:noFill/>
          <a:ln/>
        </p:spPr>
        <p:txBody>
          <a:bodyPr wrap="square" lIns="0" tIns="0" rIns="0" bIns="0" rtlCol="0" anchor="t"/>
          <a:lstStyle/>
          <a:p>
            <a:pPr algn="l" indent="0" marL="0">
              <a:buNone/>
            </a:pPr>
            <a:r>
              <a:rPr lang="en-US" sz="1400" dirty="0">
                <a:solidFill>
                  <a:schemeClr val="tx2"/>
                </a:solidFill>
              </a:rPr>
              <a:t>Writes tests, measures coverage,</a:t>
            </a:r>
            <a:endParaRPr lang="en-US" sz="1400" dirty="0"/>
          </a:p>
          <a:p>
            <a:pPr algn="l" indent="0" marL="0">
              <a:buNone/>
            </a:pPr>
            <a:r>
              <a:rPr lang="en-US" sz="1400" dirty="0">
                <a:solidFill>
                  <a:schemeClr val="tx2"/>
                </a:solidFill>
              </a:rPr>
              <a:t>repeats until it reaches 95%</a:t>
            </a:r>
            <a:endParaRPr lang="en-US" sz="1400" dirty="0"/>
          </a:p>
        </p:txBody>
      </p:sp>
      <p:sp>
        <p:nvSpPr>
          <p:cNvPr id="14" name="a4f_b_317"/>
          <p:cNvSpPr/>
          <p:nvPr/>
        </p:nvSpPr>
        <p:spPr>
          <a:xfrm>
            <a:off x="6949440" y="1737360"/>
            <a:ext cx="4690872" cy="4206240"/>
          </a:xfrm>
          <a:prstGeom prst="roundRect">
            <a:avLst>
              <a:gd name="adj" fmla="val 3913"/>
            </a:avLst>
          </a:prstGeom>
          <a:solidFill>
            <a:schemeClr val="bg2"/>
          </a:solidFill>
          <a:ln w="9525">
            <a:solidFill>
              <a:schemeClr val="accent3"/>
            </a:solidFill>
            <a:prstDash val="solid"/>
          </a:ln>
        </p:spPr>
      </p:sp>
      <p:sp>
        <p:nvSpPr>
          <p:cNvPr id="15" name="a4f_t_318"/>
          <p:cNvSpPr txBox="1"/>
          <p:nvPr/>
        </p:nvSpPr>
        <p:spPr>
          <a:xfrm>
            <a:off x="7315200" y="19659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COST</a:t>
            </a:r>
            <a:endParaRPr lang="en-US" sz="1200" dirty="0"/>
          </a:p>
        </p:txBody>
      </p:sp>
      <p:sp>
        <p:nvSpPr>
          <p:cNvPr id="16" name="a5f_t_319"/>
          <p:cNvSpPr txBox="1"/>
          <p:nvPr/>
        </p:nvSpPr>
        <p:spPr>
          <a:xfrm>
            <a:off x="7315200" y="2286000"/>
            <a:ext cx="4023360" cy="777240"/>
          </a:xfrm>
          <a:prstGeom prst="rect">
            <a:avLst/>
          </a:prstGeom>
          <a:noFill/>
          <a:ln/>
        </p:spPr>
        <p:txBody>
          <a:bodyPr wrap="square" lIns="0" tIns="0" rIns="0" bIns="0" rtlCol="0" anchor="t"/>
          <a:lstStyle/>
          <a:p>
            <a:pPr algn="l" indent="0" marL="0">
              <a:buNone/>
            </a:pPr>
            <a:r>
              <a:rPr lang="en-US" sz="4400" b="1" strike="sngStrike" dirty="0">
                <a:solidFill>
                  <a:schemeClr val="tx2"/>
                </a:solidFill>
                <a:latin typeface="Georgia" pitchFamily="34" charset="0"/>
                <a:ea typeface="Georgia" pitchFamily="34" charset="-122"/>
                <a:cs typeface="Georgia" pitchFamily="34" charset="-120"/>
              </a:rPr>
              <a:t>$11,200</a:t>
            </a:r>
            <a:endParaRPr lang="en-US" sz="4400" dirty="0"/>
          </a:p>
        </p:txBody>
      </p:sp>
      <p:sp>
        <p:nvSpPr>
          <p:cNvPr id="17" name="a5f_t_320"/>
          <p:cNvSpPr txBox="1"/>
          <p:nvPr/>
        </p:nvSpPr>
        <p:spPr>
          <a:xfrm>
            <a:off x="7315200" y="30632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people: $35/hr × 8 hrs × 5 days × 8 weeks</a:t>
            </a:r>
            <a:endParaRPr lang="en-US" sz="1200" dirty="0"/>
          </a:p>
        </p:txBody>
      </p:sp>
      <p:sp>
        <p:nvSpPr>
          <p:cNvPr id="18" name="a6f_t_321"/>
          <p:cNvSpPr txBox="1"/>
          <p:nvPr/>
        </p:nvSpPr>
        <p:spPr>
          <a:xfrm>
            <a:off x="7315200" y="3520440"/>
            <a:ext cx="4023360" cy="914400"/>
          </a:xfrm>
          <a:prstGeom prst="rect">
            <a:avLst/>
          </a:prstGeom>
          <a:noFill/>
          <a:ln/>
        </p:spPr>
        <p:txBody>
          <a:bodyPr wrap="square" lIns="0" tIns="0" rIns="0" bIns="0" rtlCol="0" anchor="t"/>
          <a:lstStyle/>
          <a:p>
            <a:pPr algn="l" indent="0" marL="0">
              <a:buNone/>
            </a:pPr>
            <a:r>
              <a:rPr lang="en-US" sz="5400" b="1" dirty="0">
                <a:solidFill>
                  <a:schemeClr val="accent1"/>
                </a:solidFill>
                <a:latin typeface="Georgia" pitchFamily="34" charset="0"/>
                <a:ea typeface="Georgia" pitchFamily="34" charset="-122"/>
                <a:cs typeface="Georgia" pitchFamily="34" charset="-120"/>
              </a:rPr>
              <a:t>~$1,120</a:t>
            </a:r>
            <a:endParaRPr lang="en-US" sz="5400" dirty="0"/>
          </a:p>
        </p:txBody>
      </p:sp>
      <p:sp>
        <p:nvSpPr>
          <p:cNvPr id="19" name="a6f_t_322"/>
          <p:cNvSpPr txBox="1"/>
          <p:nvPr/>
        </p:nvSpPr>
        <p:spPr>
          <a:xfrm>
            <a:off x="7315200" y="44348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AI credits on GitHub Copilot, or less</a:t>
            </a:r>
            <a:endParaRPr lang="en-US" sz="1200" dirty="0"/>
          </a:p>
        </p:txBody>
      </p:sp>
      <p:sp>
        <p:nvSpPr>
          <p:cNvPr id="20" name="a7f_b_323"/>
          <p:cNvSpPr/>
          <p:nvPr/>
        </p:nvSpPr>
        <p:spPr>
          <a:xfrm>
            <a:off x="7315200" y="4983480"/>
            <a:ext cx="2194560" cy="548640"/>
          </a:xfrm>
          <a:prstGeom prst="roundRect">
            <a:avLst>
              <a:gd name="adj" fmla="val 50000"/>
            </a:avLst>
          </a:prstGeom>
          <a:solidFill>
            <a:schemeClr val="accent1"/>
          </a:solidFill>
          <a:ln/>
        </p:spPr>
      </p:sp>
      <p:sp>
        <p:nvSpPr>
          <p:cNvPr id="21" name="a7f_t_324"/>
          <p:cNvSpPr txBox="1"/>
          <p:nvPr/>
        </p:nvSpPr>
        <p:spPr>
          <a:xfrm>
            <a:off x="7315200" y="4983480"/>
            <a:ext cx="2194560" cy="548640"/>
          </a:xfrm>
          <a:prstGeom prst="rect">
            <a:avLst/>
          </a:prstGeom>
          <a:noFill/>
          <a:ln/>
        </p:spPr>
        <p:txBody>
          <a:bodyPr wrap="square" lIns="0" tIns="0" rIns="0" bIns="0" rtlCol="0" anchor="ctr"/>
          <a:lstStyle/>
          <a:p>
            <a:pPr algn="ctr" indent="0" marL="0">
              <a:buNone/>
            </a:pPr>
            <a:r>
              <a:rPr lang="en-US" sz="1800" b="1" dirty="0">
                <a:solidFill>
                  <a:schemeClr val="bg1"/>
                </a:solidFill>
              </a:rPr>
              <a:t>10× cheaper</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2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6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600"/>
                                        <p:tgtEl>
                                          <p:spTgt spid="8"/>
                                        </p:tgtEl>
                                      </p:cBhvr>
                                    </p:animEffect>
                                  </p:childTnLst>
                                </p:cTn>
                              </p:par>
                            </p:childTnLst>
                          </p:cTn>
                        </p:par>
                        <p:par>
                          <p:cTn id="22"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600"/>
                                        <p:tgtEl>
                                          <p:spTgt spid="10"/>
                                        </p:tgtEl>
                                      </p:cBhvr>
                                    </p:animEffect>
                                  </p:childTnLst>
                                </p:cTn>
                              </p:par>
                            </p:childTnLst>
                          </p:cTn>
                        </p:par>
                        <p:par>
                          <p:cTn id="32" fill="hold">
                            <p:stCondLst>
                              <p:cond delay="76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9"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46" fill="hold">
                            <p:stCondLst>
                              <p:cond delay="1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53" fill="hold">
                            <p:stCondLst>
                              <p:cond delay="1900"/>
                            </p:stCondLst>
                            <p:childTnLst>
                              <p:par>
                                <p:cTn id="47" presetID="10"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par>
                          <p:cTn id="60" fill="hold">
                            <p:stCondLst>
                              <p:cond delay="228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2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09</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So what does the developer do now?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So what does the developer do now?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Developers move from writing code to reviewing it</a:t>
            </a:r>
            <a:endParaRPr lang="en-US" sz="2800" dirty="0"/>
          </a:p>
        </p:txBody>
      </p:sp>
      <p:pic>
        <p:nvPicPr>
          <p:cNvPr id="5" name="a1f_i_326" descr="/Users/deepakkumar/Documents/Claude projects/the-agentic-delivery-pipeline/pitch/build/assets/donut.png">    </p:cNvPr>
          <p:cNvPicPr>
            <a:picLocks noChangeAspect="1"/>
          </p:cNvPicPr>
          <p:nvPr/>
        </p:nvPicPr>
        <p:blipFill>
          <a:blip r:embed="rId1"/>
          <a:stretch>
            <a:fillRect/>
          </a:stretch>
        </p:blipFill>
        <p:spPr>
          <a:xfrm>
            <a:off x="777240" y="1783080"/>
            <a:ext cx="3840480" cy="3840480"/>
          </a:xfrm>
          <a:prstGeom prst="rect">
            <a:avLst/>
          </a:prstGeom>
        </p:spPr>
      </p:pic>
      <p:sp>
        <p:nvSpPr>
          <p:cNvPr id="6" name="a1f_t_327"/>
          <p:cNvSpPr txBox="1"/>
          <p:nvPr/>
        </p:nvSpPr>
        <p:spPr>
          <a:xfrm>
            <a:off x="548640" y="5760720"/>
            <a:ext cx="4297680" cy="274320"/>
          </a:xfrm>
          <a:prstGeom prst="rect">
            <a:avLst/>
          </a:prstGeom>
          <a:noFill/>
          <a:ln/>
        </p:spPr>
        <p:txBody>
          <a:bodyPr wrap="square" lIns="0" tIns="0" rIns="0" bIns="0" rtlCol="0" anchor="t"/>
          <a:lstStyle/>
          <a:p>
            <a:pPr algn="ctr" indent="0" marL="0">
              <a:buNone/>
            </a:pPr>
            <a:r>
              <a:rPr lang="en-US" sz="1100" dirty="0">
                <a:solidFill>
                  <a:schemeClr val="accent1"/>
                </a:solidFill>
              </a:rPr>
              <a:t>■ </a:t>
            </a:r>
            <a:r>
              <a:rPr lang="en-US" sz="1100" dirty="0">
                <a:solidFill>
                  <a:schemeClr val="tx2"/>
                </a:solidFill>
              </a:rPr>
              <a:t>agents 90%      </a:t>
            </a:r>
            <a:r>
              <a:rPr lang="en-US" sz="1100" dirty="0">
                <a:solidFill>
                  <a:schemeClr val="tx1"/>
                </a:solidFill>
              </a:rPr>
              <a:t>■ </a:t>
            </a:r>
            <a:r>
              <a:rPr lang="en-US" sz="1100" dirty="0">
                <a:solidFill>
                  <a:schemeClr val="tx2"/>
                </a:solidFill>
              </a:rPr>
              <a:t>developer 10%</a:t>
            </a:r>
            <a:endParaRPr lang="en-US" sz="1100" dirty="0"/>
          </a:p>
        </p:txBody>
      </p:sp>
      <p:sp>
        <p:nvSpPr>
          <p:cNvPr id="7" name="a1f_t_328"/>
          <p:cNvSpPr txBox="1"/>
          <p:nvPr/>
        </p:nvSpPr>
        <p:spPr>
          <a:xfrm>
            <a:off x="548640" y="3337560"/>
            <a:ext cx="4297680" cy="731520"/>
          </a:xfrm>
          <a:prstGeom prst="rect">
            <a:avLst/>
          </a:prstGeom>
          <a:noFill/>
          <a:ln/>
        </p:spPr>
        <p:txBody>
          <a:bodyPr wrap="square" lIns="0" tIns="0" rIns="0" bIns="0" rtlCol="0" anchor="t"/>
          <a:lstStyle/>
          <a:p>
            <a:pPr algn="ctr" indent="0" marL="0">
              <a:buNone/>
            </a:pPr>
            <a:r>
              <a:rPr lang="en-US" sz="4000" b="1" dirty="0">
                <a:solidFill>
                  <a:schemeClr val="tx1"/>
                </a:solidFill>
                <a:latin typeface="Georgia" pitchFamily="34" charset="0"/>
                <a:ea typeface="Georgia" pitchFamily="34" charset="-122"/>
                <a:cs typeface="Georgia" pitchFamily="34" charset="-120"/>
              </a:rPr>
              <a:t>~10%</a:t>
            </a:r>
            <a:endParaRPr lang="en-US" sz="4000" dirty="0"/>
          </a:p>
        </p:txBody>
      </p:sp>
      <p:sp>
        <p:nvSpPr>
          <p:cNvPr id="8" name="a1f_t_329"/>
          <p:cNvSpPr txBox="1"/>
          <p:nvPr/>
        </p:nvSpPr>
        <p:spPr>
          <a:xfrm>
            <a:off x="548640" y="4023360"/>
            <a:ext cx="4297680" cy="548640"/>
          </a:xfrm>
          <a:prstGeom prst="rect">
            <a:avLst/>
          </a:prstGeom>
          <a:noFill/>
          <a:ln/>
        </p:spPr>
        <p:txBody>
          <a:bodyPr wrap="square" lIns="0" tIns="0" rIns="0" bIns="0" rtlCol="0" anchor="t"/>
          <a:lstStyle/>
          <a:p>
            <a:pPr algn="ctr" indent="0" marL="0">
              <a:buNone/>
            </a:pPr>
            <a:r>
              <a:rPr lang="en-US" sz="1300" dirty="0">
                <a:solidFill>
                  <a:schemeClr val="tx2"/>
                </a:solidFill>
              </a:rPr>
              <a:t>left for the developer:</a:t>
            </a:r>
            <a:endParaRPr lang="en-US" sz="1300" dirty="0"/>
          </a:p>
          <a:p>
            <a:pPr algn="ctr" indent="0" marL="0">
              <a:buNone/>
            </a:pPr>
            <a:r>
              <a:rPr lang="en-US" sz="1300" dirty="0">
                <a:solidFill>
                  <a:schemeClr val="tx2"/>
                </a:solidFill>
              </a:rPr>
              <a:t>PR review</a:t>
            </a:r>
            <a:endParaRPr lang="en-US" sz="1300" dirty="0"/>
          </a:p>
        </p:txBody>
      </p:sp>
      <p:sp>
        <p:nvSpPr>
          <p:cNvPr id="9" name="a2f_t_330"/>
          <p:cNvSpPr txBox="1"/>
          <p:nvPr/>
        </p:nvSpPr>
        <p:spPr>
          <a:xfrm>
            <a:off x="548640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10" name="a3f_t_331"/>
          <p:cNvSpPr txBox="1"/>
          <p:nvPr/>
        </p:nvSpPr>
        <p:spPr>
          <a:xfrm>
            <a:off x="873252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11" name="a2f_b_332"/>
          <p:cNvSpPr/>
          <p:nvPr/>
        </p:nvSpPr>
        <p:spPr>
          <a:xfrm>
            <a:off x="5486400" y="2240280"/>
            <a:ext cx="2926080" cy="566928"/>
          </a:xfrm>
          <a:prstGeom prst="roundRect">
            <a:avLst>
              <a:gd name="adj" fmla="val 19355"/>
            </a:avLst>
          </a:prstGeom>
          <a:solidFill>
            <a:schemeClr val="bg2"/>
          </a:solidFill>
          <a:ln/>
        </p:spPr>
      </p:sp>
      <p:sp>
        <p:nvSpPr>
          <p:cNvPr id="12" name="a2f_t_333"/>
          <p:cNvSpPr txBox="1"/>
          <p:nvPr/>
        </p:nvSpPr>
        <p:spPr>
          <a:xfrm>
            <a:off x="5669280" y="224028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code</a:t>
            </a:r>
            <a:endParaRPr lang="en-US" sz="1400" dirty="0"/>
          </a:p>
        </p:txBody>
      </p:sp>
      <p:sp>
        <p:nvSpPr>
          <p:cNvPr id="13" name="a2f_b_334"/>
          <p:cNvSpPr/>
          <p:nvPr/>
        </p:nvSpPr>
        <p:spPr>
          <a:xfrm>
            <a:off x="5486400" y="2971800"/>
            <a:ext cx="2926080" cy="566928"/>
          </a:xfrm>
          <a:prstGeom prst="roundRect">
            <a:avLst>
              <a:gd name="adj" fmla="val 19355"/>
            </a:avLst>
          </a:prstGeom>
          <a:solidFill>
            <a:schemeClr val="bg2"/>
          </a:solidFill>
          <a:ln/>
        </p:spPr>
      </p:sp>
      <p:sp>
        <p:nvSpPr>
          <p:cNvPr id="14" name="a2f_t_335"/>
          <p:cNvSpPr txBox="1"/>
          <p:nvPr/>
        </p:nvSpPr>
        <p:spPr>
          <a:xfrm>
            <a:off x="5669280" y="297180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tests</a:t>
            </a:r>
            <a:endParaRPr lang="en-US" sz="1400" dirty="0"/>
          </a:p>
        </p:txBody>
      </p:sp>
      <p:sp>
        <p:nvSpPr>
          <p:cNvPr id="15" name="a2f_b_336"/>
          <p:cNvSpPr/>
          <p:nvPr/>
        </p:nvSpPr>
        <p:spPr>
          <a:xfrm>
            <a:off x="5486400" y="3703320"/>
            <a:ext cx="2926080" cy="566928"/>
          </a:xfrm>
          <a:prstGeom prst="roundRect">
            <a:avLst>
              <a:gd name="adj" fmla="val 19355"/>
            </a:avLst>
          </a:prstGeom>
          <a:solidFill>
            <a:schemeClr val="bg2"/>
          </a:solidFill>
          <a:ln/>
        </p:spPr>
      </p:sp>
      <p:sp>
        <p:nvSpPr>
          <p:cNvPr id="16" name="a2f_t_337"/>
          <p:cNvSpPr txBox="1"/>
          <p:nvPr/>
        </p:nvSpPr>
        <p:spPr>
          <a:xfrm>
            <a:off x="5669280" y="370332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Fixes scan findings</a:t>
            </a:r>
            <a:endParaRPr lang="en-US" sz="1400" dirty="0"/>
          </a:p>
        </p:txBody>
      </p:sp>
      <p:sp>
        <p:nvSpPr>
          <p:cNvPr id="17" name="a2f_b_338"/>
          <p:cNvSpPr/>
          <p:nvPr/>
        </p:nvSpPr>
        <p:spPr>
          <a:xfrm>
            <a:off x="5486400" y="4434840"/>
            <a:ext cx="2926080" cy="566928"/>
          </a:xfrm>
          <a:prstGeom prst="roundRect">
            <a:avLst>
              <a:gd name="adj" fmla="val 19355"/>
            </a:avLst>
          </a:prstGeom>
          <a:solidFill>
            <a:schemeClr val="bg2"/>
          </a:solidFill>
          <a:ln/>
        </p:spPr>
      </p:sp>
      <p:sp>
        <p:nvSpPr>
          <p:cNvPr id="18" name="a2f_t_339"/>
          <p:cNvSpPr txBox="1"/>
          <p:nvPr/>
        </p:nvSpPr>
        <p:spPr>
          <a:xfrm>
            <a:off x="5669280" y="443484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Debugs broken builds</a:t>
            </a:r>
            <a:endParaRPr lang="en-US" sz="1400" dirty="0"/>
          </a:p>
        </p:txBody>
      </p:sp>
      <p:sp>
        <p:nvSpPr>
          <p:cNvPr id="19" name="a3f_b_340"/>
          <p:cNvSpPr/>
          <p:nvPr/>
        </p:nvSpPr>
        <p:spPr>
          <a:xfrm>
            <a:off x="8732520" y="2240280"/>
            <a:ext cx="2907792" cy="566928"/>
          </a:xfrm>
          <a:prstGeom prst="roundRect">
            <a:avLst>
              <a:gd name="adj" fmla="val 19355"/>
            </a:avLst>
          </a:prstGeom>
          <a:solidFill>
            <a:schemeClr val="bg2"/>
          </a:solidFill>
          <a:ln w="9525">
            <a:solidFill>
              <a:schemeClr val="accent3"/>
            </a:solidFill>
            <a:prstDash val="solid"/>
          </a:ln>
        </p:spPr>
      </p:sp>
      <p:sp>
        <p:nvSpPr>
          <p:cNvPr id="20" name="a3f_b_341"/>
          <p:cNvSpPr/>
          <p:nvPr/>
        </p:nvSpPr>
        <p:spPr>
          <a:xfrm>
            <a:off x="8915400" y="2331720"/>
            <a:ext cx="384048" cy="384048"/>
          </a:xfrm>
          <a:prstGeom prst="ellipse">
            <a:avLst/>
          </a:prstGeom>
          <a:solidFill>
            <a:schemeClr val="accent1">
              <a:alpha val="20000"/>
            </a:schemeClr>
          </a:solidFill>
          <a:ln/>
        </p:spPr>
      </p:sp>
      <p:pic>
        <p:nvPicPr>
          <p:cNvPr id="21" name="a3f_i_342" descr="preencoded.png">    </p:cNvPr>
          <p:cNvPicPr>
            <a:picLocks noChangeAspect="1"/>
          </p:cNvPicPr>
          <p:nvPr/>
        </p:nvPicPr>
        <p:blipFill>
          <a:blip r:embed="rId2"/>
          <a:stretch>
            <a:fillRect/>
          </a:stretch>
        </p:blipFill>
        <p:spPr>
          <a:xfrm>
            <a:off x="9011412" y="2427732"/>
            <a:ext cx="192024" cy="192024"/>
          </a:xfrm>
          <a:prstGeom prst="rect">
            <a:avLst/>
          </a:prstGeom>
        </p:spPr>
      </p:pic>
      <p:sp>
        <p:nvSpPr>
          <p:cNvPr id="22" name="a3f_t_343"/>
          <p:cNvSpPr txBox="1"/>
          <p:nvPr/>
        </p:nvSpPr>
        <p:spPr>
          <a:xfrm>
            <a:off x="9528048" y="224028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Reviews the PR</a:t>
            </a:r>
            <a:endParaRPr lang="en-US" sz="1300" dirty="0"/>
          </a:p>
        </p:txBody>
      </p:sp>
      <p:sp>
        <p:nvSpPr>
          <p:cNvPr id="23" name="a4f_b_344"/>
          <p:cNvSpPr/>
          <p:nvPr/>
        </p:nvSpPr>
        <p:spPr>
          <a:xfrm>
            <a:off x="8732520" y="2971800"/>
            <a:ext cx="2907792" cy="566928"/>
          </a:xfrm>
          <a:prstGeom prst="roundRect">
            <a:avLst>
              <a:gd name="adj" fmla="val 19355"/>
            </a:avLst>
          </a:prstGeom>
          <a:solidFill>
            <a:schemeClr val="bg2"/>
          </a:solidFill>
          <a:ln w="9525">
            <a:solidFill>
              <a:schemeClr val="accent3"/>
            </a:solidFill>
            <a:prstDash val="solid"/>
          </a:ln>
        </p:spPr>
      </p:sp>
      <p:sp>
        <p:nvSpPr>
          <p:cNvPr id="24" name="a4f_b_345"/>
          <p:cNvSpPr/>
          <p:nvPr/>
        </p:nvSpPr>
        <p:spPr>
          <a:xfrm>
            <a:off x="8915400" y="3063240"/>
            <a:ext cx="384048" cy="384048"/>
          </a:xfrm>
          <a:prstGeom prst="ellipse">
            <a:avLst/>
          </a:prstGeom>
          <a:solidFill>
            <a:schemeClr val="accent1">
              <a:alpha val="20000"/>
            </a:schemeClr>
          </a:solidFill>
          <a:ln/>
        </p:spPr>
      </p:sp>
      <p:pic>
        <p:nvPicPr>
          <p:cNvPr id="25" name="a4f_i_346" descr="preencoded.png">    </p:cNvPr>
          <p:cNvPicPr>
            <a:picLocks noChangeAspect="1"/>
          </p:cNvPicPr>
          <p:nvPr/>
        </p:nvPicPr>
        <p:blipFill>
          <a:blip r:embed="rId3"/>
          <a:stretch>
            <a:fillRect/>
          </a:stretch>
        </p:blipFill>
        <p:spPr>
          <a:xfrm>
            <a:off x="9011412" y="3159252"/>
            <a:ext cx="192024" cy="192024"/>
          </a:xfrm>
          <a:prstGeom prst="rect">
            <a:avLst/>
          </a:prstGeom>
        </p:spPr>
      </p:pic>
      <p:sp>
        <p:nvSpPr>
          <p:cNvPr id="26" name="a4f_t_347"/>
          <p:cNvSpPr txBox="1"/>
          <p:nvPr/>
        </p:nvSpPr>
        <p:spPr>
          <a:xfrm>
            <a:off x="9528048" y="297180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Makes the calls</a:t>
            </a:r>
            <a:endParaRPr lang="en-US" sz="1300" dirty="0"/>
          </a:p>
        </p:txBody>
      </p:sp>
      <p:sp>
        <p:nvSpPr>
          <p:cNvPr id="27" name="a5f_b_348"/>
          <p:cNvSpPr/>
          <p:nvPr/>
        </p:nvSpPr>
        <p:spPr>
          <a:xfrm>
            <a:off x="8732520" y="3703320"/>
            <a:ext cx="2907792" cy="566928"/>
          </a:xfrm>
          <a:prstGeom prst="roundRect">
            <a:avLst>
              <a:gd name="adj" fmla="val 19355"/>
            </a:avLst>
          </a:prstGeom>
          <a:solidFill>
            <a:schemeClr val="bg2"/>
          </a:solidFill>
          <a:ln w="9525">
            <a:solidFill>
              <a:schemeClr val="accent3"/>
            </a:solidFill>
            <a:prstDash val="solid"/>
          </a:ln>
        </p:spPr>
      </p:sp>
      <p:sp>
        <p:nvSpPr>
          <p:cNvPr id="28" name="a5f_b_349"/>
          <p:cNvSpPr/>
          <p:nvPr/>
        </p:nvSpPr>
        <p:spPr>
          <a:xfrm>
            <a:off x="8915400" y="3794760"/>
            <a:ext cx="384048" cy="384048"/>
          </a:xfrm>
          <a:prstGeom prst="ellipse">
            <a:avLst/>
          </a:prstGeom>
          <a:solidFill>
            <a:schemeClr val="accent1">
              <a:alpha val="20000"/>
            </a:schemeClr>
          </a:solidFill>
          <a:ln/>
        </p:spPr>
      </p:sp>
      <p:pic>
        <p:nvPicPr>
          <p:cNvPr id="29" name="a5f_i_350" descr="preencoded.png">    </p:cNvPr>
          <p:cNvPicPr>
            <a:picLocks noChangeAspect="1"/>
          </p:cNvPicPr>
          <p:nvPr/>
        </p:nvPicPr>
        <p:blipFill>
          <a:blip r:embed="rId4"/>
          <a:stretch>
            <a:fillRect/>
          </a:stretch>
        </p:blipFill>
        <p:spPr>
          <a:xfrm>
            <a:off x="9011412" y="3890772"/>
            <a:ext cx="192024" cy="192024"/>
          </a:xfrm>
          <a:prstGeom prst="rect">
            <a:avLst/>
          </a:prstGeom>
        </p:spPr>
      </p:pic>
      <p:sp>
        <p:nvSpPr>
          <p:cNvPr id="30" name="a5f_t_351"/>
          <p:cNvSpPr txBox="1"/>
          <p:nvPr/>
        </p:nvSpPr>
        <p:spPr>
          <a:xfrm>
            <a:off x="9528048" y="370332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Owns quality</a:t>
            </a:r>
            <a:endParaRPr lang="en-US" sz="1300" dirty="0"/>
          </a:p>
        </p:txBody>
      </p:sp>
      <p:sp>
        <p:nvSpPr>
          <p:cNvPr id="31" name="a3f_l_352"/>
          <p:cNvSpPr/>
          <p:nvPr/>
        </p:nvSpPr>
        <p:spPr>
          <a:xfrm>
            <a:off x="8458200" y="3337560"/>
            <a:ext cx="228600" cy="914"/>
          </a:xfrm>
          <a:prstGeom prst="line">
            <a:avLst/>
          </a:prstGeom>
          <a:noFill/>
          <a:ln w="15875">
            <a:solidFill>
              <a:schemeClr val="accent1"/>
            </a:solidFill>
            <a:prstDash val="solid"/>
            <a:tailEnd type="triangle"/>
          </a:ln>
        </p:spPr>
      </p:sp>
      <p:sp>
        <p:nvSpPr>
          <p:cNvPr id="32"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43"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par>
                          <p:cTn id="62" fill="hold">
                            <p:stCondLst>
                              <p:cond delay="760"/>
                            </p:stCondLst>
                            <p:childTnLst>
                              <p:par>
                                <p:cTn id="44" presetID="10"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childTnLst>
                          </p:cTn>
                        </p:par>
                        <p:par>
                          <p:cTn id="75" fill="hold">
                            <p:stCondLst>
                              <p:cond delay="1140"/>
                            </p:stCondLst>
                            <p:childTnLst>
                              <p:par>
                                <p:cTn id="63" presetID="10" presetClass="entr" presetSubtype="0"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childTnLst>
                          </p:cTn>
                        </p:par>
                        <p:par>
                          <p:cTn id="88" fill="hold">
                            <p:stCondLst>
                              <p:cond delay="1520"/>
                            </p:stCondLst>
                            <p:childTnLst>
                              <p:par>
                                <p:cTn id="76" presetID="10" presetClass="entr" presetSubtype="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5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10</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Doesn't AI get expensive?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Doesn't AI get expensive?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Tokens are spent only where they earn their keep</a:t>
            </a:r>
            <a:endParaRPr lang="en-US" sz="2800" dirty="0"/>
          </a:p>
        </p:txBody>
      </p:sp>
      <p:sp>
        <p:nvSpPr>
          <p:cNvPr id="5" name="a1f_b_354"/>
          <p:cNvSpPr/>
          <p:nvPr/>
        </p:nvSpPr>
        <p:spPr>
          <a:xfrm>
            <a:off x="548640" y="1737360"/>
            <a:ext cx="6949440" cy="713232"/>
          </a:xfrm>
          <a:prstGeom prst="roundRect">
            <a:avLst>
              <a:gd name="adj" fmla="val 15385"/>
            </a:avLst>
          </a:prstGeom>
          <a:solidFill>
            <a:schemeClr val="bg2"/>
          </a:solidFill>
          <a:ln w="9525">
            <a:solidFill>
              <a:schemeClr val="accent3"/>
            </a:solidFill>
            <a:prstDash val="solid"/>
          </a:ln>
        </p:spPr>
      </p:sp>
      <p:sp>
        <p:nvSpPr>
          <p:cNvPr id="6" name="a1f_b_355"/>
          <p:cNvSpPr/>
          <p:nvPr/>
        </p:nvSpPr>
        <p:spPr>
          <a:xfrm>
            <a:off x="731520" y="1874520"/>
            <a:ext cx="438912" cy="438912"/>
          </a:xfrm>
          <a:prstGeom prst="ellipse">
            <a:avLst/>
          </a:prstGeom>
          <a:solidFill>
            <a:schemeClr val="accent1">
              <a:alpha val="20000"/>
            </a:schemeClr>
          </a:solidFill>
          <a:ln/>
        </p:spPr>
      </p:sp>
      <p:pic>
        <p:nvPicPr>
          <p:cNvPr id="7" name="a1f_i_356" descr="preencoded.png">    </p:cNvPr>
          <p:cNvPicPr>
            <a:picLocks noChangeAspect="1"/>
          </p:cNvPicPr>
          <p:nvPr/>
        </p:nvPicPr>
        <p:blipFill>
          <a:blip r:embed="rId1"/>
          <a:stretch>
            <a:fillRect/>
          </a:stretch>
        </p:blipFill>
        <p:spPr>
          <a:xfrm>
            <a:off x="841248" y="1984248"/>
            <a:ext cx="219456" cy="219456"/>
          </a:xfrm>
          <a:prstGeom prst="rect">
            <a:avLst/>
          </a:prstGeom>
        </p:spPr>
      </p:pic>
      <p:sp>
        <p:nvSpPr>
          <p:cNvPr id="8" name="a1f_t_357"/>
          <p:cNvSpPr txBox="1"/>
          <p:nvPr/>
        </p:nvSpPr>
        <p:spPr>
          <a:xfrm>
            <a:off x="1399032" y="180136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Fail fast</a:t>
            </a:r>
            <a:endParaRPr lang="en-US" sz="1500" dirty="0"/>
          </a:p>
        </p:txBody>
      </p:sp>
      <p:sp>
        <p:nvSpPr>
          <p:cNvPr id="9" name="a1f_t_358"/>
          <p:cNvSpPr txBox="1"/>
          <p:nvPr/>
        </p:nvSpPr>
        <p:spPr>
          <a:xfrm>
            <a:off x="1399032" y="211226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Incomplete stories exit before any build work</a:t>
            </a:r>
            <a:endParaRPr lang="en-US" sz="1200" dirty="0"/>
          </a:p>
        </p:txBody>
      </p:sp>
      <p:sp>
        <p:nvSpPr>
          <p:cNvPr id="10" name="a2f_b_359"/>
          <p:cNvSpPr/>
          <p:nvPr/>
        </p:nvSpPr>
        <p:spPr>
          <a:xfrm>
            <a:off x="548640" y="2560320"/>
            <a:ext cx="6949440" cy="713232"/>
          </a:xfrm>
          <a:prstGeom prst="roundRect">
            <a:avLst>
              <a:gd name="adj" fmla="val 15385"/>
            </a:avLst>
          </a:prstGeom>
          <a:solidFill>
            <a:schemeClr val="bg2"/>
          </a:solidFill>
          <a:ln w="9525">
            <a:solidFill>
              <a:schemeClr val="accent3"/>
            </a:solidFill>
            <a:prstDash val="solid"/>
          </a:ln>
        </p:spPr>
      </p:sp>
      <p:sp>
        <p:nvSpPr>
          <p:cNvPr id="11" name="a2f_b_360"/>
          <p:cNvSpPr/>
          <p:nvPr/>
        </p:nvSpPr>
        <p:spPr>
          <a:xfrm>
            <a:off x="731520" y="2697480"/>
            <a:ext cx="438912" cy="438912"/>
          </a:xfrm>
          <a:prstGeom prst="ellipse">
            <a:avLst/>
          </a:prstGeom>
          <a:solidFill>
            <a:schemeClr val="accent1">
              <a:alpha val="20000"/>
            </a:schemeClr>
          </a:solidFill>
          <a:ln/>
        </p:spPr>
      </p:sp>
      <p:pic>
        <p:nvPicPr>
          <p:cNvPr id="12" name="a2f_i_361" descr="preencoded.png">    </p:cNvPr>
          <p:cNvPicPr>
            <a:picLocks noChangeAspect="1"/>
          </p:cNvPicPr>
          <p:nvPr/>
        </p:nvPicPr>
        <p:blipFill>
          <a:blip r:embed="rId2"/>
          <a:stretch>
            <a:fillRect/>
          </a:stretch>
        </p:blipFill>
        <p:spPr>
          <a:xfrm>
            <a:off x="841248" y="2807208"/>
            <a:ext cx="219456" cy="219456"/>
          </a:xfrm>
          <a:prstGeom prst="rect">
            <a:avLst/>
          </a:prstGeom>
        </p:spPr>
      </p:pic>
      <p:sp>
        <p:nvSpPr>
          <p:cNvPr id="13" name="a2f_t_362"/>
          <p:cNvSpPr txBox="1"/>
          <p:nvPr/>
        </p:nvSpPr>
        <p:spPr>
          <a:xfrm>
            <a:off x="1399032" y="262432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Prompt caching</a:t>
            </a:r>
            <a:endParaRPr lang="en-US" sz="1500" dirty="0"/>
          </a:p>
        </p:txBody>
      </p:sp>
      <p:sp>
        <p:nvSpPr>
          <p:cNvPr id="14" name="a2f_t_363"/>
          <p:cNvSpPr txBox="1"/>
          <p:nvPr/>
        </p:nvSpPr>
        <p:spPr>
          <a:xfrm>
            <a:off x="1399032" y="293522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Stable context is reused, not paid for again</a:t>
            </a:r>
            <a:endParaRPr lang="en-US" sz="1200" dirty="0"/>
          </a:p>
        </p:txBody>
      </p:sp>
      <p:sp>
        <p:nvSpPr>
          <p:cNvPr id="15" name="a3f_b_364"/>
          <p:cNvSpPr/>
          <p:nvPr/>
        </p:nvSpPr>
        <p:spPr>
          <a:xfrm>
            <a:off x="548640" y="3383280"/>
            <a:ext cx="6949440" cy="713232"/>
          </a:xfrm>
          <a:prstGeom prst="roundRect">
            <a:avLst>
              <a:gd name="adj" fmla="val 15385"/>
            </a:avLst>
          </a:prstGeom>
          <a:solidFill>
            <a:schemeClr val="bg2"/>
          </a:solidFill>
          <a:ln w="9525">
            <a:solidFill>
              <a:schemeClr val="accent3"/>
            </a:solidFill>
            <a:prstDash val="solid"/>
          </a:ln>
        </p:spPr>
      </p:sp>
      <p:sp>
        <p:nvSpPr>
          <p:cNvPr id="16" name="a3f_b_365"/>
          <p:cNvSpPr/>
          <p:nvPr/>
        </p:nvSpPr>
        <p:spPr>
          <a:xfrm>
            <a:off x="731520" y="3520440"/>
            <a:ext cx="438912" cy="438912"/>
          </a:xfrm>
          <a:prstGeom prst="ellipse">
            <a:avLst/>
          </a:prstGeom>
          <a:solidFill>
            <a:schemeClr val="accent1">
              <a:alpha val="20000"/>
            </a:schemeClr>
          </a:solidFill>
          <a:ln/>
        </p:spPr>
      </p:sp>
      <p:pic>
        <p:nvPicPr>
          <p:cNvPr id="17" name="a3f_i_366" descr="preencoded.png">    </p:cNvPr>
          <p:cNvPicPr>
            <a:picLocks noChangeAspect="1"/>
          </p:cNvPicPr>
          <p:nvPr/>
        </p:nvPicPr>
        <p:blipFill>
          <a:blip r:embed="rId3"/>
          <a:stretch>
            <a:fillRect/>
          </a:stretch>
        </p:blipFill>
        <p:spPr>
          <a:xfrm>
            <a:off x="841248" y="3630168"/>
            <a:ext cx="219456" cy="219456"/>
          </a:xfrm>
          <a:prstGeom prst="rect">
            <a:avLst/>
          </a:prstGeom>
        </p:spPr>
      </p:pic>
      <p:sp>
        <p:nvSpPr>
          <p:cNvPr id="18" name="a3f_t_367"/>
          <p:cNvSpPr txBox="1"/>
          <p:nvPr/>
        </p:nvSpPr>
        <p:spPr>
          <a:xfrm>
            <a:off x="1399032" y="344728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Right-sized models</a:t>
            </a:r>
            <a:endParaRPr lang="en-US" sz="1500" dirty="0"/>
          </a:p>
        </p:txBody>
      </p:sp>
      <p:sp>
        <p:nvSpPr>
          <p:cNvPr id="19" name="a3f_t_368"/>
          <p:cNvSpPr txBox="1"/>
          <p:nvPr/>
        </p:nvSpPr>
        <p:spPr>
          <a:xfrm>
            <a:off x="1399032" y="375818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Cheaper models for subagents, set in each agent's definition</a:t>
            </a:r>
            <a:endParaRPr lang="en-US" sz="1200" dirty="0"/>
          </a:p>
        </p:txBody>
      </p:sp>
      <p:sp>
        <p:nvSpPr>
          <p:cNvPr id="20" name="a4f_b_369"/>
          <p:cNvSpPr/>
          <p:nvPr/>
        </p:nvSpPr>
        <p:spPr>
          <a:xfrm>
            <a:off x="548640" y="4206240"/>
            <a:ext cx="6949440" cy="713232"/>
          </a:xfrm>
          <a:prstGeom prst="roundRect">
            <a:avLst>
              <a:gd name="adj" fmla="val 15385"/>
            </a:avLst>
          </a:prstGeom>
          <a:solidFill>
            <a:schemeClr val="bg2"/>
          </a:solidFill>
          <a:ln w="9525">
            <a:solidFill>
              <a:schemeClr val="accent3"/>
            </a:solidFill>
            <a:prstDash val="solid"/>
          </a:ln>
        </p:spPr>
      </p:sp>
      <p:sp>
        <p:nvSpPr>
          <p:cNvPr id="21" name="a4f_b_370"/>
          <p:cNvSpPr/>
          <p:nvPr/>
        </p:nvSpPr>
        <p:spPr>
          <a:xfrm>
            <a:off x="731520" y="4343400"/>
            <a:ext cx="438912" cy="438912"/>
          </a:xfrm>
          <a:prstGeom prst="ellipse">
            <a:avLst/>
          </a:prstGeom>
          <a:solidFill>
            <a:schemeClr val="accent1">
              <a:alpha val="20000"/>
            </a:schemeClr>
          </a:solidFill>
          <a:ln/>
        </p:spPr>
      </p:sp>
      <p:pic>
        <p:nvPicPr>
          <p:cNvPr id="22" name="a4f_i_371" descr="preencoded.png">    </p:cNvPr>
          <p:cNvPicPr>
            <a:picLocks noChangeAspect="1"/>
          </p:cNvPicPr>
          <p:nvPr/>
        </p:nvPicPr>
        <p:blipFill>
          <a:blip r:embed="rId4"/>
          <a:stretch>
            <a:fillRect/>
          </a:stretch>
        </p:blipFill>
        <p:spPr>
          <a:xfrm>
            <a:off x="841248" y="4453128"/>
            <a:ext cx="219456" cy="219456"/>
          </a:xfrm>
          <a:prstGeom prst="rect">
            <a:avLst/>
          </a:prstGeom>
        </p:spPr>
      </p:pic>
      <p:sp>
        <p:nvSpPr>
          <p:cNvPr id="23" name="a4f_t_372"/>
          <p:cNvSpPr txBox="1"/>
          <p:nvPr/>
        </p:nvSpPr>
        <p:spPr>
          <a:xfrm>
            <a:off x="1399032" y="427024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Trimmed tool output</a:t>
            </a:r>
            <a:endParaRPr lang="en-US" sz="1500" dirty="0"/>
          </a:p>
        </p:txBody>
      </p:sp>
      <p:sp>
        <p:nvSpPr>
          <p:cNvPr id="24" name="a4f_t_373"/>
          <p:cNvSpPr txBox="1"/>
          <p:nvPr/>
        </p:nvSpPr>
        <p:spPr>
          <a:xfrm>
            <a:off x="1399032" y="458114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Logs and scan results filtered before the model sees them</a:t>
            </a:r>
            <a:endParaRPr lang="en-US" sz="1200" dirty="0"/>
          </a:p>
        </p:txBody>
      </p:sp>
      <p:sp>
        <p:nvSpPr>
          <p:cNvPr id="25" name="a5f_b_374"/>
          <p:cNvSpPr/>
          <p:nvPr/>
        </p:nvSpPr>
        <p:spPr>
          <a:xfrm>
            <a:off x="548640" y="5029200"/>
            <a:ext cx="6949440" cy="713232"/>
          </a:xfrm>
          <a:prstGeom prst="roundRect">
            <a:avLst>
              <a:gd name="adj" fmla="val 15385"/>
            </a:avLst>
          </a:prstGeom>
          <a:solidFill>
            <a:schemeClr val="bg2"/>
          </a:solidFill>
          <a:ln w="9525">
            <a:solidFill>
              <a:schemeClr val="accent3"/>
            </a:solidFill>
            <a:prstDash val="solid"/>
          </a:ln>
        </p:spPr>
      </p:sp>
      <p:sp>
        <p:nvSpPr>
          <p:cNvPr id="26" name="a5f_b_375"/>
          <p:cNvSpPr/>
          <p:nvPr/>
        </p:nvSpPr>
        <p:spPr>
          <a:xfrm>
            <a:off x="731520" y="5166360"/>
            <a:ext cx="438912" cy="438912"/>
          </a:xfrm>
          <a:prstGeom prst="ellipse">
            <a:avLst/>
          </a:prstGeom>
          <a:solidFill>
            <a:schemeClr val="accent1">
              <a:alpha val="20000"/>
            </a:schemeClr>
          </a:solidFill>
          <a:ln/>
        </p:spPr>
      </p:sp>
      <p:pic>
        <p:nvPicPr>
          <p:cNvPr id="27" name="a5f_i_376" descr="preencoded.png">    </p:cNvPr>
          <p:cNvPicPr>
            <a:picLocks noChangeAspect="1"/>
          </p:cNvPicPr>
          <p:nvPr/>
        </p:nvPicPr>
        <p:blipFill>
          <a:blip r:embed="rId5"/>
          <a:stretch>
            <a:fillRect/>
          </a:stretch>
        </p:blipFill>
        <p:spPr>
          <a:xfrm>
            <a:off x="841248" y="5276088"/>
            <a:ext cx="219456" cy="219456"/>
          </a:xfrm>
          <a:prstGeom prst="rect">
            <a:avLst/>
          </a:prstGeom>
        </p:spPr>
      </p:pic>
      <p:sp>
        <p:nvSpPr>
          <p:cNvPr id="28" name="a5f_t_377"/>
          <p:cNvSpPr txBox="1"/>
          <p:nvPr/>
        </p:nvSpPr>
        <p:spPr>
          <a:xfrm>
            <a:off x="1399032" y="509320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Never switch models mid-session</a:t>
            </a:r>
            <a:endParaRPr lang="en-US" sz="1500" dirty="0"/>
          </a:p>
        </p:txBody>
      </p:sp>
      <p:sp>
        <p:nvSpPr>
          <p:cNvPr id="29" name="a5f_t_378"/>
          <p:cNvSpPr txBox="1"/>
          <p:nvPr/>
        </p:nvSpPr>
        <p:spPr>
          <a:xfrm>
            <a:off x="1399032" y="540410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It throws away the cache and costs more</a:t>
            </a:r>
            <a:endParaRPr lang="en-US" sz="1200" dirty="0"/>
          </a:p>
        </p:txBody>
      </p:sp>
      <p:sp>
        <p:nvSpPr>
          <p:cNvPr id="30" name="a6f_b_379"/>
          <p:cNvSpPr/>
          <p:nvPr/>
        </p:nvSpPr>
        <p:spPr>
          <a:xfrm>
            <a:off x="7863840" y="1737360"/>
            <a:ext cx="3776472" cy="4005072"/>
          </a:xfrm>
          <a:prstGeom prst="roundRect">
            <a:avLst>
              <a:gd name="adj" fmla="val 4358"/>
            </a:avLst>
          </a:prstGeom>
          <a:solidFill>
            <a:schemeClr val="bg2"/>
          </a:solidFill>
          <a:ln w="15875">
            <a:solidFill>
              <a:schemeClr val="accent1"/>
            </a:solidFill>
            <a:prstDash val="solid"/>
          </a:ln>
        </p:spPr>
      </p:sp>
      <p:sp>
        <p:nvSpPr>
          <p:cNvPr id="31" name="a6f_t_380"/>
          <p:cNvSpPr txBox="1"/>
          <p:nvPr/>
        </p:nvSpPr>
        <p:spPr>
          <a:xfrm>
            <a:off x="8138160" y="1965960"/>
            <a:ext cx="329184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BUDGET TODAY</a:t>
            </a:r>
            <a:endParaRPr lang="en-US" sz="1200" dirty="0"/>
          </a:p>
        </p:txBody>
      </p:sp>
      <p:sp>
        <p:nvSpPr>
          <p:cNvPr id="32" name="a6f_t_381"/>
          <p:cNvSpPr txBox="1"/>
          <p:nvPr/>
        </p:nvSpPr>
        <p:spPr>
          <a:xfrm>
            <a:off x="8138160" y="246888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Monthly per-seat quota</a:t>
            </a:r>
            <a:endParaRPr lang="en-US" sz="1600" dirty="0"/>
          </a:p>
        </p:txBody>
      </p:sp>
      <p:sp>
        <p:nvSpPr>
          <p:cNvPr id="33" name="a6f_t_382"/>
          <p:cNvSpPr txBox="1"/>
          <p:nvPr/>
        </p:nvSpPr>
        <p:spPr>
          <a:xfrm>
            <a:off x="8138160" y="280720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GitHub Copilot AI credits, Kiro</a:t>
            </a:r>
            <a:endParaRPr lang="en-US" sz="1200" dirty="0"/>
          </a:p>
        </p:txBody>
      </p:sp>
      <p:sp>
        <p:nvSpPr>
          <p:cNvPr id="34" name="a6f_t_383"/>
          <p:cNvSpPr txBox="1"/>
          <p:nvPr/>
        </p:nvSpPr>
        <p:spPr>
          <a:xfrm>
            <a:off x="8138160" y="352044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$35 per dev seat / month</a:t>
            </a:r>
            <a:endParaRPr lang="en-US" sz="1600" dirty="0"/>
          </a:p>
        </p:txBody>
      </p:sp>
      <p:sp>
        <p:nvSpPr>
          <p:cNvPr id="35" name="a6f_t_384"/>
          <p:cNvSpPr txBox="1"/>
          <p:nvPr/>
        </p:nvSpPr>
        <p:spPr>
          <a:xfrm>
            <a:off x="8138160" y="385876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Figma MCP, dev seats only</a:t>
            </a:r>
            <a:endParaRPr lang="en-US" sz="1200" dirty="0"/>
          </a:p>
        </p:txBody>
      </p:sp>
      <p:sp>
        <p:nvSpPr>
          <p:cNvPr id="36" name="a6f_t_385"/>
          <p:cNvSpPr txBox="1"/>
          <p:nvPr/>
        </p:nvSpPr>
        <p:spPr>
          <a:xfrm>
            <a:off x="8138160" y="4572000"/>
            <a:ext cx="3291840" cy="320040"/>
          </a:xfrm>
          <a:prstGeom prst="rect">
            <a:avLst/>
          </a:prstGeom>
          <a:noFill/>
          <a:ln/>
        </p:spPr>
        <p:txBody>
          <a:bodyPr wrap="square" lIns="0" tIns="0" rIns="0" bIns="0" rtlCol="0" anchor="t"/>
          <a:lstStyle/>
          <a:p>
            <a:pPr algn="l" indent="0" marL="0">
              <a:buNone/>
            </a:pPr>
            <a:r>
              <a:rPr lang="en-US" sz="1600" b="1" dirty="0">
                <a:solidFill>
                  <a:schemeClr val="tx2"/>
                </a:solidFill>
              </a:rPr>
              <a:t>Per-task token caps</a:t>
            </a:r>
            <a:endParaRPr lang="en-US" sz="1600" dirty="0"/>
          </a:p>
        </p:txBody>
      </p:sp>
      <p:sp>
        <p:nvSpPr>
          <p:cNvPr id="37" name="a6f_t_386"/>
          <p:cNvSpPr txBox="1"/>
          <p:nvPr/>
        </p:nvSpPr>
        <p:spPr>
          <a:xfrm>
            <a:off x="8138160" y="491032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Not available in Kiro yet</a:t>
            </a:r>
            <a:endParaRPr lang="en-US" sz="1200" dirty="0"/>
          </a:p>
        </p:txBody>
      </p:sp>
      <p:sp>
        <p:nvSpPr>
          <p:cNvPr id="38"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82" fill="hold">
                            <p:stCondLst>
                              <p:cond delay="1520"/>
                            </p:stCondLst>
                            <p:childTnLst>
                              <p:par>
                                <p:cTn id="67" presetID="10" presetClass="entr" presetSubtype="0" fill="hold" grpId="0"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childTnLst>
                          </p:cTn>
                        </p:par>
                        <p:par>
                          <p:cTn id="107" fill="hold">
                            <p:stCondLst>
                              <p:cond delay="1900"/>
                            </p:stCondLst>
                            <p:childTnLst>
                              <p:par>
                                <p:cTn id="83" presetID="10"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8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Won't the AI drown in context?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Won't the AI drown in context?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Every agent works in a small, clean context</a:t>
            </a:r>
            <a:endParaRPr lang="en-US" sz="2800" dirty="0"/>
          </a:p>
        </p:txBody>
      </p:sp>
      <p:sp>
        <p:nvSpPr>
          <p:cNvPr id="5" name="a1f_t_388"/>
          <p:cNvSpPr txBox="1"/>
          <p:nvPr/>
        </p:nvSpPr>
        <p:spPr>
          <a:xfrm>
            <a:off x="548640" y="1737360"/>
            <a:ext cx="5029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ONE AGENT DOING EVERYTHING</a:t>
            </a:r>
            <a:endParaRPr lang="en-US" sz="1200" dirty="0"/>
          </a:p>
        </p:txBody>
      </p:sp>
      <p:sp>
        <p:nvSpPr>
          <p:cNvPr id="6" name="a1f_b_389"/>
          <p:cNvSpPr/>
          <p:nvPr/>
        </p:nvSpPr>
        <p:spPr>
          <a:xfrm>
            <a:off x="822960" y="2514600"/>
            <a:ext cx="2011680" cy="3383280"/>
          </a:xfrm>
          <a:prstGeom prst="rect">
            <a:avLst/>
          </a:prstGeom>
          <a:ln w="19050">
            <a:solidFill>
              <a:schemeClr val="accent4"/>
            </a:solidFill>
            <a:prstDash val="solid"/>
          </a:ln>
        </p:spPr>
      </p:sp>
      <p:sp>
        <p:nvSpPr>
          <p:cNvPr id="7" name="a9u_b_390"/>
          <p:cNvSpPr/>
          <p:nvPr/>
        </p:nvSpPr>
        <p:spPr>
          <a:xfrm>
            <a:off x="914400" y="2103120"/>
            <a:ext cx="1828800" cy="402336"/>
          </a:xfrm>
          <a:prstGeom prst="rect">
            <a:avLst/>
          </a:prstGeom>
          <a:solidFill>
            <a:schemeClr val="accent1">
              <a:alpha val="65000"/>
            </a:schemeClr>
          </a:solidFill>
          <a:ln/>
        </p:spPr>
      </p:sp>
      <p:sp>
        <p:nvSpPr>
          <p:cNvPr id="8" name="a9u_t_391"/>
          <p:cNvSpPr txBox="1"/>
          <p:nvPr/>
        </p:nvSpPr>
        <p:spPr>
          <a:xfrm>
            <a:off x="914400" y="210312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Xray report</a:t>
            </a:r>
            <a:endParaRPr lang="en-US" sz="1100" dirty="0"/>
          </a:p>
        </p:txBody>
      </p:sp>
      <p:sp>
        <p:nvSpPr>
          <p:cNvPr id="9" name="a8u_b_392"/>
          <p:cNvSpPr/>
          <p:nvPr/>
        </p:nvSpPr>
        <p:spPr>
          <a:xfrm>
            <a:off x="914400" y="2578608"/>
            <a:ext cx="1828800" cy="402336"/>
          </a:xfrm>
          <a:prstGeom prst="rect">
            <a:avLst/>
          </a:prstGeom>
          <a:solidFill>
            <a:schemeClr val="accent1">
              <a:alpha val="65000"/>
            </a:schemeClr>
          </a:solidFill>
          <a:ln/>
        </p:spPr>
      </p:sp>
      <p:sp>
        <p:nvSpPr>
          <p:cNvPr id="10" name="a8u_t_393"/>
          <p:cNvSpPr txBox="1"/>
          <p:nvPr/>
        </p:nvSpPr>
        <p:spPr>
          <a:xfrm>
            <a:off x="914400" y="257860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Veracode results</a:t>
            </a:r>
            <a:endParaRPr lang="en-US" sz="1100" dirty="0"/>
          </a:p>
        </p:txBody>
      </p:sp>
      <p:sp>
        <p:nvSpPr>
          <p:cNvPr id="11" name="a7u_b_394"/>
          <p:cNvSpPr/>
          <p:nvPr/>
        </p:nvSpPr>
        <p:spPr>
          <a:xfrm>
            <a:off x="914400" y="3054096"/>
            <a:ext cx="1828800" cy="402336"/>
          </a:xfrm>
          <a:prstGeom prst="rect">
            <a:avLst/>
          </a:prstGeom>
          <a:solidFill>
            <a:schemeClr val="accent3"/>
          </a:solidFill>
          <a:ln/>
        </p:spPr>
      </p:sp>
      <p:sp>
        <p:nvSpPr>
          <p:cNvPr id="12" name="a7u_t_395"/>
          <p:cNvSpPr txBox="1"/>
          <p:nvPr/>
        </p:nvSpPr>
        <p:spPr>
          <a:xfrm>
            <a:off x="914400" y="305409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Sonar report</a:t>
            </a:r>
            <a:endParaRPr lang="en-US" sz="1100" dirty="0"/>
          </a:p>
        </p:txBody>
      </p:sp>
      <p:sp>
        <p:nvSpPr>
          <p:cNvPr id="13" name="a6u_b_396"/>
          <p:cNvSpPr/>
          <p:nvPr/>
        </p:nvSpPr>
        <p:spPr>
          <a:xfrm>
            <a:off x="914400" y="3529584"/>
            <a:ext cx="1828800" cy="402336"/>
          </a:xfrm>
          <a:prstGeom prst="rect">
            <a:avLst/>
          </a:prstGeom>
          <a:solidFill>
            <a:schemeClr val="accent3"/>
          </a:solidFill>
          <a:ln/>
        </p:spPr>
      </p:sp>
      <p:sp>
        <p:nvSpPr>
          <p:cNvPr id="14" name="a6u_t_397"/>
          <p:cNvSpPr txBox="1"/>
          <p:nvPr/>
        </p:nvSpPr>
        <p:spPr>
          <a:xfrm>
            <a:off x="914400" y="3529584"/>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Jenkins logs</a:t>
            </a:r>
            <a:endParaRPr lang="en-US" sz="1100" dirty="0"/>
          </a:p>
        </p:txBody>
      </p:sp>
      <p:sp>
        <p:nvSpPr>
          <p:cNvPr id="15" name="a5u_b_398"/>
          <p:cNvSpPr/>
          <p:nvPr/>
        </p:nvSpPr>
        <p:spPr>
          <a:xfrm>
            <a:off x="914400" y="4005072"/>
            <a:ext cx="1828800" cy="402336"/>
          </a:xfrm>
          <a:prstGeom prst="rect">
            <a:avLst/>
          </a:prstGeom>
          <a:solidFill>
            <a:schemeClr val="accent3"/>
          </a:solidFill>
          <a:ln/>
        </p:spPr>
      </p:sp>
      <p:sp>
        <p:nvSpPr>
          <p:cNvPr id="16" name="a5u_t_399"/>
          <p:cNvSpPr txBox="1"/>
          <p:nvPr/>
        </p:nvSpPr>
        <p:spPr>
          <a:xfrm>
            <a:off x="914400" y="4005072"/>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Swagger spec</a:t>
            </a:r>
            <a:endParaRPr lang="en-US" sz="1100" dirty="0"/>
          </a:p>
        </p:txBody>
      </p:sp>
      <p:sp>
        <p:nvSpPr>
          <p:cNvPr id="17" name="a4u_b_400"/>
          <p:cNvSpPr/>
          <p:nvPr/>
        </p:nvSpPr>
        <p:spPr>
          <a:xfrm>
            <a:off x="914400" y="4480560"/>
            <a:ext cx="1828800" cy="402336"/>
          </a:xfrm>
          <a:prstGeom prst="rect">
            <a:avLst/>
          </a:prstGeom>
          <a:solidFill>
            <a:schemeClr val="accent3"/>
          </a:solidFill>
          <a:ln/>
        </p:spPr>
      </p:sp>
      <p:sp>
        <p:nvSpPr>
          <p:cNvPr id="18" name="a4u_t_401"/>
          <p:cNvSpPr txBox="1"/>
          <p:nvPr/>
        </p:nvSpPr>
        <p:spPr>
          <a:xfrm>
            <a:off x="914400" y="448056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Figma payload</a:t>
            </a:r>
            <a:endParaRPr lang="en-US" sz="1100" dirty="0"/>
          </a:p>
        </p:txBody>
      </p:sp>
      <p:sp>
        <p:nvSpPr>
          <p:cNvPr id="19" name="a3u_b_402"/>
          <p:cNvSpPr/>
          <p:nvPr/>
        </p:nvSpPr>
        <p:spPr>
          <a:xfrm>
            <a:off x="914400" y="4956048"/>
            <a:ext cx="1828800" cy="402336"/>
          </a:xfrm>
          <a:prstGeom prst="rect">
            <a:avLst/>
          </a:prstGeom>
          <a:solidFill>
            <a:schemeClr val="accent3"/>
          </a:solidFill>
          <a:ln/>
        </p:spPr>
      </p:sp>
      <p:sp>
        <p:nvSpPr>
          <p:cNvPr id="20" name="a3u_t_403"/>
          <p:cNvSpPr txBox="1"/>
          <p:nvPr/>
        </p:nvSpPr>
        <p:spPr>
          <a:xfrm>
            <a:off x="914400" y="495604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Confluence docs</a:t>
            </a:r>
            <a:endParaRPr lang="en-US" sz="1100" dirty="0"/>
          </a:p>
        </p:txBody>
      </p:sp>
      <p:sp>
        <p:nvSpPr>
          <p:cNvPr id="21" name="a2u_b_404"/>
          <p:cNvSpPr/>
          <p:nvPr/>
        </p:nvSpPr>
        <p:spPr>
          <a:xfrm>
            <a:off x="914400" y="5431536"/>
            <a:ext cx="1828800" cy="402336"/>
          </a:xfrm>
          <a:prstGeom prst="rect">
            <a:avLst/>
          </a:prstGeom>
          <a:solidFill>
            <a:schemeClr val="accent3"/>
          </a:solidFill>
          <a:ln/>
        </p:spPr>
      </p:sp>
      <p:sp>
        <p:nvSpPr>
          <p:cNvPr id="22" name="a2u_t_405"/>
          <p:cNvSpPr txBox="1"/>
          <p:nvPr/>
        </p:nvSpPr>
        <p:spPr>
          <a:xfrm>
            <a:off x="914400" y="543153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Jira story</a:t>
            </a:r>
            <a:endParaRPr lang="en-US" sz="1100" dirty="0"/>
          </a:p>
        </p:txBody>
      </p:sp>
      <p:sp>
        <p:nvSpPr>
          <p:cNvPr id="23" name="a10f_t_406"/>
          <p:cNvSpPr txBox="1"/>
          <p:nvPr/>
        </p:nvSpPr>
        <p:spPr>
          <a:xfrm>
            <a:off x="3063240" y="2103120"/>
            <a:ext cx="2194560" cy="320040"/>
          </a:xfrm>
          <a:prstGeom prst="rect">
            <a:avLst/>
          </a:prstGeom>
          <a:noFill/>
          <a:ln/>
        </p:spPr>
        <p:txBody>
          <a:bodyPr wrap="square" lIns="0" tIns="0" rIns="0" bIns="0" rtlCol="0" anchor="t"/>
          <a:lstStyle/>
          <a:p>
            <a:pPr algn="l" indent="0" marL="0">
              <a:buNone/>
            </a:pPr>
            <a:r>
              <a:rPr lang="en-US" sz="1600" b="1" dirty="0">
                <a:solidFill>
                  <a:schemeClr val="accent1"/>
                </a:solidFill>
              </a:rPr>
              <a:t>Overflow</a:t>
            </a:r>
            <a:endParaRPr lang="en-US" sz="1600" dirty="0"/>
          </a:p>
        </p:txBody>
      </p:sp>
      <p:sp>
        <p:nvSpPr>
          <p:cNvPr id="24" name="a10f_t_407"/>
          <p:cNvSpPr txBox="1"/>
          <p:nvPr/>
        </p:nvSpPr>
        <p:spPr>
          <a:xfrm>
            <a:off x="3063240" y="2468880"/>
            <a:ext cx="2377440" cy="914400"/>
          </a:xfrm>
          <a:prstGeom prst="rect">
            <a:avLst/>
          </a:prstGeom>
          <a:noFill/>
          <a:ln/>
        </p:spPr>
        <p:txBody>
          <a:bodyPr wrap="square" lIns="0" tIns="0" rIns="0" bIns="0" rtlCol="0" anchor="t"/>
          <a:lstStyle/>
          <a:p>
            <a:pPr algn="l" indent="0" marL="0">
              <a:buNone/>
            </a:pPr>
            <a:r>
              <a:rPr lang="en-US" sz="1300" dirty="0">
                <a:solidFill>
                  <a:schemeClr val="tx2"/>
                </a:solidFill>
              </a:rPr>
              <a:t>Everything piles into one window. Quality drops, cost climbs.</a:t>
            </a:r>
            <a:endParaRPr lang="en-US" sz="1300" dirty="0"/>
          </a:p>
        </p:txBody>
      </p:sp>
      <p:sp>
        <p:nvSpPr>
          <p:cNvPr id="25" name="a11f_t_408"/>
          <p:cNvSpPr txBox="1"/>
          <p:nvPr/>
        </p:nvSpPr>
        <p:spPr>
          <a:xfrm>
            <a:off x="6035040" y="173736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MASTER + SPECIALISTS</a:t>
            </a:r>
            <a:endParaRPr lang="en-US" sz="1200" dirty="0"/>
          </a:p>
        </p:txBody>
      </p:sp>
      <p:sp>
        <p:nvSpPr>
          <p:cNvPr id="26" name="a11f_b_409"/>
          <p:cNvSpPr/>
          <p:nvPr/>
        </p:nvSpPr>
        <p:spPr>
          <a:xfrm>
            <a:off x="6035040" y="2148840"/>
            <a:ext cx="5605272" cy="777240"/>
          </a:xfrm>
          <a:prstGeom prst="roundRect">
            <a:avLst>
              <a:gd name="adj" fmla="val 14118"/>
            </a:avLst>
          </a:prstGeom>
          <a:solidFill>
            <a:schemeClr val="bg2"/>
          </a:solidFill>
          <a:ln w="15875">
            <a:solidFill>
              <a:schemeClr val="accent1"/>
            </a:solidFill>
            <a:prstDash val="solid"/>
          </a:ln>
        </p:spPr>
      </p:sp>
      <p:pic>
        <p:nvPicPr>
          <p:cNvPr id="27" name="a11f_i_410" descr="/Users/deepakkumar/Documents/Claude projects/the-agentic-delivery-pipeline/pitch/build/assets/claude-symbol.png">    </p:cNvPr>
          <p:cNvPicPr>
            <a:picLocks noChangeAspect="1"/>
          </p:cNvPicPr>
          <p:nvPr/>
        </p:nvPicPr>
        <p:blipFill>
          <a:blip r:embed="rId1"/>
          <a:stretch>
            <a:fillRect/>
          </a:stretch>
        </p:blipFill>
        <p:spPr>
          <a:xfrm>
            <a:off x="6217920" y="2286000"/>
            <a:ext cx="502920" cy="502920"/>
          </a:xfrm>
          <a:prstGeom prst="rect">
            <a:avLst/>
          </a:prstGeom>
        </p:spPr>
      </p:pic>
      <p:sp>
        <p:nvSpPr>
          <p:cNvPr id="28" name="a11f_t_411"/>
          <p:cNvSpPr txBox="1"/>
          <p:nvPr/>
        </p:nvSpPr>
        <p:spPr>
          <a:xfrm>
            <a:off x="6903720" y="2194560"/>
            <a:ext cx="4572000" cy="685800"/>
          </a:xfrm>
          <a:prstGeom prst="rect">
            <a:avLst/>
          </a:prstGeom>
          <a:noFill/>
          <a:ln/>
        </p:spPr>
        <p:txBody>
          <a:bodyPr wrap="square" lIns="0" tIns="0" rIns="0" bIns="0" rtlCol="0" anchor="ctr"/>
          <a:lstStyle/>
          <a:p>
            <a:pPr algn="l" indent="0" marL="0">
              <a:buNone/>
            </a:pPr>
            <a:r>
              <a:rPr lang="en-US" sz="1500" b="1" dirty="0">
                <a:solidFill>
                  <a:schemeClr val="tx1"/>
                </a:solidFill>
              </a:rPr>
              <a:t>Master agent</a:t>
            </a:r>
            <a:endParaRPr lang="en-US" sz="1500" dirty="0"/>
          </a:p>
          <a:p>
            <a:pPr algn="l" indent="0" marL="0">
              <a:buNone/>
            </a:pPr>
            <a:r>
              <a:rPr lang="en-US" sz="1200" dirty="0">
                <a:solidFill>
                  <a:schemeClr val="tx2"/>
                </a:solidFill>
              </a:rPr>
              <a:t>holds only the Input JSON</a:t>
            </a:r>
            <a:endParaRPr lang="en-US" sz="1500" dirty="0"/>
          </a:p>
        </p:txBody>
      </p:sp>
      <p:sp>
        <p:nvSpPr>
          <p:cNvPr id="29" name="a12f_l_412"/>
          <p:cNvSpPr/>
          <p:nvPr/>
        </p:nvSpPr>
        <p:spPr>
          <a:xfrm>
            <a:off x="6665976" y="2926080"/>
            <a:ext cx="914" cy="274320"/>
          </a:xfrm>
          <a:prstGeom prst="line">
            <a:avLst/>
          </a:prstGeom>
          <a:noFill/>
          <a:ln w="15875">
            <a:solidFill>
              <a:schemeClr val="accent4"/>
            </a:solidFill>
            <a:prstDash val="solid"/>
          </a:ln>
        </p:spPr>
      </p:sp>
      <p:sp>
        <p:nvSpPr>
          <p:cNvPr id="30" name="a12f_b_413"/>
          <p:cNvSpPr/>
          <p:nvPr/>
        </p:nvSpPr>
        <p:spPr>
          <a:xfrm>
            <a:off x="6035040" y="3200400"/>
            <a:ext cx="1261872" cy="1234440"/>
          </a:xfrm>
          <a:prstGeom prst="roundRect">
            <a:avLst>
              <a:gd name="adj" fmla="val 8889"/>
            </a:avLst>
          </a:prstGeom>
          <a:solidFill>
            <a:schemeClr val="bg2"/>
          </a:solidFill>
          <a:ln w="9525">
            <a:solidFill>
              <a:schemeClr val="accent3"/>
            </a:solidFill>
            <a:prstDash val="solid"/>
          </a:ln>
        </p:spPr>
      </p:sp>
      <p:pic>
        <p:nvPicPr>
          <p:cNvPr id="31" name="a12f_i_414" descr="/Users/deepakkumar/Documents/Claude projects/the-agentic-delivery-pipeline/pitch/build/assets/agent.png">    </p:cNvPr>
          <p:cNvPicPr>
            <a:picLocks noChangeAspect="1"/>
          </p:cNvPicPr>
          <p:nvPr/>
        </p:nvPicPr>
        <p:blipFill>
          <a:blip r:embed="rId2"/>
          <a:stretch>
            <a:fillRect/>
          </a:stretch>
        </p:blipFill>
        <p:spPr>
          <a:xfrm>
            <a:off x="6391656" y="3337560"/>
            <a:ext cx="548640" cy="384048"/>
          </a:xfrm>
          <a:prstGeom prst="rect">
            <a:avLst/>
          </a:prstGeom>
        </p:spPr>
      </p:pic>
      <p:sp>
        <p:nvSpPr>
          <p:cNvPr id="32" name="a12f_t_415"/>
          <p:cNvSpPr txBox="1"/>
          <p:nvPr/>
        </p:nvSpPr>
        <p:spPr>
          <a:xfrm>
            <a:off x="6035040"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jira</a:t>
            </a:r>
            <a:endParaRPr lang="en-US" sz="1100" dirty="0"/>
          </a:p>
        </p:txBody>
      </p:sp>
      <p:sp>
        <p:nvSpPr>
          <p:cNvPr id="33" name="a12f_t_416"/>
          <p:cNvSpPr txBox="1"/>
          <p:nvPr/>
        </p:nvSpPr>
        <p:spPr>
          <a:xfrm>
            <a:off x="6035040"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4" name="a12f_l_417"/>
          <p:cNvSpPr/>
          <p:nvPr/>
        </p:nvSpPr>
        <p:spPr>
          <a:xfrm>
            <a:off x="8110728" y="2926080"/>
            <a:ext cx="914" cy="274320"/>
          </a:xfrm>
          <a:prstGeom prst="line">
            <a:avLst/>
          </a:prstGeom>
          <a:noFill/>
          <a:ln w="15875">
            <a:solidFill>
              <a:schemeClr val="accent4"/>
            </a:solidFill>
            <a:prstDash val="solid"/>
          </a:ln>
        </p:spPr>
      </p:sp>
      <p:sp>
        <p:nvSpPr>
          <p:cNvPr id="35" name="a12f_b_418"/>
          <p:cNvSpPr/>
          <p:nvPr/>
        </p:nvSpPr>
        <p:spPr>
          <a:xfrm>
            <a:off x="7479792" y="3200400"/>
            <a:ext cx="1261872" cy="1234440"/>
          </a:xfrm>
          <a:prstGeom prst="roundRect">
            <a:avLst>
              <a:gd name="adj" fmla="val 8889"/>
            </a:avLst>
          </a:prstGeom>
          <a:solidFill>
            <a:schemeClr val="bg2"/>
          </a:solidFill>
          <a:ln w="9525">
            <a:solidFill>
              <a:schemeClr val="accent3"/>
            </a:solidFill>
            <a:prstDash val="solid"/>
          </a:ln>
        </p:spPr>
      </p:sp>
      <p:pic>
        <p:nvPicPr>
          <p:cNvPr id="36" name="a12f_i_419" descr="/Users/deepakkumar/Documents/Claude projects/the-agentic-delivery-pipeline/pitch/build/assets/agent.png">    </p:cNvPr>
          <p:cNvPicPr>
            <a:picLocks noChangeAspect="1"/>
          </p:cNvPicPr>
          <p:nvPr/>
        </p:nvPicPr>
        <p:blipFill>
          <a:blip r:embed="rId3"/>
          <a:stretch>
            <a:fillRect/>
          </a:stretch>
        </p:blipFill>
        <p:spPr>
          <a:xfrm>
            <a:off x="7836408" y="3337560"/>
            <a:ext cx="548640" cy="384048"/>
          </a:xfrm>
          <a:prstGeom prst="rect">
            <a:avLst/>
          </a:prstGeom>
        </p:spPr>
      </p:pic>
      <p:sp>
        <p:nvSpPr>
          <p:cNvPr id="37" name="a12f_t_420"/>
          <p:cNvSpPr txBox="1"/>
          <p:nvPr/>
        </p:nvSpPr>
        <p:spPr>
          <a:xfrm>
            <a:off x="7479792"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figma</a:t>
            </a:r>
            <a:endParaRPr lang="en-US" sz="1100" dirty="0"/>
          </a:p>
        </p:txBody>
      </p:sp>
      <p:sp>
        <p:nvSpPr>
          <p:cNvPr id="38" name="a12f_t_421"/>
          <p:cNvSpPr txBox="1"/>
          <p:nvPr/>
        </p:nvSpPr>
        <p:spPr>
          <a:xfrm>
            <a:off x="7479792"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9" name="a12f_l_422"/>
          <p:cNvSpPr/>
          <p:nvPr/>
        </p:nvSpPr>
        <p:spPr>
          <a:xfrm>
            <a:off x="9555480" y="2926080"/>
            <a:ext cx="914" cy="274320"/>
          </a:xfrm>
          <a:prstGeom prst="line">
            <a:avLst/>
          </a:prstGeom>
          <a:noFill/>
          <a:ln w="15875">
            <a:solidFill>
              <a:schemeClr val="accent4"/>
            </a:solidFill>
            <a:prstDash val="solid"/>
          </a:ln>
        </p:spPr>
      </p:sp>
      <p:sp>
        <p:nvSpPr>
          <p:cNvPr id="40" name="a12f_b_423"/>
          <p:cNvSpPr/>
          <p:nvPr/>
        </p:nvSpPr>
        <p:spPr>
          <a:xfrm>
            <a:off x="8924544" y="3200400"/>
            <a:ext cx="1261872" cy="1234440"/>
          </a:xfrm>
          <a:prstGeom prst="roundRect">
            <a:avLst>
              <a:gd name="adj" fmla="val 8889"/>
            </a:avLst>
          </a:prstGeom>
          <a:solidFill>
            <a:schemeClr val="bg2"/>
          </a:solidFill>
          <a:ln w="9525">
            <a:solidFill>
              <a:schemeClr val="accent3"/>
            </a:solidFill>
            <a:prstDash val="solid"/>
          </a:ln>
        </p:spPr>
      </p:sp>
      <p:pic>
        <p:nvPicPr>
          <p:cNvPr id="41" name="a12f_i_424" descr="/Users/deepakkumar/Documents/Claude projects/the-agentic-delivery-pipeline/pitch/build/assets/agent.png">    </p:cNvPr>
          <p:cNvPicPr>
            <a:picLocks noChangeAspect="1"/>
          </p:cNvPicPr>
          <p:nvPr/>
        </p:nvPicPr>
        <p:blipFill>
          <a:blip r:embed="rId4"/>
          <a:stretch>
            <a:fillRect/>
          </a:stretch>
        </p:blipFill>
        <p:spPr>
          <a:xfrm>
            <a:off x="9281160" y="3337560"/>
            <a:ext cx="548640" cy="384048"/>
          </a:xfrm>
          <a:prstGeom prst="rect">
            <a:avLst/>
          </a:prstGeom>
        </p:spPr>
      </p:pic>
      <p:sp>
        <p:nvSpPr>
          <p:cNvPr id="42" name="a12f_t_425"/>
          <p:cNvSpPr txBox="1"/>
          <p:nvPr/>
        </p:nvSpPr>
        <p:spPr>
          <a:xfrm>
            <a:off x="8924544"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swagger-hub</a:t>
            </a:r>
            <a:endParaRPr lang="en-US" sz="1100" dirty="0"/>
          </a:p>
        </p:txBody>
      </p:sp>
      <p:sp>
        <p:nvSpPr>
          <p:cNvPr id="43" name="a12f_t_426"/>
          <p:cNvSpPr txBox="1"/>
          <p:nvPr/>
        </p:nvSpPr>
        <p:spPr>
          <a:xfrm>
            <a:off x="8924544"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4" name="a12f_l_427"/>
          <p:cNvSpPr/>
          <p:nvPr/>
        </p:nvSpPr>
        <p:spPr>
          <a:xfrm>
            <a:off x="11000232" y="2926080"/>
            <a:ext cx="914" cy="274320"/>
          </a:xfrm>
          <a:prstGeom prst="line">
            <a:avLst/>
          </a:prstGeom>
          <a:noFill/>
          <a:ln w="15875">
            <a:solidFill>
              <a:schemeClr val="accent4"/>
            </a:solidFill>
            <a:prstDash val="solid"/>
          </a:ln>
        </p:spPr>
      </p:sp>
      <p:sp>
        <p:nvSpPr>
          <p:cNvPr id="45" name="a12f_b_428"/>
          <p:cNvSpPr/>
          <p:nvPr/>
        </p:nvSpPr>
        <p:spPr>
          <a:xfrm>
            <a:off x="10369296" y="3200400"/>
            <a:ext cx="1261872" cy="1234440"/>
          </a:xfrm>
          <a:prstGeom prst="roundRect">
            <a:avLst>
              <a:gd name="adj" fmla="val 8889"/>
            </a:avLst>
          </a:prstGeom>
          <a:solidFill>
            <a:schemeClr val="bg2"/>
          </a:solidFill>
          <a:ln w="9525">
            <a:solidFill>
              <a:schemeClr val="accent3"/>
            </a:solidFill>
            <a:prstDash val="solid"/>
          </a:ln>
        </p:spPr>
      </p:sp>
      <p:pic>
        <p:nvPicPr>
          <p:cNvPr id="46" name="a12f_i_429" descr="/Users/deepakkumar/Documents/Claude projects/the-agentic-delivery-pipeline/pitch/build/assets/agent.png">    </p:cNvPr>
          <p:cNvPicPr>
            <a:picLocks noChangeAspect="1"/>
          </p:cNvPicPr>
          <p:nvPr/>
        </p:nvPicPr>
        <p:blipFill>
          <a:blip r:embed="rId5"/>
          <a:stretch>
            <a:fillRect/>
          </a:stretch>
        </p:blipFill>
        <p:spPr>
          <a:xfrm>
            <a:off x="10725912" y="3337560"/>
            <a:ext cx="548640" cy="384048"/>
          </a:xfrm>
          <a:prstGeom prst="rect">
            <a:avLst/>
          </a:prstGeom>
        </p:spPr>
      </p:pic>
      <p:sp>
        <p:nvSpPr>
          <p:cNvPr id="47" name="a12f_t_430"/>
          <p:cNvSpPr txBox="1"/>
          <p:nvPr/>
        </p:nvSpPr>
        <p:spPr>
          <a:xfrm>
            <a:off x="10369296"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confluence</a:t>
            </a:r>
            <a:endParaRPr lang="en-US" sz="1100" dirty="0"/>
          </a:p>
        </p:txBody>
      </p:sp>
      <p:sp>
        <p:nvSpPr>
          <p:cNvPr id="48" name="a12f_t_431"/>
          <p:cNvSpPr txBox="1"/>
          <p:nvPr/>
        </p:nvSpPr>
        <p:spPr>
          <a:xfrm>
            <a:off x="10369296"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9" name="a13f_t_432"/>
          <p:cNvSpPr txBox="1"/>
          <p:nvPr/>
        </p:nvSpPr>
        <p:spPr>
          <a:xfrm>
            <a:off x="6035040" y="4709160"/>
            <a:ext cx="5605272" cy="11887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Subagents return results, not their whole context</a:t>
            </a:r>
            <a:endParaRPr lang="en-US" sz="1400" dirty="0"/>
          </a:p>
          <a:p>
            <a:pPr algn="l" marL="342900" indent="-342900">
              <a:spcAft>
                <a:spcPts val="600"/>
              </a:spcAft>
              <a:buSzPct val="100000"/>
              <a:buChar char="•"/>
            </a:pPr>
            <a:r>
              <a:rPr lang="en-US" sz="1400" dirty="0">
                <a:solidFill>
                  <a:schemeClr val="tx1"/>
                </a:solidFill>
              </a:rPr>
              <a:t>The Input JSON is the contract between steps</a:t>
            </a:r>
            <a:endParaRPr lang="en-US" sz="1400" dirty="0"/>
          </a:p>
          <a:p>
            <a:pPr algn="l" marL="342900" indent="-342900">
              <a:spcAft>
                <a:spcPts val="600"/>
              </a:spcAft>
              <a:buSzPct val="100000"/>
              <a:buChar char="•"/>
            </a:pPr>
            <a:r>
              <a:rPr lang="en-US" sz="1400" dirty="0">
                <a:solidFill>
                  <a:schemeClr val="tx1"/>
                </a:solidFill>
              </a:rPr>
              <a:t>Tool output is trimmed before it reaches the model</a:t>
            </a:r>
            <a:endParaRPr lang="en-US" sz="1400" dirty="0"/>
          </a:p>
        </p:txBody>
      </p:sp>
      <p:sp>
        <p:nvSpPr>
          <p:cNvPr id="50"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childTnLst>
                          </p:cTn>
                        </p:par>
                        <p:par>
                          <p:cTn id="16" fill="hold">
                            <p:stCondLst>
                              <p:cond delay="380"/>
                            </p:stCondLst>
                            <p:childTnLst>
                              <p:par>
                                <p:cTn id="10" presetID="22" presetClass="entr" presetSubtype="4"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500"/>
                                        <p:tgtEl>
                                          <p:spTgt spid="2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par>
                          <p:cTn id="23" fill="hold">
                            <p:stCondLst>
                              <p:cond delay="76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par>
                          <p:cTn id="30" fill="hold">
                            <p:stCondLst>
                              <p:cond delay="1140"/>
                            </p:stCondLst>
                            <p:childTnLst>
                              <p:par>
                                <p:cTn id="24" presetID="2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par>
                          <p:cTn id="37" fill="hold">
                            <p:stCondLst>
                              <p:cond delay="152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44" fill="hold">
                            <p:stCondLst>
                              <p:cond delay="1900"/>
                            </p:stCondLst>
                            <p:childTnLst>
                              <p:par>
                                <p:cTn id="38" presetID="22" presetClass="entr" presetSubtype="4"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51" fill="hold">
                            <p:stCondLst>
                              <p:cond delay="228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up)">
                                      <p:cBhvr>
                                        <p:cTn id="47" dur="500"/>
                                        <p:tgtEl>
                                          <p:spTgt spid="1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8" fill="hold">
                            <p:stCondLst>
                              <p:cond delay="2660"/>
                            </p:stCondLst>
                            <p:childTnLst>
                              <p:par>
                                <p:cTn id="52" presetID="22" presetClass="entr" presetSubtype="4"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par>
                          <p:cTn id="65" fill="hold">
                            <p:stCondLst>
                              <p:cond delay="3040"/>
                            </p:stCondLst>
                            <p:childTnLst>
                              <p:par>
                                <p:cTn id="59" presetID="22" presetClass="entr" presetSubtype="4"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up)">
                                      <p:cBhvr>
                                        <p:cTn id="61" dur="500"/>
                                        <p:tgtEl>
                                          <p:spTgt spid="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up)">
                                      <p:cBhvr>
                                        <p:cTn id="64" dur="500"/>
                                        <p:tgtEl>
                                          <p:spTgt spid="8"/>
                                        </p:tgtEl>
                                      </p:cBhvr>
                                    </p:animEffect>
                                  </p:childTnLst>
                                </p:cTn>
                              </p:par>
                            </p:childTnLst>
                          </p:cTn>
                        </p:par>
                        <p:par>
                          <p:cTn id="72" fill="hold">
                            <p:stCondLst>
                              <p:cond delay="342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85" fill="hold">
                            <p:stCondLst>
                              <p:cond delay="38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par>
                          <p:cTn id="146" fill="hold">
                            <p:stCondLst>
                              <p:cond delay="418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45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45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450"/>
                                        <p:tgtEl>
                                          <p:spTgt spid="48"/>
                                        </p:tgtEl>
                                      </p:cBhvr>
                                    </p:animEffect>
                                  </p:childTnLst>
                                </p:cTn>
                              </p:par>
                            </p:childTnLst>
                          </p:cTn>
                        </p:par>
                        <p:par>
                          <p:cTn id="150" fill="hold">
                            <p:stCondLst>
                              <p:cond delay="4560"/>
                            </p:stCondLst>
                            <p:childTnLst>
                              <p:par>
                                <p:cTn id="147" presetID="10" presetClass="entr" presetSubtype="0"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Effect transition="in" filter="fade">
                                      <p:cBhvr>
                                        <p:cTn id="149"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Lst>
  </p:timing>
</p:sld>
</file>

<file path=ppt/slides/slide2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3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Is anyone actually using it?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Is anyone actually using it?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Live with Ameriprise's frontend team, and scaling</a:t>
            </a:r>
            <a:endParaRPr lang="en-US" sz="2800" dirty="0"/>
          </a:p>
        </p:txBody>
      </p:sp>
      <p:pic>
        <p:nvPicPr>
          <p:cNvPr id="5" name="a1f_i_434" descr="preencoded.png">    </p:cNvPr>
          <p:cNvPicPr>
            <a:picLocks noChangeAspect="1"/>
          </p:cNvPicPr>
          <p:nvPr/>
        </p:nvPicPr>
        <p:blipFill>
          <a:blip r:embed="rId1"/>
          <a:stretch>
            <a:fillRect/>
          </a:stretch>
        </p:blipFill>
        <p:spPr>
          <a:xfrm>
            <a:off x="548640" y="1874520"/>
            <a:ext cx="329184" cy="329184"/>
          </a:xfrm>
          <a:prstGeom prst="rect">
            <a:avLst/>
          </a:prstGeom>
        </p:spPr>
      </p:pic>
      <p:pic>
        <p:nvPicPr>
          <p:cNvPr id="6" name="a1f_i_435" descr="preencoded.png">    </p:cNvPr>
          <p:cNvPicPr>
            <a:picLocks noChangeAspect="1"/>
          </p:cNvPicPr>
          <p:nvPr/>
        </p:nvPicPr>
        <p:blipFill>
          <a:blip r:embed="rId2"/>
          <a:stretch>
            <a:fillRect/>
          </a:stretch>
        </p:blipFill>
        <p:spPr>
          <a:xfrm>
            <a:off x="969264" y="1874520"/>
            <a:ext cx="329184" cy="329184"/>
          </a:xfrm>
          <a:prstGeom prst="rect">
            <a:avLst/>
          </a:prstGeom>
        </p:spPr>
      </p:pic>
      <p:pic>
        <p:nvPicPr>
          <p:cNvPr id="7" name="a1f_i_436" descr="preencoded.png">    </p:cNvPr>
          <p:cNvPicPr>
            <a:picLocks noChangeAspect="1"/>
          </p:cNvPicPr>
          <p:nvPr/>
        </p:nvPicPr>
        <p:blipFill>
          <a:blip r:embed="rId3"/>
          <a:stretch>
            <a:fillRect/>
          </a:stretch>
        </p:blipFill>
        <p:spPr>
          <a:xfrm>
            <a:off x="1389888" y="1874520"/>
            <a:ext cx="329184" cy="329184"/>
          </a:xfrm>
          <a:prstGeom prst="rect">
            <a:avLst/>
          </a:prstGeom>
        </p:spPr>
      </p:pic>
      <p:pic>
        <p:nvPicPr>
          <p:cNvPr id="8" name="a1f_i_437" descr="preencoded.png">    </p:cNvPr>
          <p:cNvPicPr>
            <a:picLocks noChangeAspect="1"/>
          </p:cNvPicPr>
          <p:nvPr/>
        </p:nvPicPr>
        <p:blipFill>
          <a:blip r:embed="rId4"/>
          <a:stretch>
            <a:fillRect/>
          </a:stretch>
        </p:blipFill>
        <p:spPr>
          <a:xfrm>
            <a:off x="1810512" y="1874520"/>
            <a:ext cx="329184" cy="329184"/>
          </a:xfrm>
          <a:prstGeom prst="rect">
            <a:avLst/>
          </a:prstGeom>
        </p:spPr>
      </p:pic>
      <p:pic>
        <p:nvPicPr>
          <p:cNvPr id="9" name="a1f_i_438" descr="preencoded.png">    </p:cNvPr>
          <p:cNvPicPr>
            <a:picLocks noChangeAspect="1"/>
          </p:cNvPicPr>
          <p:nvPr/>
        </p:nvPicPr>
        <p:blipFill>
          <a:blip r:embed="rId5"/>
          <a:stretch>
            <a:fillRect/>
          </a:stretch>
        </p:blipFill>
        <p:spPr>
          <a:xfrm>
            <a:off x="2231136" y="1874520"/>
            <a:ext cx="329184" cy="329184"/>
          </a:xfrm>
          <a:prstGeom prst="rect">
            <a:avLst/>
          </a:prstGeom>
        </p:spPr>
      </p:pic>
      <p:pic>
        <p:nvPicPr>
          <p:cNvPr id="10" name="a1f_i_439" descr="preencoded.png">    </p:cNvPr>
          <p:cNvPicPr>
            <a:picLocks noChangeAspect="1"/>
          </p:cNvPicPr>
          <p:nvPr/>
        </p:nvPicPr>
        <p:blipFill>
          <a:blip r:embed="rId6"/>
          <a:stretch>
            <a:fillRect/>
          </a:stretch>
        </p:blipFill>
        <p:spPr>
          <a:xfrm>
            <a:off x="2651760" y="1874520"/>
            <a:ext cx="329184" cy="329184"/>
          </a:xfrm>
          <a:prstGeom prst="rect">
            <a:avLst/>
          </a:prstGeom>
        </p:spPr>
      </p:pic>
      <p:pic>
        <p:nvPicPr>
          <p:cNvPr id="11" name="a1f_i_440" descr="preencoded.png">    </p:cNvPr>
          <p:cNvPicPr>
            <a:picLocks noChangeAspect="1"/>
          </p:cNvPicPr>
          <p:nvPr/>
        </p:nvPicPr>
        <p:blipFill>
          <a:blip r:embed="rId7"/>
          <a:stretch>
            <a:fillRect/>
          </a:stretch>
        </p:blipFill>
        <p:spPr>
          <a:xfrm>
            <a:off x="3072384" y="1874520"/>
            <a:ext cx="329184" cy="329184"/>
          </a:xfrm>
          <a:prstGeom prst="rect">
            <a:avLst/>
          </a:prstGeom>
        </p:spPr>
      </p:pic>
      <p:pic>
        <p:nvPicPr>
          <p:cNvPr id="12" name="a1f_i_441" descr="preencoded.png">    </p:cNvPr>
          <p:cNvPicPr>
            <a:picLocks noChangeAspect="1"/>
          </p:cNvPicPr>
          <p:nvPr/>
        </p:nvPicPr>
        <p:blipFill>
          <a:blip r:embed="rId8"/>
          <a:stretch>
            <a:fillRect/>
          </a:stretch>
        </p:blipFill>
        <p:spPr>
          <a:xfrm>
            <a:off x="3493008" y="1874520"/>
            <a:ext cx="329184" cy="329184"/>
          </a:xfrm>
          <a:prstGeom prst="rect">
            <a:avLst/>
          </a:prstGeom>
        </p:spPr>
      </p:pic>
      <p:pic>
        <p:nvPicPr>
          <p:cNvPr id="13" name="a1f_i_442" descr="preencoded.png">    </p:cNvPr>
          <p:cNvPicPr>
            <a:picLocks noChangeAspect="1"/>
          </p:cNvPicPr>
          <p:nvPr/>
        </p:nvPicPr>
        <p:blipFill>
          <a:blip r:embed="rId9"/>
          <a:stretch>
            <a:fillRect/>
          </a:stretch>
        </p:blipFill>
        <p:spPr>
          <a:xfrm>
            <a:off x="3913632" y="1874520"/>
            <a:ext cx="329184" cy="329184"/>
          </a:xfrm>
          <a:prstGeom prst="rect">
            <a:avLst/>
          </a:prstGeom>
        </p:spPr>
      </p:pic>
      <p:pic>
        <p:nvPicPr>
          <p:cNvPr id="14" name="a1f_i_443" descr="preencoded.png">    </p:cNvPr>
          <p:cNvPicPr>
            <a:picLocks noChangeAspect="1"/>
          </p:cNvPicPr>
          <p:nvPr/>
        </p:nvPicPr>
        <p:blipFill>
          <a:blip r:embed="rId10"/>
          <a:stretch>
            <a:fillRect/>
          </a:stretch>
        </p:blipFill>
        <p:spPr>
          <a:xfrm>
            <a:off x="4334256" y="1874520"/>
            <a:ext cx="329184" cy="329184"/>
          </a:xfrm>
          <a:prstGeom prst="rect">
            <a:avLst/>
          </a:prstGeom>
        </p:spPr>
      </p:pic>
      <p:pic>
        <p:nvPicPr>
          <p:cNvPr id="15" name="a1f_i_444" descr="preencoded.png">    </p:cNvPr>
          <p:cNvPicPr>
            <a:picLocks noChangeAspect="1"/>
          </p:cNvPicPr>
          <p:nvPr/>
        </p:nvPicPr>
        <p:blipFill>
          <a:blip r:embed="rId11"/>
          <a:stretch>
            <a:fillRect/>
          </a:stretch>
        </p:blipFill>
        <p:spPr>
          <a:xfrm>
            <a:off x="548640" y="2331720"/>
            <a:ext cx="329184" cy="329184"/>
          </a:xfrm>
          <a:prstGeom prst="rect">
            <a:avLst/>
          </a:prstGeom>
        </p:spPr>
      </p:pic>
      <p:pic>
        <p:nvPicPr>
          <p:cNvPr id="16" name="a1f_i_445" descr="preencoded.png">    </p:cNvPr>
          <p:cNvPicPr>
            <a:picLocks noChangeAspect="1"/>
          </p:cNvPicPr>
          <p:nvPr/>
        </p:nvPicPr>
        <p:blipFill>
          <a:blip r:embed="rId12"/>
          <a:stretch>
            <a:fillRect/>
          </a:stretch>
        </p:blipFill>
        <p:spPr>
          <a:xfrm>
            <a:off x="969264" y="2331720"/>
            <a:ext cx="329184" cy="329184"/>
          </a:xfrm>
          <a:prstGeom prst="rect">
            <a:avLst/>
          </a:prstGeom>
        </p:spPr>
      </p:pic>
      <p:pic>
        <p:nvPicPr>
          <p:cNvPr id="17" name="a1f_i_446" descr="preencoded.png">    </p:cNvPr>
          <p:cNvPicPr>
            <a:picLocks noChangeAspect="1"/>
          </p:cNvPicPr>
          <p:nvPr/>
        </p:nvPicPr>
        <p:blipFill>
          <a:blip r:embed="rId13"/>
          <a:stretch>
            <a:fillRect/>
          </a:stretch>
        </p:blipFill>
        <p:spPr>
          <a:xfrm>
            <a:off x="1389888" y="2331720"/>
            <a:ext cx="329184" cy="329184"/>
          </a:xfrm>
          <a:prstGeom prst="rect">
            <a:avLst/>
          </a:prstGeom>
        </p:spPr>
      </p:pic>
      <p:pic>
        <p:nvPicPr>
          <p:cNvPr id="18" name="a1f_i_447" descr="preencoded.png">    </p:cNvPr>
          <p:cNvPicPr>
            <a:picLocks noChangeAspect="1"/>
          </p:cNvPicPr>
          <p:nvPr/>
        </p:nvPicPr>
        <p:blipFill>
          <a:blip r:embed="rId14"/>
          <a:stretch>
            <a:fillRect/>
          </a:stretch>
        </p:blipFill>
        <p:spPr>
          <a:xfrm>
            <a:off x="1810512" y="2331720"/>
            <a:ext cx="329184" cy="329184"/>
          </a:xfrm>
          <a:prstGeom prst="rect">
            <a:avLst/>
          </a:prstGeom>
        </p:spPr>
      </p:pic>
      <p:pic>
        <p:nvPicPr>
          <p:cNvPr id="19" name="a1f_i_448" descr="preencoded.png">    </p:cNvPr>
          <p:cNvPicPr>
            <a:picLocks noChangeAspect="1"/>
          </p:cNvPicPr>
          <p:nvPr/>
        </p:nvPicPr>
        <p:blipFill>
          <a:blip r:embed="rId15"/>
          <a:stretch>
            <a:fillRect/>
          </a:stretch>
        </p:blipFill>
        <p:spPr>
          <a:xfrm>
            <a:off x="2231136" y="2331720"/>
            <a:ext cx="329184" cy="329184"/>
          </a:xfrm>
          <a:prstGeom prst="rect">
            <a:avLst/>
          </a:prstGeom>
        </p:spPr>
      </p:pic>
      <p:pic>
        <p:nvPicPr>
          <p:cNvPr id="20" name="a1f_i_449" descr="preencoded.png">    </p:cNvPr>
          <p:cNvPicPr>
            <a:picLocks noChangeAspect="1"/>
          </p:cNvPicPr>
          <p:nvPr/>
        </p:nvPicPr>
        <p:blipFill>
          <a:blip r:embed="rId16"/>
          <a:stretch>
            <a:fillRect/>
          </a:stretch>
        </p:blipFill>
        <p:spPr>
          <a:xfrm>
            <a:off x="2651760" y="2331720"/>
            <a:ext cx="329184" cy="329184"/>
          </a:xfrm>
          <a:prstGeom prst="rect">
            <a:avLst/>
          </a:prstGeom>
        </p:spPr>
      </p:pic>
      <p:pic>
        <p:nvPicPr>
          <p:cNvPr id="21" name="a1f_i_450" descr="preencoded.png">    </p:cNvPr>
          <p:cNvPicPr>
            <a:picLocks noChangeAspect="1"/>
          </p:cNvPicPr>
          <p:nvPr/>
        </p:nvPicPr>
        <p:blipFill>
          <a:blip r:embed="rId17"/>
          <a:stretch>
            <a:fillRect/>
          </a:stretch>
        </p:blipFill>
        <p:spPr>
          <a:xfrm>
            <a:off x="3072384" y="2331720"/>
            <a:ext cx="329184" cy="329184"/>
          </a:xfrm>
          <a:prstGeom prst="rect">
            <a:avLst/>
          </a:prstGeom>
        </p:spPr>
      </p:pic>
      <p:pic>
        <p:nvPicPr>
          <p:cNvPr id="22" name="a1f_i_451" descr="preencoded.png">    </p:cNvPr>
          <p:cNvPicPr>
            <a:picLocks noChangeAspect="1"/>
          </p:cNvPicPr>
          <p:nvPr/>
        </p:nvPicPr>
        <p:blipFill>
          <a:blip r:embed="rId18"/>
          <a:stretch>
            <a:fillRect/>
          </a:stretch>
        </p:blipFill>
        <p:spPr>
          <a:xfrm>
            <a:off x="3493008" y="2331720"/>
            <a:ext cx="329184" cy="329184"/>
          </a:xfrm>
          <a:prstGeom prst="rect">
            <a:avLst/>
          </a:prstGeom>
        </p:spPr>
      </p:pic>
      <p:pic>
        <p:nvPicPr>
          <p:cNvPr id="23" name="a1f_i_452" descr="preencoded.png">    </p:cNvPr>
          <p:cNvPicPr>
            <a:picLocks noChangeAspect="1"/>
          </p:cNvPicPr>
          <p:nvPr/>
        </p:nvPicPr>
        <p:blipFill>
          <a:blip r:embed="rId19"/>
          <a:stretch>
            <a:fillRect/>
          </a:stretch>
        </p:blipFill>
        <p:spPr>
          <a:xfrm>
            <a:off x="3913632" y="2331720"/>
            <a:ext cx="329184" cy="329184"/>
          </a:xfrm>
          <a:prstGeom prst="rect">
            <a:avLst/>
          </a:prstGeom>
        </p:spPr>
      </p:pic>
      <p:pic>
        <p:nvPicPr>
          <p:cNvPr id="24" name="a1f_i_453" descr="preencoded.png">    </p:cNvPr>
          <p:cNvPicPr>
            <a:picLocks noChangeAspect="1"/>
          </p:cNvPicPr>
          <p:nvPr/>
        </p:nvPicPr>
        <p:blipFill>
          <a:blip r:embed="rId20"/>
          <a:stretch>
            <a:fillRect/>
          </a:stretch>
        </p:blipFill>
        <p:spPr>
          <a:xfrm>
            <a:off x="4334256" y="2331720"/>
            <a:ext cx="329184" cy="329184"/>
          </a:xfrm>
          <a:prstGeom prst="rect">
            <a:avLst/>
          </a:prstGeom>
        </p:spPr>
      </p:pic>
      <p:pic>
        <p:nvPicPr>
          <p:cNvPr id="25" name="a1f_i_454" descr="preencoded.png">    </p:cNvPr>
          <p:cNvPicPr>
            <a:picLocks noChangeAspect="1"/>
          </p:cNvPicPr>
          <p:nvPr/>
        </p:nvPicPr>
        <p:blipFill>
          <a:blip r:embed="rId21"/>
          <a:stretch>
            <a:fillRect/>
          </a:stretch>
        </p:blipFill>
        <p:spPr>
          <a:xfrm>
            <a:off x="548640" y="2788920"/>
            <a:ext cx="329184" cy="329184"/>
          </a:xfrm>
          <a:prstGeom prst="rect">
            <a:avLst/>
          </a:prstGeom>
        </p:spPr>
      </p:pic>
      <p:pic>
        <p:nvPicPr>
          <p:cNvPr id="26" name="a1f_i_455" descr="preencoded.png">    </p:cNvPr>
          <p:cNvPicPr>
            <a:picLocks noChangeAspect="1"/>
          </p:cNvPicPr>
          <p:nvPr/>
        </p:nvPicPr>
        <p:blipFill>
          <a:blip r:embed="rId22"/>
          <a:stretch>
            <a:fillRect/>
          </a:stretch>
        </p:blipFill>
        <p:spPr>
          <a:xfrm>
            <a:off x="969264" y="2788920"/>
            <a:ext cx="329184" cy="329184"/>
          </a:xfrm>
          <a:prstGeom prst="rect">
            <a:avLst/>
          </a:prstGeom>
        </p:spPr>
      </p:pic>
      <p:pic>
        <p:nvPicPr>
          <p:cNvPr id="27" name="a1f_i_456" descr="preencoded.png">    </p:cNvPr>
          <p:cNvPicPr>
            <a:picLocks noChangeAspect="1"/>
          </p:cNvPicPr>
          <p:nvPr/>
        </p:nvPicPr>
        <p:blipFill>
          <a:blip r:embed="rId23"/>
          <a:stretch>
            <a:fillRect/>
          </a:stretch>
        </p:blipFill>
        <p:spPr>
          <a:xfrm>
            <a:off x="1389888" y="2788920"/>
            <a:ext cx="329184" cy="329184"/>
          </a:xfrm>
          <a:prstGeom prst="rect">
            <a:avLst/>
          </a:prstGeom>
        </p:spPr>
      </p:pic>
      <p:pic>
        <p:nvPicPr>
          <p:cNvPr id="28" name="a1f_i_457" descr="preencoded.png">    </p:cNvPr>
          <p:cNvPicPr>
            <a:picLocks noChangeAspect="1"/>
          </p:cNvPicPr>
          <p:nvPr/>
        </p:nvPicPr>
        <p:blipFill>
          <a:blip r:embed="rId24"/>
          <a:stretch>
            <a:fillRect/>
          </a:stretch>
        </p:blipFill>
        <p:spPr>
          <a:xfrm>
            <a:off x="1810512" y="2788920"/>
            <a:ext cx="329184" cy="329184"/>
          </a:xfrm>
          <a:prstGeom prst="rect">
            <a:avLst/>
          </a:prstGeom>
        </p:spPr>
      </p:pic>
      <p:pic>
        <p:nvPicPr>
          <p:cNvPr id="29" name="a1f_i_458" descr="preencoded.png">    </p:cNvPr>
          <p:cNvPicPr>
            <a:picLocks noChangeAspect="1"/>
          </p:cNvPicPr>
          <p:nvPr/>
        </p:nvPicPr>
        <p:blipFill>
          <a:blip r:embed="rId25"/>
          <a:stretch>
            <a:fillRect/>
          </a:stretch>
        </p:blipFill>
        <p:spPr>
          <a:xfrm>
            <a:off x="2231136" y="2788920"/>
            <a:ext cx="329184" cy="329184"/>
          </a:xfrm>
          <a:prstGeom prst="rect">
            <a:avLst/>
          </a:prstGeom>
        </p:spPr>
      </p:pic>
      <p:pic>
        <p:nvPicPr>
          <p:cNvPr id="30" name="a1f_i_459" descr="preencoded.png">    </p:cNvPr>
          <p:cNvPicPr>
            <a:picLocks noChangeAspect="1"/>
          </p:cNvPicPr>
          <p:nvPr/>
        </p:nvPicPr>
        <p:blipFill>
          <a:blip r:embed="rId26"/>
          <a:stretch>
            <a:fillRect/>
          </a:stretch>
        </p:blipFill>
        <p:spPr>
          <a:xfrm>
            <a:off x="2651760" y="2788920"/>
            <a:ext cx="329184" cy="329184"/>
          </a:xfrm>
          <a:prstGeom prst="rect">
            <a:avLst/>
          </a:prstGeom>
        </p:spPr>
      </p:pic>
      <p:pic>
        <p:nvPicPr>
          <p:cNvPr id="31" name="a1f_i_460" descr="preencoded.png">    </p:cNvPr>
          <p:cNvPicPr>
            <a:picLocks noChangeAspect="1"/>
          </p:cNvPicPr>
          <p:nvPr/>
        </p:nvPicPr>
        <p:blipFill>
          <a:blip r:embed="rId27"/>
          <a:stretch>
            <a:fillRect/>
          </a:stretch>
        </p:blipFill>
        <p:spPr>
          <a:xfrm>
            <a:off x="3072384" y="2788920"/>
            <a:ext cx="329184" cy="329184"/>
          </a:xfrm>
          <a:prstGeom prst="rect">
            <a:avLst/>
          </a:prstGeom>
        </p:spPr>
      </p:pic>
      <p:pic>
        <p:nvPicPr>
          <p:cNvPr id="32" name="a1f_i_461" descr="preencoded.png">    </p:cNvPr>
          <p:cNvPicPr>
            <a:picLocks noChangeAspect="1"/>
          </p:cNvPicPr>
          <p:nvPr/>
        </p:nvPicPr>
        <p:blipFill>
          <a:blip r:embed="rId28"/>
          <a:stretch>
            <a:fillRect/>
          </a:stretch>
        </p:blipFill>
        <p:spPr>
          <a:xfrm>
            <a:off x="3493008" y="2788920"/>
            <a:ext cx="329184" cy="329184"/>
          </a:xfrm>
          <a:prstGeom prst="rect">
            <a:avLst/>
          </a:prstGeom>
        </p:spPr>
      </p:pic>
      <p:pic>
        <p:nvPicPr>
          <p:cNvPr id="33" name="a1f_i_462" descr="preencoded.png">    </p:cNvPr>
          <p:cNvPicPr>
            <a:picLocks noChangeAspect="1"/>
          </p:cNvPicPr>
          <p:nvPr/>
        </p:nvPicPr>
        <p:blipFill>
          <a:blip r:embed="rId29"/>
          <a:stretch>
            <a:fillRect/>
          </a:stretch>
        </p:blipFill>
        <p:spPr>
          <a:xfrm>
            <a:off x="3913632" y="2788920"/>
            <a:ext cx="329184" cy="329184"/>
          </a:xfrm>
          <a:prstGeom prst="rect">
            <a:avLst/>
          </a:prstGeom>
        </p:spPr>
      </p:pic>
      <p:pic>
        <p:nvPicPr>
          <p:cNvPr id="34" name="a1f_i_463" descr="preencoded.png">    </p:cNvPr>
          <p:cNvPicPr>
            <a:picLocks noChangeAspect="1"/>
          </p:cNvPicPr>
          <p:nvPr/>
        </p:nvPicPr>
        <p:blipFill>
          <a:blip r:embed="rId30"/>
          <a:stretch>
            <a:fillRect/>
          </a:stretch>
        </p:blipFill>
        <p:spPr>
          <a:xfrm>
            <a:off x="4334256" y="2788920"/>
            <a:ext cx="329184" cy="329184"/>
          </a:xfrm>
          <a:prstGeom prst="rect">
            <a:avLst/>
          </a:prstGeom>
        </p:spPr>
      </p:pic>
      <p:pic>
        <p:nvPicPr>
          <p:cNvPr id="35" name="a1f_i_464" descr="preencoded.png">    </p:cNvPr>
          <p:cNvPicPr>
            <a:picLocks noChangeAspect="1"/>
          </p:cNvPicPr>
          <p:nvPr/>
        </p:nvPicPr>
        <p:blipFill>
          <a:blip r:embed="rId31"/>
          <a:stretch>
            <a:fillRect/>
          </a:stretch>
        </p:blipFill>
        <p:spPr>
          <a:xfrm>
            <a:off x="548640" y="3246120"/>
            <a:ext cx="329184" cy="329184"/>
          </a:xfrm>
          <a:prstGeom prst="rect">
            <a:avLst/>
          </a:prstGeom>
        </p:spPr>
      </p:pic>
      <p:pic>
        <p:nvPicPr>
          <p:cNvPr id="36" name="a1f_i_465" descr="preencoded.png">    </p:cNvPr>
          <p:cNvPicPr>
            <a:picLocks noChangeAspect="1"/>
          </p:cNvPicPr>
          <p:nvPr/>
        </p:nvPicPr>
        <p:blipFill>
          <a:blip r:embed="rId32"/>
          <a:stretch>
            <a:fillRect/>
          </a:stretch>
        </p:blipFill>
        <p:spPr>
          <a:xfrm>
            <a:off x="969264" y="3246120"/>
            <a:ext cx="329184" cy="329184"/>
          </a:xfrm>
          <a:prstGeom prst="rect">
            <a:avLst/>
          </a:prstGeom>
        </p:spPr>
      </p:pic>
      <p:pic>
        <p:nvPicPr>
          <p:cNvPr id="37" name="a1f_i_466" descr="preencoded.png">    </p:cNvPr>
          <p:cNvPicPr>
            <a:picLocks noChangeAspect="1"/>
          </p:cNvPicPr>
          <p:nvPr/>
        </p:nvPicPr>
        <p:blipFill>
          <a:blip r:embed="rId33"/>
          <a:stretch>
            <a:fillRect/>
          </a:stretch>
        </p:blipFill>
        <p:spPr>
          <a:xfrm>
            <a:off x="1389888" y="3246120"/>
            <a:ext cx="329184" cy="329184"/>
          </a:xfrm>
          <a:prstGeom prst="rect">
            <a:avLst/>
          </a:prstGeom>
        </p:spPr>
      </p:pic>
      <p:pic>
        <p:nvPicPr>
          <p:cNvPr id="38" name="a1f_i_467" descr="preencoded.png">    </p:cNvPr>
          <p:cNvPicPr>
            <a:picLocks noChangeAspect="1"/>
          </p:cNvPicPr>
          <p:nvPr/>
        </p:nvPicPr>
        <p:blipFill>
          <a:blip r:embed="rId34"/>
          <a:stretch>
            <a:fillRect/>
          </a:stretch>
        </p:blipFill>
        <p:spPr>
          <a:xfrm>
            <a:off x="1810512" y="3246120"/>
            <a:ext cx="329184" cy="329184"/>
          </a:xfrm>
          <a:prstGeom prst="rect">
            <a:avLst/>
          </a:prstGeom>
        </p:spPr>
      </p:pic>
      <p:pic>
        <p:nvPicPr>
          <p:cNvPr id="39" name="a1f_i_468" descr="preencoded.png">    </p:cNvPr>
          <p:cNvPicPr>
            <a:picLocks noChangeAspect="1"/>
          </p:cNvPicPr>
          <p:nvPr/>
        </p:nvPicPr>
        <p:blipFill>
          <a:blip r:embed="rId35"/>
          <a:stretch>
            <a:fillRect/>
          </a:stretch>
        </p:blipFill>
        <p:spPr>
          <a:xfrm>
            <a:off x="2231136" y="3246120"/>
            <a:ext cx="329184" cy="329184"/>
          </a:xfrm>
          <a:prstGeom prst="rect">
            <a:avLst/>
          </a:prstGeom>
        </p:spPr>
      </p:pic>
      <p:pic>
        <p:nvPicPr>
          <p:cNvPr id="40" name="a1f_i_469" descr="preencoded.png">    </p:cNvPr>
          <p:cNvPicPr>
            <a:picLocks noChangeAspect="1"/>
          </p:cNvPicPr>
          <p:nvPr/>
        </p:nvPicPr>
        <p:blipFill>
          <a:blip r:embed="rId36"/>
          <a:stretch>
            <a:fillRect/>
          </a:stretch>
        </p:blipFill>
        <p:spPr>
          <a:xfrm>
            <a:off x="2651760" y="3246120"/>
            <a:ext cx="329184" cy="329184"/>
          </a:xfrm>
          <a:prstGeom prst="rect">
            <a:avLst/>
          </a:prstGeom>
        </p:spPr>
      </p:pic>
      <p:pic>
        <p:nvPicPr>
          <p:cNvPr id="41" name="a1f_i_470" descr="preencoded.png">    </p:cNvPr>
          <p:cNvPicPr>
            <a:picLocks noChangeAspect="1"/>
          </p:cNvPicPr>
          <p:nvPr/>
        </p:nvPicPr>
        <p:blipFill>
          <a:blip r:embed="rId37"/>
          <a:stretch>
            <a:fillRect/>
          </a:stretch>
        </p:blipFill>
        <p:spPr>
          <a:xfrm>
            <a:off x="3072384" y="3246120"/>
            <a:ext cx="329184" cy="329184"/>
          </a:xfrm>
          <a:prstGeom prst="rect">
            <a:avLst/>
          </a:prstGeom>
        </p:spPr>
      </p:pic>
      <p:pic>
        <p:nvPicPr>
          <p:cNvPr id="42" name="a1f_i_471" descr="preencoded.png">    </p:cNvPr>
          <p:cNvPicPr>
            <a:picLocks noChangeAspect="1"/>
          </p:cNvPicPr>
          <p:nvPr/>
        </p:nvPicPr>
        <p:blipFill>
          <a:blip r:embed="rId38"/>
          <a:stretch>
            <a:fillRect/>
          </a:stretch>
        </p:blipFill>
        <p:spPr>
          <a:xfrm>
            <a:off x="3493008" y="3246120"/>
            <a:ext cx="329184" cy="329184"/>
          </a:xfrm>
          <a:prstGeom prst="rect">
            <a:avLst/>
          </a:prstGeom>
        </p:spPr>
      </p:pic>
      <p:pic>
        <p:nvPicPr>
          <p:cNvPr id="43" name="a1f_i_472" descr="preencoded.png">    </p:cNvPr>
          <p:cNvPicPr>
            <a:picLocks noChangeAspect="1"/>
          </p:cNvPicPr>
          <p:nvPr/>
        </p:nvPicPr>
        <p:blipFill>
          <a:blip r:embed="rId39"/>
          <a:stretch>
            <a:fillRect/>
          </a:stretch>
        </p:blipFill>
        <p:spPr>
          <a:xfrm>
            <a:off x="3913632" y="3246120"/>
            <a:ext cx="329184" cy="329184"/>
          </a:xfrm>
          <a:prstGeom prst="rect">
            <a:avLst/>
          </a:prstGeom>
        </p:spPr>
      </p:pic>
      <p:pic>
        <p:nvPicPr>
          <p:cNvPr id="44" name="a1f_i_473" descr="preencoded.png">    </p:cNvPr>
          <p:cNvPicPr>
            <a:picLocks noChangeAspect="1"/>
          </p:cNvPicPr>
          <p:nvPr/>
        </p:nvPicPr>
        <p:blipFill>
          <a:blip r:embed="rId40"/>
          <a:stretch>
            <a:fillRect/>
          </a:stretch>
        </p:blipFill>
        <p:spPr>
          <a:xfrm>
            <a:off x="4334256" y="3246120"/>
            <a:ext cx="329184" cy="329184"/>
          </a:xfrm>
          <a:prstGeom prst="rect">
            <a:avLst/>
          </a:prstGeom>
        </p:spPr>
      </p:pic>
      <p:pic>
        <p:nvPicPr>
          <p:cNvPr id="45" name="a1f_i_474" descr="preencoded.png">    </p:cNvPr>
          <p:cNvPicPr>
            <a:picLocks noChangeAspect="1"/>
          </p:cNvPicPr>
          <p:nvPr/>
        </p:nvPicPr>
        <p:blipFill>
          <a:blip r:embed="rId41"/>
          <a:stretch>
            <a:fillRect/>
          </a:stretch>
        </p:blipFill>
        <p:spPr>
          <a:xfrm>
            <a:off x="548640" y="3703320"/>
            <a:ext cx="329184" cy="329184"/>
          </a:xfrm>
          <a:prstGeom prst="rect">
            <a:avLst/>
          </a:prstGeom>
        </p:spPr>
      </p:pic>
      <p:pic>
        <p:nvPicPr>
          <p:cNvPr id="46" name="a1f_i_475" descr="preencoded.png">    </p:cNvPr>
          <p:cNvPicPr>
            <a:picLocks noChangeAspect="1"/>
          </p:cNvPicPr>
          <p:nvPr/>
        </p:nvPicPr>
        <p:blipFill>
          <a:blip r:embed="rId42"/>
          <a:stretch>
            <a:fillRect/>
          </a:stretch>
        </p:blipFill>
        <p:spPr>
          <a:xfrm>
            <a:off x="969264" y="3703320"/>
            <a:ext cx="329184" cy="329184"/>
          </a:xfrm>
          <a:prstGeom prst="rect">
            <a:avLst/>
          </a:prstGeom>
        </p:spPr>
      </p:pic>
      <p:pic>
        <p:nvPicPr>
          <p:cNvPr id="47" name="a1f_i_476" descr="preencoded.png">    </p:cNvPr>
          <p:cNvPicPr>
            <a:picLocks noChangeAspect="1"/>
          </p:cNvPicPr>
          <p:nvPr/>
        </p:nvPicPr>
        <p:blipFill>
          <a:blip r:embed="rId43"/>
          <a:stretch>
            <a:fillRect/>
          </a:stretch>
        </p:blipFill>
        <p:spPr>
          <a:xfrm>
            <a:off x="1389888" y="3703320"/>
            <a:ext cx="329184" cy="329184"/>
          </a:xfrm>
          <a:prstGeom prst="rect">
            <a:avLst/>
          </a:prstGeom>
        </p:spPr>
      </p:pic>
      <p:pic>
        <p:nvPicPr>
          <p:cNvPr id="48" name="a1f_i_477" descr="preencoded.png">    </p:cNvPr>
          <p:cNvPicPr>
            <a:picLocks noChangeAspect="1"/>
          </p:cNvPicPr>
          <p:nvPr/>
        </p:nvPicPr>
        <p:blipFill>
          <a:blip r:embed="rId44"/>
          <a:stretch>
            <a:fillRect/>
          </a:stretch>
        </p:blipFill>
        <p:spPr>
          <a:xfrm>
            <a:off x="1810512" y="3703320"/>
            <a:ext cx="329184" cy="329184"/>
          </a:xfrm>
          <a:prstGeom prst="rect">
            <a:avLst/>
          </a:prstGeom>
        </p:spPr>
      </p:pic>
      <p:pic>
        <p:nvPicPr>
          <p:cNvPr id="49" name="a1f_i_478" descr="preencoded.png">    </p:cNvPr>
          <p:cNvPicPr>
            <a:picLocks noChangeAspect="1"/>
          </p:cNvPicPr>
          <p:nvPr/>
        </p:nvPicPr>
        <p:blipFill>
          <a:blip r:embed="rId45"/>
          <a:stretch>
            <a:fillRect/>
          </a:stretch>
        </p:blipFill>
        <p:spPr>
          <a:xfrm>
            <a:off x="2231136" y="3703320"/>
            <a:ext cx="329184" cy="329184"/>
          </a:xfrm>
          <a:prstGeom prst="rect">
            <a:avLst/>
          </a:prstGeom>
        </p:spPr>
      </p:pic>
      <p:pic>
        <p:nvPicPr>
          <p:cNvPr id="50" name="a1f_i_479" descr="preencoded.png">    </p:cNvPr>
          <p:cNvPicPr>
            <a:picLocks noChangeAspect="1"/>
          </p:cNvPicPr>
          <p:nvPr/>
        </p:nvPicPr>
        <p:blipFill>
          <a:blip r:embed="rId46"/>
          <a:stretch>
            <a:fillRect/>
          </a:stretch>
        </p:blipFill>
        <p:spPr>
          <a:xfrm>
            <a:off x="2651760" y="3703320"/>
            <a:ext cx="329184" cy="329184"/>
          </a:xfrm>
          <a:prstGeom prst="rect">
            <a:avLst/>
          </a:prstGeom>
        </p:spPr>
      </p:pic>
      <p:pic>
        <p:nvPicPr>
          <p:cNvPr id="51" name="a1f_i_480" descr="preencoded.png">    </p:cNvPr>
          <p:cNvPicPr>
            <a:picLocks noChangeAspect="1"/>
          </p:cNvPicPr>
          <p:nvPr/>
        </p:nvPicPr>
        <p:blipFill>
          <a:blip r:embed="rId47"/>
          <a:stretch>
            <a:fillRect/>
          </a:stretch>
        </p:blipFill>
        <p:spPr>
          <a:xfrm>
            <a:off x="3072384" y="3703320"/>
            <a:ext cx="329184" cy="329184"/>
          </a:xfrm>
          <a:prstGeom prst="rect">
            <a:avLst/>
          </a:prstGeom>
        </p:spPr>
      </p:pic>
      <p:pic>
        <p:nvPicPr>
          <p:cNvPr id="52" name="a1f_i_481" descr="preencoded.png">    </p:cNvPr>
          <p:cNvPicPr>
            <a:picLocks noChangeAspect="1"/>
          </p:cNvPicPr>
          <p:nvPr/>
        </p:nvPicPr>
        <p:blipFill>
          <a:blip r:embed="rId48"/>
          <a:stretch>
            <a:fillRect/>
          </a:stretch>
        </p:blipFill>
        <p:spPr>
          <a:xfrm>
            <a:off x="3493008" y="3703320"/>
            <a:ext cx="329184" cy="329184"/>
          </a:xfrm>
          <a:prstGeom prst="rect">
            <a:avLst/>
          </a:prstGeom>
        </p:spPr>
      </p:pic>
      <p:pic>
        <p:nvPicPr>
          <p:cNvPr id="53" name="a1f_i_482" descr="preencoded.png">    </p:cNvPr>
          <p:cNvPicPr>
            <a:picLocks noChangeAspect="1"/>
          </p:cNvPicPr>
          <p:nvPr/>
        </p:nvPicPr>
        <p:blipFill>
          <a:blip r:embed="rId49"/>
          <a:stretch>
            <a:fillRect/>
          </a:stretch>
        </p:blipFill>
        <p:spPr>
          <a:xfrm>
            <a:off x="3913632" y="3703320"/>
            <a:ext cx="329184" cy="329184"/>
          </a:xfrm>
          <a:prstGeom prst="rect">
            <a:avLst/>
          </a:prstGeom>
        </p:spPr>
      </p:pic>
      <p:pic>
        <p:nvPicPr>
          <p:cNvPr id="54" name="a1f_i_483" descr="preencoded.png">    </p:cNvPr>
          <p:cNvPicPr>
            <a:picLocks noChangeAspect="1"/>
          </p:cNvPicPr>
          <p:nvPr/>
        </p:nvPicPr>
        <p:blipFill>
          <a:blip r:embed="rId50"/>
          <a:stretch>
            <a:fillRect/>
          </a:stretch>
        </p:blipFill>
        <p:spPr>
          <a:xfrm>
            <a:off x="4334256" y="3703320"/>
            <a:ext cx="329184" cy="329184"/>
          </a:xfrm>
          <a:prstGeom prst="rect">
            <a:avLst/>
          </a:prstGeom>
        </p:spPr>
      </p:pic>
      <p:sp>
        <p:nvSpPr>
          <p:cNvPr id="55" name="a1f_t_484"/>
          <p:cNvSpPr txBox="1"/>
          <p:nvPr/>
        </p:nvSpPr>
        <p:spPr>
          <a:xfrm>
            <a:off x="548640" y="4251960"/>
            <a:ext cx="4389120" cy="320040"/>
          </a:xfrm>
          <a:prstGeom prst="rect">
            <a:avLst/>
          </a:prstGeom>
          <a:noFill/>
          <a:ln/>
        </p:spPr>
        <p:txBody>
          <a:bodyPr wrap="square" lIns="0" tIns="0" rIns="0" bIns="0" rtlCol="0" anchor="t"/>
          <a:lstStyle/>
          <a:p>
            <a:pPr algn="l" indent="0" marL="0">
              <a:buNone/>
            </a:pPr>
            <a:r>
              <a:rPr lang="en-US" sz="1500" b="1" dirty="0">
                <a:solidFill>
                  <a:schemeClr val="tx1"/>
                </a:solidFill>
              </a:rPr>
              <a:t>40–50 developers on the frontend team</a:t>
            </a:r>
            <a:endParaRPr lang="en-US" sz="1500" dirty="0"/>
          </a:p>
        </p:txBody>
      </p:sp>
      <p:sp>
        <p:nvSpPr>
          <p:cNvPr id="56" name="a2f_b_485"/>
          <p:cNvSpPr/>
          <p:nvPr/>
        </p:nvSpPr>
        <p:spPr>
          <a:xfrm>
            <a:off x="5394960" y="1783080"/>
            <a:ext cx="2990088" cy="1783080"/>
          </a:xfrm>
          <a:prstGeom prst="roundRect">
            <a:avLst>
              <a:gd name="adj" fmla="val 9231"/>
            </a:avLst>
          </a:prstGeom>
          <a:solidFill>
            <a:schemeClr val="bg2"/>
          </a:solidFill>
          <a:ln w="9525">
            <a:solidFill>
              <a:schemeClr val="accent3"/>
            </a:solidFill>
            <a:prstDash val="solid"/>
          </a:ln>
        </p:spPr>
      </p:sp>
      <p:sp>
        <p:nvSpPr>
          <p:cNvPr id="57" name="a2f_t_486"/>
          <p:cNvSpPr txBox="1"/>
          <p:nvPr/>
        </p:nvSpPr>
        <p:spPr>
          <a:xfrm>
            <a:off x="5669280"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40–50</a:t>
            </a:r>
            <a:endParaRPr lang="en-US" sz="4800" dirty="0"/>
          </a:p>
        </p:txBody>
      </p:sp>
      <p:sp>
        <p:nvSpPr>
          <p:cNvPr id="58" name="a2f_t_487"/>
          <p:cNvSpPr txBox="1"/>
          <p:nvPr/>
        </p:nvSpPr>
        <p:spPr>
          <a:xfrm>
            <a:off x="5669280"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developers using it</a:t>
            </a:r>
            <a:endParaRPr lang="en-US" sz="1300" dirty="0"/>
          </a:p>
        </p:txBody>
      </p:sp>
      <p:sp>
        <p:nvSpPr>
          <p:cNvPr id="59" name="a3f_b_488"/>
          <p:cNvSpPr/>
          <p:nvPr/>
        </p:nvSpPr>
        <p:spPr>
          <a:xfrm>
            <a:off x="8567928" y="1783080"/>
            <a:ext cx="2990088" cy="1783080"/>
          </a:xfrm>
          <a:prstGeom prst="roundRect">
            <a:avLst>
              <a:gd name="adj" fmla="val 9231"/>
            </a:avLst>
          </a:prstGeom>
          <a:solidFill>
            <a:schemeClr val="bg2"/>
          </a:solidFill>
          <a:ln w="9525">
            <a:solidFill>
              <a:schemeClr val="accent3"/>
            </a:solidFill>
            <a:prstDash val="solid"/>
          </a:ln>
        </p:spPr>
      </p:sp>
      <p:sp>
        <p:nvSpPr>
          <p:cNvPr id="60" name="a3f_t_489"/>
          <p:cNvSpPr txBox="1"/>
          <p:nvPr/>
        </p:nvSpPr>
        <p:spPr>
          <a:xfrm>
            <a:off x="8842248"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9</a:t>
            </a:r>
            <a:endParaRPr lang="en-US" sz="4800" dirty="0"/>
          </a:p>
        </p:txBody>
      </p:sp>
      <p:sp>
        <p:nvSpPr>
          <p:cNvPr id="61" name="a3f_t_490"/>
          <p:cNvSpPr txBox="1"/>
          <p:nvPr/>
        </p:nvSpPr>
        <p:spPr>
          <a:xfrm>
            <a:off x="8842248"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atomic agents, live</a:t>
            </a:r>
            <a:endParaRPr lang="en-US" sz="1300" dirty="0"/>
          </a:p>
        </p:txBody>
      </p:sp>
      <p:sp>
        <p:nvSpPr>
          <p:cNvPr id="62" name="a4f_b_491"/>
          <p:cNvSpPr/>
          <p:nvPr/>
        </p:nvSpPr>
        <p:spPr>
          <a:xfrm>
            <a:off x="5394960" y="3749040"/>
            <a:ext cx="2990088" cy="1783080"/>
          </a:xfrm>
          <a:prstGeom prst="roundRect">
            <a:avLst>
              <a:gd name="adj" fmla="val 9231"/>
            </a:avLst>
          </a:prstGeom>
          <a:solidFill>
            <a:schemeClr val="bg2"/>
          </a:solidFill>
          <a:ln w="9525">
            <a:solidFill>
              <a:schemeClr val="accent3"/>
            </a:solidFill>
            <a:prstDash val="solid"/>
          </a:ln>
        </p:spPr>
      </p:sp>
      <p:sp>
        <p:nvSpPr>
          <p:cNvPr id="63" name="a4f_t_492"/>
          <p:cNvSpPr txBox="1"/>
          <p:nvPr/>
        </p:nvSpPr>
        <p:spPr>
          <a:xfrm>
            <a:off x="5669280"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64" name="a4f_t_493"/>
          <p:cNvSpPr txBox="1"/>
          <p:nvPr/>
        </p:nvSpPr>
        <p:spPr>
          <a:xfrm>
            <a:off x="5669280"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builder, designed and built solo</a:t>
            </a:r>
            <a:endParaRPr lang="en-US" sz="1300" dirty="0"/>
          </a:p>
        </p:txBody>
      </p:sp>
      <p:sp>
        <p:nvSpPr>
          <p:cNvPr id="65" name="a5f_b_494"/>
          <p:cNvSpPr/>
          <p:nvPr/>
        </p:nvSpPr>
        <p:spPr>
          <a:xfrm>
            <a:off x="8567928" y="3749040"/>
            <a:ext cx="2990088" cy="1783080"/>
          </a:xfrm>
          <a:prstGeom prst="roundRect">
            <a:avLst>
              <a:gd name="adj" fmla="val 9231"/>
            </a:avLst>
          </a:prstGeom>
          <a:solidFill>
            <a:schemeClr val="bg2"/>
          </a:solidFill>
          <a:ln w="9525">
            <a:solidFill>
              <a:schemeClr val="accent3"/>
            </a:solidFill>
            <a:prstDash val="solid"/>
          </a:ln>
        </p:spPr>
      </p:sp>
      <p:sp>
        <p:nvSpPr>
          <p:cNvPr id="66" name="a5f_t_495"/>
          <p:cNvSpPr txBox="1"/>
          <p:nvPr/>
        </p:nvSpPr>
        <p:spPr>
          <a:xfrm>
            <a:off x="8842248"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Live</a:t>
            </a:r>
            <a:endParaRPr lang="en-US" sz="4800" dirty="0"/>
          </a:p>
        </p:txBody>
      </p:sp>
      <p:sp>
        <p:nvSpPr>
          <p:cNvPr id="67" name="a5f_t_496"/>
          <p:cNvSpPr txBox="1"/>
          <p:nvPr/>
        </p:nvSpPr>
        <p:spPr>
          <a:xfrm>
            <a:off x="8842248"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Jira → UI pipeline, end to end</a:t>
            </a:r>
            <a:endParaRPr lang="en-US" sz="1300" dirty="0"/>
          </a:p>
        </p:txBody>
      </p:sp>
      <p:sp>
        <p:nvSpPr>
          <p:cNvPr id="68" name="a6f_t_497"/>
          <p:cNvSpPr txBox="1"/>
          <p:nvPr/>
        </p:nvSpPr>
        <p:spPr>
          <a:xfrm>
            <a:off x="548640" y="4846320"/>
            <a:ext cx="4389120" cy="365760"/>
          </a:xfrm>
          <a:prstGeom prst="rect">
            <a:avLst/>
          </a:prstGeom>
          <a:noFill/>
          <a:ln/>
        </p:spPr>
        <p:txBody>
          <a:bodyPr wrap="square" lIns="0" tIns="0" rIns="0" bIns="0" rtlCol="0" anchor="t"/>
          <a:lstStyle/>
          <a:p>
            <a:pPr algn="l" indent="0" marL="0">
              <a:buNone/>
            </a:pPr>
            <a:r>
              <a:rPr lang="en-US" sz="1600" i="1" dirty="0">
                <a:solidFill>
                  <a:schemeClr val="tx2"/>
                </a:solidFill>
                <a:latin typeface="Georgia" pitchFamily="34" charset="0"/>
                <a:ea typeface="Georgia" pitchFamily="34" charset="-122"/>
                <a:cs typeface="Georgia" pitchFamily="34" charset="-120"/>
              </a:rPr>
              <a:t>Not yet all of Ameriprise. Scaling now.</a:t>
            </a:r>
            <a:endParaRPr lang="en-US" sz="1600" dirty="0"/>
          </a:p>
        </p:txBody>
      </p:sp>
      <p:sp>
        <p:nvSpPr>
          <p:cNvPr id="69"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4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4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4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4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4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4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4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4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4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4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4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450"/>
                                        <p:tgtEl>
                                          <p:spTgt spid="55"/>
                                        </p:tgtEl>
                                      </p:cBhvr>
                                    </p:animEffect>
                                  </p:childTnLst>
                                </p:cTn>
                              </p:par>
                            </p:childTnLst>
                          </p:cTn>
                        </p:par>
                        <p:par>
                          <p:cTn id="166" fill="hold">
                            <p:stCondLst>
                              <p:cond delay="380"/>
                            </p:stCondLst>
                            <p:childTnLst>
                              <p:par>
                                <p:cTn id="157" presetID="10" presetClass="entr" presetSubtype="0" fill="hold" grpId="0" nodeType="after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50"/>
                                        <p:tgtEl>
                                          <p:spTgt spid="56"/>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5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50"/>
                                        <p:tgtEl>
                                          <p:spTgt spid="58"/>
                                        </p:tgtEl>
                                      </p:cBhvr>
                                    </p:animEffect>
                                  </p:childTnLst>
                                </p:cTn>
                              </p:par>
                            </p:childTnLst>
                          </p:cTn>
                        </p:par>
                        <p:par>
                          <p:cTn id="176" fill="hold">
                            <p:stCondLst>
                              <p:cond delay="760"/>
                            </p:stCondLst>
                            <p:childTnLst>
                              <p:par>
                                <p:cTn id="167" presetID="10" presetClass="entr" presetSubtype="0" fill="hold" grpId="0" nodeType="afterEffect">
                                  <p:stCondLst>
                                    <p:cond delay="0"/>
                                  </p:stCondLst>
                                  <p:childTnLst>
                                    <p:set>
                                      <p:cBhvr>
                                        <p:cTn id="168" dur="1" fill="hold">
                                          <p:stCondLst>
                                            <p:cond delay="0"/>
                                          </p:stCondLst>
                                        </p:cTn>
                                        <p:tgtEl>
                                          <p:spTgt spid="59"/>
                                        </p:tgtEl>
                                        <p:attrNameLst>
                                          <p:attrName>style.visibility</p:attrName>
                                        </p:attrNameLst>
                                      </p:cBhvr>
                                      <p:to>
                                        <p:strVal val="visible"/>
                                      </p:to>
                                    </p:set>
                                    <p:animEffect transition="in" filter="fade">
                                      <p:cBhvr>
                                        <p:cTn id="169" dur="450"/>
                                        <p:tgtEl>
                                          <p:spTgt spid="59"/>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0"/>
                                        </p:tgtEl>
                                        <p:attrNameLst>
                                          <p:attrName>style.visibility</p:attrName>
                                        </p:attrNameLst>
                                      </p:cBhvr>
                                      <p:to>
                                        <p:strVal val="visible"/>
                                      </p:to>
                                    </p:set>
                                    <p:animEffect transition="in" filter="fade">
                                      <p:cBhvr>
                                        <p:cTn id="172" dur="450"/>
                                        <p:tgtEl>
                                          <p:spTgt spid="60"/>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450"/>
                                        <p:tgtEl>
                                          <p:spTgt spid="61"/>
                                        </p:tgtEl>
                                      </p:cBhvr>
                                    </p:animEffect>
                                  </p:childTnLst>
                                </p:cTn>
                              </p:par>
                            </p:childTnLst>
                          </p:cTn>
                        </p:par>
                        <p:par>
                          <p:cTn id="186" fill="hold">
                            <p:stCondLst>
                              <p:cond delay="1140"/>
                            </p:stCondLst>
                            <p:childTnLst>
                              <p:par>
                                <p:cTn id="177" presetID="10" presetClass="entr" presetSubtype="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50"/>
                                        <p:tgtEl>
                                          <p:spTgt spid="6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50"/>
                                        <p:tgtEl>
                                          <p:spTgt spid="63"/>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50"/>
                                        <p:tgtEl>
                                          <p:spTgt spid="64"/>
                                        </p:tgtEl>
                                      </p:cBhvr>
                                    </p:animEffect>
                                  </p:childTnLst>
                                </p:cTn>
                              </p:par>
                            </p:childTnLst>
                          </p:cTn>
                        </p:par>
                        <p:par>
                          <p:cTn id="196" fill="hold">
                            <p:stCondLst>
                              <p:cond delay="1520"/>
                            </p:stCondLst>
                            <p:childTnLst>
                              <p:par>
                                <p:cTn id="187" presetID="10" presetClass="entr" presetSubtype="0" fill="hold" grpId="0" nodeType="afterEffect">
                                  <p:stCondLst>
                                    <p:cond delay="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450"/>
                                        <p:tgtEl>
                                          <p:spTgt spid="6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450"/>
                                        <p:tgtEl>
                                          <p:spTgt spid="6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450"/>
                                        <p:tgtEl>
                                          <p:spTgt spid="67"/>
                                        </p:tgtEl>
                                      </p:cBhvr>
                                    </p:animEffect>
                                  </p:childTnLst>
                                </p:cTn>
                              </p:par>
                            </p:childTnLst>
                          </p:cTn>
                        </p:par>
                        <p:par>
                          <p:cTn id="200" fill="hold">
                            <p:stCondLst>
                              <p:cond delay="1900"/>
                            </p:stCondLst>
                            <p:childTnLst>
                              <p:par>
                                <p:cTn id="197" presetID="10" presetClass="entr" presetSubtype="0" fill="hold" grpId="0" nodeType="after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98"/>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What's still slow?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What's still slow?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Next: other teams plug in through their own MCP servers</a:t>
            </a:r>
            <a:endParaRPr lang="en-US" sz="2800" dirty="0"/>
          </a:p>
        </p:txBody>
      </p:sp>
      <p:sp>
        <p:nvSpPr>
          <p:cNvPr id="5" name="a1f_t_499"/>
          <p:cNvSpPr txBox="1"/>
          <p:nvPr/>
        </p:nvSpPr>
        <p:spPr>
          <a:xfrm>
            <a:off x="5486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TODAY</a:t>
            </a:r>
            <a:endParaRPr lang="en-US" sz="1200" dirty="0"/>
          </a:p>
        </p:txBody>
      </p:sp>
      <p:sp>
        <p:nvSpPr>
          <p:cNvPr id="6" name="a1f_b_500"/>
          <p:cNvSpPr/>
          <p:nvPr/>
        </p:nvSpPr>
        <p:spPr>
          <a:xfrm>
            <a:off x="548640" y="2194560"/>
            <a:ext cx="4480560" cy="566928"/>
          </a:xfrm>
          <a:prstGeom prst="roundRect">
            <a:avLst>
              <a:gd name="adj" fmla="val 19355"/>
            </a:avLst>
          </a:prstGeom>
          <a:solidFill>
            <a:schemeClr val="bg2"/>
          </a:solidFill>
          <a:ln w="9525">
            <a:solidFill>
              <a:schemeClr val="accent3"/>
            </a:solidFill>
            <a:prstDash val="solid"/>
          </a:ln>
        </p:spPr>
      </p:sp>
      <p:pic>
        <p:nvPicPr>
          <p:cNvPr id="7" name="a1f_i_501" descr="preencoded.png">    </p:cNvPr>
          <p:cNvPicPr>
            <a:picLocks noChangeAspect="1"/>
          </p:cNvPicPr>
          <p:nvPr/>
        </p:nvPicPr>
        <p:blipFill>
          <a:blip r:embed="rId1"/>
          <a:stretch>
            <a:fillRect/>
          </a:stretch>
        </p:blipFill>
        <p:spPr>
          <a:xfrm>
            <a:off x="713232" y="2340864"/>
            <a:ext cx="274320" cy="274320"/>
          </a:xfrm>
          <a:prstGeom prst="rect">
            <a:avLst/>
          </a:prstGeom>
        </p:spPr>
      </p:pic>
      <p:sp>
        <p:nvSpPr>
          <p:cNvPr id="8" name="a1f_t_502"/>
          <p:cNvSpPr txBox="1"/>
          <p:nvPr/>
        </p:nvSpPr>
        <p:spPr>
          <a:xfrm>
            <a:off x="1115568" y="2194560"/>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RE: FW: timeout calling the accounts service</a:t>
            </a:r>
            <a:endParaRPr lang="en-US" sz="1200" dirty="0"/>
          </a:p>
        </p:txBody>
      </p:sp>
      <p:sp>
        <p:nvSpPr>
          <p:cNvPr id="9" name="a2f_b_503"/>
          <p:cNvSpPr/>
          <p:nvPr/>
        </p:nvSpPr>
        <p:spPr>
          <a:xfrm>
            <a:off x="822960" y="2852928"/>
            <a:ext cx="4480560" cy="566928"/>
          </a:xfrm>
          <a:prstGeom prst="roundRect">
            <a:avLst>
              <a:gd name="adj" fmla="val 19355"/>
            </a:avLst>
          </a:prstGeom>
          <a:solidFill>
            <a:schemeClr val="bg2"/>
          </a:solidFill>
          <a:ln w="9525">
            <a:solidFill>
              <a:schemeClr val="accent3"/>
            </a:solidFill>
            <a:prstDash val="solid"/>
          </a:ln>
        </p:spPr>
      </p:sp>
      <p:pic>
        <p:nvPicPr>
          <p:cNvPr id="10" name="a2f_i_504" descr="preencoded.png">    </p:cNvPr>
          <p:cNvPicPr>
            <a:picLocks noChangeAspect="1"/>
          </p:cNvPicPr>
          <p:nvPr/>
        </p:nvPicPr>
        <p:blipFill>
          <a:blip r:embed="rId2"/>
          <a:stretch>
            <a:fillRect/>
          </a:stretch>
        </p:blipFill>
        <p:spPr>
          <a:xfrm>
            <a:off x="987552" y="2999232"/>
            <a:ext cx="274320" cy="274320"/>
          </a:xfrm>
          <a:prstGeom prst="rect">
            <a:avLst/>
          </a:prstGeom>
        </p:spPr>
      </p:pic>
      <p:sp>
        <p:nvSpPr>
          <p:cNvPr id="11" name="a2f_t_505"/>
          <p:cNvSpPr txBox="1"/>
          <p:nvPr/>
        </p:nvSpPr>
        <p:spPr>
          <a:xfrm>
            <a:off x="1389888" y="2852928"/>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FW: who owns this DNS record?</a:t>
            </a:r>
            <a:endParaRPr lang="en-US" sz="1200" dirty="0"/>
          </a:p>
        </p:txBody>
      </p:sp>
      <p:sp>
        <p:nvSpPr>
          <p:cNvPr id="12" name="a3f_b_506"/>
          <p:cNvSpPr/>
          <p:nvPr/>
        </p:nvSpPr>
        <p:spPr>
          <a:xfrm>
            <a:off x="1097280" y="3511296"/>
            <a:ext cx="4480560" cy="566928"/>
          </a:xfrm>
          <a:prstGeom prst="roundRect">
            <a:avLst>
              <a:gd name="adj" fmla="val 19355"/>
            </a:avLst>
          </a:prstGeom>
          <a:solidFill>
            <a:schemeClr val="bg2"/>
          </a:solidFill>
          <a:ln w="9525">
            <a:solidFill>
              <a:schemeClr val="accent3"/>
            </a:solidFill>
            <a:prstDash val="solid"/>
          </a:ln>
        </p:spPr>
      </p:sp>
      <p:pic>
        <p:nvPicPr>
          <p:cNvPr id="13" name="a3f_i_507" descr="preencoded.png">    </p:cNvPr>
          <p:cNvPicPr>
            <a:picLocks noChangeAspect="1"/>
          </p:cNvPicPr>
          <p:nvPr/>
        </p:nvPicPr>
        <p:blipFill>
          <a:blip r:embed="rId3"/>
          <a:stretch>
            <a:fillRect/>
          </a:stretch>
        </p:blipFill>
        <p:spPr>
          <a:xfrm>
            <a:off x="1261872" y="3657600"/>
            <a:ext cx="274320" cy="274320"/>
          </a:xfrm>
          <a:prstGeom prst="rect">
            <a:avLst/>
          </a:prstGeom>
        </p:spPr>
      </p:pic>
      <p:sp>
        <p:nvSpPr>
          <p:cNvPr id="14" name="a3f_t_508"/>
          <p:cNvSpPr txBox="1"/>
          <p:nvPr/>
        </p:nvSpPr>
        <p:spPr>
          <a:xfrm>
            <a:off x="1664208" y="3511296"/>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FW: still waiting on data &amp; services</a:t>
            </a:r>
            <a:endParaRPr lang="en-US" sz="1200" dirty="0"/>
          </a:p>
        </p:txBody>
      </p:sp>
      <p:sp>
        <p:nvSpPr>
          <p:cNvPr id="15" name="a4f_b_509"/>
          <p:cNvSpPr/>
          <p:nvPr/>
        </p:nvSpPr>
        <p:spPr>
          <a:xfrm>
            <a:off x="548640" y="4343400"/>
            <a:ext cx="502920" cy="502920"/>
          </a:xfrm>
          <a:prstGeom prst="ellipse">
            <a:avLst/>
          </a:prstGeom>
          <a:solidFill>
            <a:schemeClr val="accent1">
              <a:alpha val="20000"/>
            </a:schemeClr>
          </a:solidFill>
          <a:ln/>
        </p:spPr>
      </p:sp>
      <p:pic>
        <p:nvPicPr>
          <p:cNvPr id="16" name="a4f_i_510" descr="preencoded.png">    </p:cNvPr>
          <p:cNvPicPr>
            <a:picLocks noChangeAspect="1"/>
          </p:cNvPicPr>
          <p:nvPr/>
        </p:nvPicPr>
        <p:blipFill>
          <a:blip r:embed="rId4"/>
          <a:stretch>
            <a:fillRect/>
          </a:stretch>
        </p:blipFill>
        <p:spPr>
          <a:xfrm>
            <a:off x="674370" y="4469130"/>
            <a:ext cx="251460" cy="251460"/>
          </a:xfrm>
          <a:prstGeom prst="rect">
            <a:avLst/>
          </a:prstGeom>
        </p:spPr>
      </p:pic>
      <p:sp>
        <p:nvSpPr>
          <p:cNvPr id="17" name="a4f_t_511"/>
          <p:cNvSpPr txBox="1"/>
          <p:nvPr/>
        </p:nvSpPr>
        <p:spPr>
          <a:xfrm>
            <a:off x="1280160" y="4297680"/>
            <a:ext cx="3657600" cy="640080"/>
          </a:xfrm>
          <a:prstGeom prst="rect">
            <a:avLst/>
          </a:prstGeom>
          <a:noFill/>
          <a:ln/>
        </p:spPr>
        <p:txBody>
          <a:bodyPr wrap="square" lIns="0" tIns="0" rIns="0" bIns="0" rtlCol="0" anchor="t"/>
          <a:lstStyle/>
          <a:p>
            <a:pPr algn="l" indent="0" marL="0">
              <a:buNone/>
            </a:pPr>
            <a:r>
              <a:rPr lang="en-US" sz="1600" b="1" dirty="0">
                <a:solidFill>
                  <a:schemeClr val="tx1"/>
                </a:solidFill>
              </a:rPr>
              <a:t>Long mail chains</a:t>
            </a:r>
            <a:endParaRPr lang="en-US" sz="1600" dirty="0"/>
          </a:p>
          <a:p>
            <a:pPr algn="l" indent="0" marL="0">
              <a:buNone/>
            </a:pPr>
            <a:r>
              <a:rPr lang="en-US" sz="1200" dirty="0">
                <a:solidFill>
                  <a:schemeClr val="tx2"/>
                </a:solidFill>
              </a:rPr>
              <a:t>while the SLA clock runs</a:t>
            </a:r>
            <a:endParaRPr lang="en-US" sz="1600" dirty="0"/>
          </a:p>
        </p:txBody>
      </p:sp>
      <p:sp>
        <p:nvSpPr>
          <p:cNvPr id="18" name="a5f_t_512"/>
          <p:cNvSpPr txBox="1"/>
          <p:nvPr/>
        </p:nvSpPr>
        <p:spPr>
          <a:xfrm>
            <a:off x="60350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NEXT</a:t>
            </a:r>
            <a:endParaRPr lang="en-US" sz="1200" dirty="0"/>
          </a:p>
        </p:txBody>
      </p:sp>
      <p:sp>
        <p:nvSpPr>
          <p:cNvPr id="19" name="a6f_l_513"/>
          <p:cNvSpPr/>
          <p:nvPr/>
        </p:nvSpPr>
        <p:spPr>
          <a:xfrm>
            <a:off x="7040880" y="2514600"/>
            <a:ext cx="1801368" cy="1280160"/>
          </a:xfrm>
          <a:prstGeom prst="line">
            <a:avLst/>
          </a:prstGeom>
          <a:noFill/>
          <a:ln w="15875">
            <a:solidFill>
              <a:schemeClr val="accent4"/>
            </a:solidFill>
            <a:prstDash val="dash"/>
          </a:ln>
        </p:spPr>
      </p:sp>
      <p:sp>
        <p:nvSpPr>
          <p:cNvPr id="20" name="a6f_l_514"/>
          <p:cNvSpPr/>
          <p:nvPr/>
        </p:nvSpPr>
        <p:spPr>
          <a:xfrm flipH="1">
            <a:off x="8842248" y="2514600"/>
            <a:ext cx="1801368" cy="1280160"/>
          </a:xfrm>
          <a:prstGeom prst="line">
            <a:avLst/>
          </a:prstGeom>
          <a:noFill/>
          <a:ln w="15875">
            <a:solidFill>
              <a:schemeClr val="accent4"/>
            </a:solidFill>
            <a:prstDash val="dash"/>
          </a:ln>
        </p:spPr>
      </p:sp>
      <p:sp>
        <p:nvSpPr>
          <p:cNvPr id="21" name="a6f_l_515"/>
          <p:cNvSpPr/>
          <p:nvPr/>
        </p:nvSpPr>
        <p:spPr>
          <a:xfrm flipH="1">
            <a:off x="7040880" y="3794760"/>
            <a:ext cx="1801368" cy="1280160"/>
          </a:xfrm>
          <a:prstGeom prst="line">
            <a:avLst/>
          </a:prstGeom>
          <a:noFill/>
          <a:ln w="15875">
            <a:solidFill>
              <a:schemeClr val="accent4"/>
            </a:solidFill>
            <a:prstDash val="dash"/>
          </a:ln>
        </p:spPr>
      </p:sp>
      <p:sp>
        <p:nvSpPr>
          <p:cNvPr id="22" name="a6f_l_516"/>
          <p:cNvSpPr/>
          <p:nvPr/>
        </p:nvSpPr>
        <p:spPr>
          <a:xfrm>
            <a:off x="8842248" y="3794760"/>
            <a:ext cx="1801368" cy="1280160"/>
          </a:xfrm>
          <a:prstGeom prst="line">
            <a:avLst/>
          </a:prstGeom>
          <a:noFill/>
          <a:ln w="15875">
            <a:solidFill>
              <a:schemeClr val="accent4"/>
            </a:solidFill>
            <a:prstDash val="dash"/>
          </a:ln>
        </p:spPr>
      </p:sp>
      <p:pic>
        <p:nvPicPr>
          <p:cNvPr id="23" name="a5f_i_517" descr="/Users/deepakkumar/Documents/Claude projects/the-agentic-delivery-pipeline/pitch/build/assets/master-agent.gif">    </p:cNvPr>
          <p:cNvPicPr>
            <a:picLocks noChangeAspect="1"/>
          </p:cNvPicPr>
          <p:nvPr/>
        </p:nvPicPr>
        <p:blipFill>
          <a:blip r:embed="rId5"/>
          <a:stretch>
            <a:fillRect/>
          </a:stretch>
        </p:blipFill>
        <p:spPr>
          <a:xfrm>
            <a:off x="8293608" y="3246120"/>
            <a:ext cx="1097280" cy="1097280"/>
          </a:xfrm>
          <a:prstGeom prst="rect">
            <a:avLst/>
          </a:prstGeom>
        </p:spPr>
      </p:pic>
      <p:sp>
        <p:nvSpPr>
          <p:cNvPr id="24" name="a6f_b_518"/>
          <p:cNvSpPr/>
          <p:nvPr/>
        </p:nvSpPr>
        <p:spPr>
          <a:xfrm>
            <a:off x="6080760" y="2240280"/>
            <a:ext cx="1920240" cy="548640"/>
          </a:xfrm>
          <a:prstGeom prst="roundRect">
            <a:avLst>
              <a:gd name="adj" fmla="val 50000"/>
            </a:avLst>
          </a:prstGeom>
          <a:solidFill>
            <a:schemeClr val="bg2"/>
          </a:solidFill>
          <a:ln w="15875">
            <a:solidFill>
              <a:schemeClr val="accent1"/>
            </a:solidFill>
            <a:prstDash val="solid"/>
          </a:ln>
        </p:spPr>
      </p:sp>
      <p:pic>
        <p:nvPicPr>
          <p:cNvPr id="25" name="a6f_i_519" descr="/Users/deepakkumar/Documents/Claude projects/the-agentic-delivery-pipeline/pitch/build/assets/mcp-light.png">    </p:cNvPr>
          <p:cNvPicPr>
            <a:picLocks noChangeAspect="1"/>
          </p:cNvPicPr>
          <p:nvPr/>
        </p:nvPicPr>
        <p:blipFill>
          <a:blip r:embed="rId6"/>
          <a:stretch>
            <a:fillRect/>
          </a:stretch>
        </p:blipFill>
        <p:spPr>
          <a:xfrm>
            <a:off x="6199632" y="2377440"/>
            <a:ext cx="274320" cy="274320"/>
          </a:xfrm>
          <a:prstGeom prst="rect">
            <a:avLst/>
          </a:prstGeom>
        </p:spPr>
      </p:pic>
      <p:sp>
        <p:nvSpPr>
          <p:cNvPr id="26" name="a6f_t_520"/>
          <p:cNvSpPr txBox="1"/>
          <p:nvPr/>
        </p:nvSpPr>
        <p:spPr>
          <a:xfrm>
            <a:off x="6537960"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Data &amp; services</a:t>
            </a:r>
            <a:endParaRPr lang="en-US" sz="1100" dirty="0"/>
          </a:p>
        </p:txBody>
      </p:sp>
      <p:sp>
        <p:nvSpPr>
          <p:cNvPr id="27" name="a6f_b_521"/>
          <p:cNvSpPr/>
          <p:nvPr/>
        </p:nvSpPr>
        <p:spPr>
          <a:xfrm>
            <a:off x="9683496" y="2240280"/>
            <a:ext cx="1920240" cy="548640"/>
          </a:xfrm>
          <a:prstGeom prst="roundRect">
            <a:avLst>
              <a:gd name="adj" fmla="val 50000"/>
            </a:avLst>
          </a:prstGeom>
          <a:solidFill>
            <a:schemeClr val="bg2"/>
          </a:solidFill>
          <a:ln w="15875">
            <a:solidFill>
              <a:schemeClr val="accent1"/>
            </a:solidFill>
            <a:prstDash val="solid"/>
          </a:ln>
        </p:spPr>
      </p:sp>
      <p:pic>
        <p:nvPicPr>
          <p:cNvPr id="28" name="a6f_i_522" descr="/Users/deepakkumar/Documents/Claude projects/the-agentic-delivery-pipeline/pitch/build/assets/mcp-light.png">    </p:cNvPr>
          <p:cNvPicPr>
            <a:picLocks noChangeAspect="1"/>
          </p:cNvPicPr>
          <p:nvPr/>
        </p:nvPicPr>
        <p:blipFill>
          <a:blip r:embed="rId7"/>
          <a:stretch>
            <a:fillRect/>
          </a:stretch>
        </p:blipFill>
        <p:spPr>
          <a:xfrm>
            <a:off x="9802368" y="2377440"/>
            <a:ext cx="274320" cy="274320"/>
          </a:xfrm>
          <a:prstGeom prst="rect">
            <a:avLst/>
          </a:prstGeom>
        </p:spPr>
      </p:pic>
      <p:sp>
        <p:nvSpPr>
          <p:cNvPr id="29" name="a6f_t_523"/>
          <p:cNvSpPr txBox="1"/>
          <p:nvPr/>
        </p:nvSpPr>
        <p:spPr>
          <a:xfrm>
            <a:off x="10140696"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DNS team</a:t>
            </a:r>
            <a:endParaRPr lang="en-US" sz="1100" dirty="0"/>
          </a:p>
        </p:txBody>
      </p:sp>
      <p:sp>
        <p:nvSpPr>
          <p:cNvPr id="30" name="a6f_b_524"/>
          <p:cNvSpPr/>
          <p:nvPr/>
        </p:nvSpPr>
        <p:spPr>
          <a:xfrm>
            <a:off x="6080760" y="4800600"/>
            <a:ext cx="1920240" cy="548640"/>
          </a:xfrm>
          <a:prstGeom prst="roundRect">
            <a:avLst>
              <a:gd name="adj" fmla="val 50000"/>
            </a:avLst>
          </a:prstGeom>
          <a:solidFill>
            <a:schemeClr val="bg2"/>
          </a:solidFill>
          <a:ln w="15875">
            <a:solidFill>
              <a:schemeClr val="accent1"/>
            </a:solidFill>
            <a:prstDash val="solid"/>
          </a:ln>
        </p:spPr>
      </p:sp>
      <p:pic>
        <p:nvPicPr>
          <p:cNvPr id="31" name="a6f_i_525" descr="/Users/deepakkumar/Documents/Claude projects/the-agentic-delivery-pipeline/pitch/build/assets/mcp-light.png">    </p:cNvPr>
          <p:cNvPicPr>
            <a:picLocks noChangeAspect="1"/>
          </p:cNvPicPr>
          <p:nvPr/>
        </p:nvPicPr>
        <p:blipFill>
          <a:blip r:embed="rId8"/>
          <a:stretch>
            <a:fillRect/>
          </a:stretch>
        </p:blipFill>
        <p:spPr>
          <a:xfrm>
            <a:off x="6199632" y="4937760"/>
            <a:ext cx="274320" cy="274320"/>
          </a:xfrm>
          <a:prstGeom prst="rect">
            <a:avLst/>
          </a:prstGeom>
        </p:spPr>
      </p:pic>
      <p:sp>
        <p:nvSpPr>
          <p:cNvPr id="32" name="a6f_t_526"/>
          <p:cNvSpPr txBox="1"/>
          <p:nvPr/>
        </p:nvSpPr>
        <p:spPr>
          <a:xfrm>
            <a:off x="6537960"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Downstream APIs</a:t>
            </a:r>
            <a:endParaRPr lang="en-US" sz="1100" dirty="0"/>
          </a:p>
        </p:txBody>
      </p:sp>
      <p:sp>
        <p:nvSpPr>
          <p:cNvPr id="33" name="a6f_b_527"/>
          <p:cNvSpPr/>
          <p:nvPr/>
        </p:nvSpPr>
        <p:spPr>
          <a:xfrm>
            <a:off x="9683496" y="4800600"/>
            <a:ext cx="1920240" cy="548640"/>
          </a:xfrm>
          <a:prstGeom prst="roundRect">
            <a:avLst>
              <a:gd name="adj" fmla="val 50000"/>
            </a:avLst>
          </a:prstGeom>
          <a:solidFill>
            <a:schemeClr val="bg2"/>
          </a:solidFill>
          <a:ln w="15875">
            <a:solidFill>
              <a:schemeClr val="accent1"/>
            </a:solidFill>
            <a:prstDash val="solid"/>
          </a:ln>
        </p:spPr>
      </p:sp>
      <p:pic>
        <p:nvPicPr>
          <p:cNvPr id="34" name="a6f_i_528" descr="/Users/deepakkumar/Documents/Claude projects/the-agentic-delivery-pipeline/pitch/build/assets/mcp-light.png">    </p:cNvPr>
          <p:cNvPicPr>
            <a:picLocks noChangeAspect="1"/>
          </p:cNvPicPr>
          <p:nvPr/>
        </p:nvPicPr>
        <p:blipFill>
          <a:blip r:embed="rId9"/>
          <a:stretch>
            <a:fillRect/>
          </a:stretch>
        </p:blipFill>
        <p:spPr>
          <a:xfrm>
            <a:off x="9802368" y="4937760"/>
            <a:ext cx="274320" cy="274320"/>
          </a:xfrm>
          <a:prstGeom prst="rect">
            <a:avLst/>
          </a:prstGeom>
        </p:spPr>
      </p:pic>
      <p:sp>
        <p:nvSpPr>
          <p:cNvPr id="35" name="a6f_t_529"/>
          <p:cNvSpPr txBox="1"/>
          <p:nvPr/>
        </p:nvSpPr>
        <p:spPr>
          <a:xfrm>
            <a:off x="10140696"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Any team</a:t>
            </a:r>
            <a:endParaRPr lang="en-US" sz="1100" dirty="0"/>
          </a:p>
        </p:txBody>
      </p:sp>
      <p:sp>
        <p:nvSpPr>
          <p:cNvPr id="36" name="a7f_t_530"/>
          <p:cNvSpPr txBox="1"/>
          <p:nvPr/>
        </p:nvSpPr>
        <p:spPr>
          <a:xfrm>
            <a:off x="6035040" y="5715000"/>
            <a:ext cx="5605272" cy="457200"/>
          </a:xfrm>
          <a:prstGeom prst="rect">
            <a:avLst/>
          </a:prstGeom>
          <a:noFill/>
          <a:ln/>
        </p:spPr>
        <p:txBody>
          <a:bodyPr wrap="square" lIns="0" tIns="0" rIns="0" bIns="0" rtlCol="0" anchor="t"/>
          <a:lstStyle/>
          <a:p>
            <a:pPr algn="l" indent="0" marL="0">
              <a:buNone/>
            </a:pPr>
            <a:r>
              <a:rPr lang="en-US" sz="1300" i="1" dirty="0">
                <a:solidFill>
                  <a:schemeClr val="tx2"/>
                </a:solidFill>
              </a:rPr>
              <a:t>Each team publishes an MCP server; our agents work with it directly, with no mail chain.</a:t>
            </a:r>
            <a:endParaRPr lang="en-US" sz="1300" dirty="0"/>
          </a:p>
        </p:txBody>
      </p:sp>
      <p:sp>
        <p:nvSpPr>
          <p:cNvPr id="37"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5"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childTnLst>
                          </p:cTn>
                        </p:par>
                        <p:par>
                          <p:cTn id="35" fill="hold">
                            <p:stCondLst>
                              <p:cond delay="76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childTnLst>
                          </p:cTn>
                        </p:par>
                        <p:par>
                          <p:cTn id="45"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2"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101" fill="hold">
                            <p:stCondLst>
                              <p:cond delay="19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childTnLst>
                          </p:cTn>
                        </p:par>
                        <p:par>
                          <p:cTn id="105" fill="hold">
                            <p:stCondLst>
                              <p:cond delay="2280"/>
                            </p:stCondLst>
                            <p:childTnLst>
                              <p:par>
                                <p:cTn id="102" presetID="10" presetClass="entr" presetSubtype="0"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19" grpId="0" animBg="1"/>
      <p:bldP spid="20" grpId="0" animBg="1"/>
      <p:bldP spid="21" grpId="0" animBg="1"/>
      <p:bldP spid="22" grpId="0" animBg="1"/>
      <p:bldP spid="24" grpId="0" animBg="1"/>
      <p:bldP spid="26" grpId="0" animBg="1"/>
      <p:bldP spid="27" grpId="0" animBg="1"/>
      <p:bldP spid="29" grpId="0" animBg="1"/>
      <p:bldP spid="30" grpId="0" animBg="1"/>
      <p:bldP spid="32" grpId="0" animBg="1"/>
      <p:bldP spid="33" grpId="0" animBg="1"/>
      <p:bldP spid="35" grpId="0" animBg="1"/>
      <p:bldP spid="36" grpId="0" animBg="1"/>
    </p:bldLst>
  </p:timing>
</p:sld>
</file>

<file path=ppt/slides/slide2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53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could Coforge do with this?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3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could Coforge do with this?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Turn it into a Coforge accelerator for every account</a:t>
            </a:r>
            <a:endParaRPr lang="en-US" sz="2800" dirty="0"/>
          </a:p>
        </p:txBody>
      </p:sp>
      <p:sp>
        <p:nvSpPr>
          <p:cNvPr id="5" name="a1f_b_532"/>
          <p:cNvSpPr/>
          <p:nvPr/>
        </p:nvSpPr>
        <p:spPr>
          <a:xfrm>
            <a:off x="548640" y="1783080"/>
            <a:ext cx="3465576" cy="2331720"/>
          </a:xfrm>
          <a:prstGeom prst="roundRect">
            <a:avLst>
              <a:gd name="adj" fmla="val 7059"/>
            </a:avLst>
          </a:prstGeom>
          <a:solidFill>
            <a:schemeClr val="bg2"/>
          </a:solidFill>
          <a:ln w="9525">
            <a:solidFill>
              <a:schemeClr val="accent3"/>
            </a:solidFill>
            <a:prstDash val="solid"/>
          </a:ln>
        </p:spPr>
      </p:sp>
      <p:sp>
        <p:nvSpPr>
          <p:cNvPr id="6" name="a1f_b_533"/>
          <p:cNvSpPr/>
          <p:nvPr/>
        </p:nvSpPr>
        <p:spPr>
          <a:xfrm>
            <a:off x="822960" y="2057400"/>
            <a:ext cx="594360" cy="594360"/>
          </a:xfrm>
          <a:prstGeom prst="ellipse">
            <a:avLst/>
          </a:prstGeom>
          <a:solidFill>
            <a:schemeClr val="accent1"/>
          </a:solidFill>
          <a:ln/>
        </p:spPr>
      </p:sp>
      <p:sp>
        <p:nvSpPr>
          <p:cNvPr id="7" name="a1f_t_534"/>
          <p:cNvSpPr txBox="1"/>
          <p:nvPr/>
        </p:nvSpPr>
        <p:spPr>
          <a:xfrm>
            <a:off x="822960"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a1f_t_535"/>
          <p:cNvSpPr txBox="1"/>
          <p:nvPr/>
        </p:nvSpPr>
        <p:spPr>
          <a:xfrm>
            <a:off x="822960"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Proven</a:t>
            </a:r>
            <a:endParaRPr lang="en-US" sz="2200" dirty="0"/>
          </a:p>
        </p:txBody>
      </p:sp>
      <p:sp>
        <p:nvSpPr>
          <p:cNvPr id="9" name="a1f_t_536"/>
          <p:cNvSpPr txBox="1"/>
          <p:nvPr/>
        </p:nvSpPr>
        <p:spPr>
          <a:xfrm>
            <a:off x="822960"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Live at Ameriprise with a 40–50 developer frontend team</a:t>
            </a:r>
            <a:endParaRPr lang="en-US" sz="1300" dirty="0"/>
          </a:p>
        </p:txBody>
      </p:sp>
      <p:sp>
        <p:nvSpPr>
          <p:cNvPr id="10" name="a2f_l_537"/>
          <p:cNvSpPr/>
          <p:nvPr/>
        </p:nvSpPr>
        <p:spPr>
          <a:xfrm>
            <a:off x="4059936" y="2944368"/>
            <a:ext cx="256032" cy="914"/>
          </a:xfrm>
          <a:prstGeom prst="line">
            <a:avLst/>
          </a:prstGeom>
          <a:noFill/>
          <a:ln w="15875">
            <a:solidFill>
              <a:schemeClr val="accent1"/>
            </a:solidFill>
            <a:prstDash val="solid"/>
            <a:tailEnd type="triangle"/>
          </a:ln>
        </p:spPr>
      </p:sp>
      <p:sp>
        <p:nvSpPr>
          <p:cNvPr id="11" name="a2f_b_538"/>
          <p:cNvSpPr/>
          <p:nvPr/>
        </p:nvSpPr>
        <p:spPr>
          <a:xfrm>
            <a:off x="4361688" y="1783080"/>
            <a:ext cx="3465576" cy="2331720"/>
          </a:xfrm>
          <a:prstGeom prst="roundRect">
            <a:avLst>
              <a:gd name="adj" fmla="val 7059"/>
            </a:avLst>
          </a:prstGeom>
          <a:solidFill>
            <a:schemeClr val="bg2"/>
          </a:solidFill>
          <a:ln w="9525">
            <a:solidFill>
              <a:schemeClr val="accent3"/>
            </a:solidFill>
            <a:prstDash val="solid"/>
          </a:ln>
        </p:spPr>
      </p:sp>
      <p:sp>
        <p:nvSpPr>
          <p:cNvPr id="12" name="a2f_b_539"/>
          <p:cNvSpPr/>
          <p:nvPr/>
        </p:nvSpPr>
        <p:spPr>
          <a:xfrm>
            <a:off x="4636008" y="2057400"/>
            <a:ext cx="594360" cy="594360"/>
          </a:xfrm>
          <a:prstGeom prst="ellipse">
            <a:avLst/>
          </a:prstGeom>
          <a:solidFill>
            <a:schemeClr val="accent1"/>
          </a:solidFill>
          <a:ln/>
        </p:spPr>
      </p:sp>
      <p:sp>
        <p:nvSpPr>
          <p:cNvPr id="13" name="a2f_t_540"/>
          <p:cNvSpPr txBox="1"/>
          <p:nvPr/>
        </p:nvSpPr>
        <p:spPr>
          <a:xfrm>
            <a:off x="4636008"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a2f_t_541"/>
          <p:cNvSpPr txBox="1"/>
          <p:nvPr/>
        </p:nvSpPr>
        <p:spPr>
          <a:xfrm>
            <a:off x="4636008"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Packaged</a:t>
            </a:r>
            <a:endParaRPr lang="en-US" sz="2200" dirty="0"/>
          </a:p>
        </p:txBody>
      </p:sp>
      <p:sp>
        <p:nvSpPr>
          <p:cNvPr id="15" name="a2f_t_542"/>
          <p:cNvSpPr txBox="1"/>
          <p:nvPr/>
        </p:nvSpPr>
        <p:spPr>
          <a:xfrm>
            <a:off x="4636008"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Rebuilt as a Coforge-owned accelerator that fits any client</a:t>
            </a:r>
            <a:endParaRPr lang="en-US" sz="1300" dirty="0"/>
          </a:p>
        </p:txBody>
      </p:sp>
      <p:sp>
        <p:nvSpPr>
          <p:cNvPr id="16" name="a3f_l_543"/>
          <p:cNvSpPr/>
          <p:nvPr/>
        </p:nvSpPr>
        <p:spPr>
          <a:xfrm>
            <a:off x="7872984" y="2944368"/>
            <a:ext cx="256032" cy="914"/>
          </a:xfrm>
          <a:prstGeom prst="line">
            <a:avLst/>
          </a:prstGeom>
          <a:noFill/>
          <a:ln w="15875">
            <a:solidFill>
              <a:schemeClr val="accent1"/>
            </a:solidFill>
            <a:prstDash val="solid"/>
            <a:tailEnd type="triangle"/>
          </a:ln>
        </p:spPr>
      </p:sp>
      <p:sp>
        <p:nvSpPr>
          <p:cNvPr id="17" name="a3f_b_544"/>
          <p:cNvSpPr/>
          <p:nvPr/>
        </p:nvSpPr>
        <p:spPr>
          <a:xfrm>
            <a:off x="8174736" y="1783080"/>
            <a:ext cx="3465576" cy="2331720"/>
          </a:xfrm>
          <a:prstGeom prst="roundRect">
            <a:avLst>
              <a:gd name="adj" fmla="val 7059"/>
            </a:avLst>
          </a:prstGeom>
          <a:solidFill>
            <a:schemeClr val="bg2"/>
          </a:solidFill>
          <a:ln w="19050">
            <a:solidFill>
              <a:schemeClr val="accent1"/>
            </a:solidFill>
            <a:prstDash val="solid"/>
          </a:ln>
        </p:spPr>
      </p:sp>
      <p:sp>
        <p:nvSpPr>
          <p:cNvPr id="18" name="a3f_b_545"/>
          <p:cNvSpPr/>
          <p:nvPr/>
        </p:nvSpPr>
        <p:spPr>
          <a:xfrm>
            <a:off x="8449056" y="2057400"/>
            <a:ext cx="594360" cy="594360"/>
          </a:xfrm>
          <a:prstGeom prst="ellipse">
            <a:avLst/>
          </a:prstGeom>
          <a:solidFill>
            <a:schemeClr val="accent1"/>
          </a:solidFill>
          <a:ln/>
        </p:spPr>
      </p:sp>
      <p:sp>
        <p:nvSpPr>
          <p:cNvPr id="19" name="a3f_t_546"/>
          <p:cNvSpPr txBox="1"/>
          <p:nvPr/>
        </p:nvSpPr>
        <p:spPr>
          <a:xfrm>
            <a:off x="8449056"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a3f_t_547"/>
          <p:cNvSpPr txBox="1"/>
          <p:nvPr/>
        </p:nvSpPr>
        <p:spPr>
          <a:xfrm>
            <a:off x="8449056"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Offered</a:t>
            </a:r>
            <a:endParaRPr lang="en-US" sz="2200" dirty="0"/>
          </a:p>
        </p:txBody>
      </p:sp>
      <p:sp>
        <p:nvSpPr>
          <p:cNvPr id="21" name="a3f_t_548"/>
          <p:cNvSpPr txBox="1"/>
          <p:nvPr/>
        </p:nvSpPr>
        <p:spPr>
          <a:xfrm>
            <a:off x="8449056"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Sold to other accounts as a Coforge product</a:t>
            </a:r>
            <a:endParaRPr lang="en-US" sz="1300" dirty="0"/>
          </a:p>
        </p:txBody>
      </p:sp>
      <p:sp>
        <p:nvSpPr>
          <p:cNvPr id="22" name="a4f_b_549"/>
          <p:cNvSpPr/>
          <p:nvPr/>
        </p:nvSpPr>
        <p:spPr>
          <a:xfrm>
            <a:off x="548640" y="4480560"/>
            <a:ext cx="6949440" cy="1143000"/>
          </a:xfrm>
          <a:prstGeom prst="roundRect">
            <a:avLst>
              <a:gd name="adj" fmla="val 9600"/>
            </a:avLst>
          </a:prstGeom>
          <a:solidFill>
            <a:schemeClr val="bg2"/>
          </a:solidFill>
          <a:ln w="9525">
            <a:solidFill>
              <a:schemeClr val="accent3"/>
            </a:solidFill>
            <a:prstDash val="solid"/>
          </a:ln>
        </p:spPr>
      </p:sp>
      <p:sp>
        <p:nvSpPr>
          <p:cNvPr id="23" name="a4f_b_550"/>
          <p:cNvSpPr/>
          <p:nvPr/>
        </p:nvSpPr>
        <p:spPr>
          <a:xfrm>
            <a:off x="731520" y="4777740"/>
            <a:ext cx="548640" cy="548640"/>
          </a:xfrm>
          <a:prstGeom prst="ellipse">
            <a:avLst/>
          </a:prstGeom>
          <a:solidFill>
            <a:schemeClr val="accent1">
              <a:alpha val="20000"/>
            </a:schemeClr>
          </a:solidFill>
          <a:ln/>
        </p:spPr>
      </p:sp>
      <p:pic>
        <p:nvPicPr>
          <p:cNvPr id="24" name="a4f_i_551" descr="preencoded.png">    </p:cNvPr>
          <p:cNvPicPr>
            <a:picLocks noChangeAspect="1"/>
          </p:cNvPicPr>
          <p:nvPr/>
        </p:nvPicPr>
        <p:blipFill>
          <a:blip r:embed="rId1"/>
          <a:stretch>
            <a:fillRect/>
          </a:stretch>
        </p:blipFill>
        <p:spPr>
          <a:xfrm>
            <a:off x="868680" y="4914900"/>
            <a:ext cx="274320" cy="274320"/>
          </a:xfrm>
          <a:prstGeom prst="rect">
            <a:avLst/>
          </a:prstGeom>
        </p:spPr>
      </p:pic>
      <p:sp>
        <p:nvSpPr>
          <p:cNvPr id="25" name="a4f_t_552"/>
          <p:cNvSpPr txBox="1"/>
          <p:nvPr/>
        </p:nvSpPr>
        <p:spPr>
          <a:xfrm>
            <a:off x="1508760" y="4759452"/>
            <a:ext cx="5806440" cy="292608"/>
          </a:xfrm>
          <a:prstGeom prst="rect">
            <a:avLst/>
          </a:prstGeom>
          <a:noFill/>
          <a:ln/>
        </p:spPr>
        <p:txBody>
          <a:bodyPr wrap="square" lIns="0" tIns="0" rIns="0" bIns="0" rtlCol="0" anchor="t"/>
          <a:lstStyle/>
          <a:p>
            <a:pPr algn="l" indent="0" marL="0">
              <a:buNone/>
            </a:pPr>
            <a:r>
              <a:rPr lang="en-US" sz="1800" b="1" dirty="0">
                <a:solidFill>
                  <a:schemeClr val="tx1"/>
                </a:solidFill>
              </a:rPr>
              <a:t>Why now</a:t>
            </a:r>
            <a:endParaRPr lang="en-US" sz="1800" dirty="0"/>
          </a:p>
        </p:txBody>
      </p:sp>
      <p:sp>
        <p:nvSpPr>
          <p:cNvPr id="26" name="a4f_t_553"/>
          <p:cNvSpPr txBox="1"/>
          <p:nvPr/>
        </p:nvSpPr>
        <p:spPr>
          <a:xfrm>
            <a:off x="1508760" y="5070348"/>
            <a:ext cx="5806440" cy="274320"/>
          </a:xfrm>
          <a:prstGeom prst="rect">
            <a:avLst/>
          </a:prstGeom>
          <a:noFill/>
          <a:ln/>
        </p:spPr>
        <p:txBody>
          <a:bodyPr wrap="square" lIns="0" tIns="0" rIns="0" bIns="0" rtlCol="0" anchor="t"/>
          <a:lstStyle/>
          <a:p>
            <a:pPr algn="l" indent="0" marL="0">
              <a:buNone/>
            </a:pPr>
            <a:r>
              <a:rPr lang="en-US" sz="1300" dirty="0">
                <a:solidFill>
                  <a:schemeClr val="tx2"/>
                </a:solidFill>
              </a:rPr>
              <a:t>Hiring is nearly frozen. Clients expect more from the same teams.</a:t>
            </a:r>
            <a:endParaRPr lang="en-US" sz="1300" dirty="0"/>
          </a:p>
        </p:txBody>
      </p:sp>
      <p:sp>
        <p:nvSpPr>
          <p:cNvPr id="27" name="a5f_b_554"/>
          <p:cNvSpPr/>
          <p:nvPr/>
        </p:nvSpPr>
        <p:spPr>
          <a:xfrm>
            <a:off x="7863840" y="4480560"/>
            <a:ext cx="3776472" cy="1143000"/>
          </a:xfrm>
          <a:prstGeom prst="roundRect">
            <a:avLst>
              <a:gd name="adj" fmla="val 14400"/>
            </a:avLst>
          </a:prstGeom>
          <a:solidFill>
            <a:schemeClr val="accent1"/>
          </a:solidFill>
          <a:ln/>
        </p:spPr>
      </p:sp>
      <p:sp>
        <p:nvSpPr>
          <p:cNvPr id="28" name="a5f_t_555"/>
          <p:cNvSpPr txBox="1"/>
          <p:nvPr/>
        </p:nvSpPr>
        <p:spPr>
          <a:xfrm>
            <a:off x="8138160" y="4480560"/>
            <a:ext cx="3291840" cy="1143000"/>
          </a:xfrm>
          <a:prstGeom prst="rect">
            <a:avLst/>
          </a:prstGeom>
          <a:noFill/>
          <a:ln/>
        </p:spPr>
        <p:txBody>
          <a:bodyPr wrap="square" lIns="0" tIns="0" rIns="0" bIns="0" rtlCol="0" anchor="ctr"/>
          <a:lstStyle/>
          <a:p>
            <a:pPr algn="l" indent="0" marL="0">
              <a:buNone/>
            </a:pPr>
            <a:r>
              <a:rPr lang="en-US" sz="2000" b="1" dirty="0">
                <a:solidFill>
                  <a:schemeClr val="bg1"/>
                </a:solidFill>
                <a:latin typeface="Georgia" pitchFamily="34" charset="0"/>
                <a:ea typeface="Georgia" pitchFamily="34" charset="-122"/>
                <a:cs typeface="Georgia" pitchFamily="34" charset="-120"/>
              </a:rPr>
              <a:t>I'd like to help build it.</a:t>
            </a:r>
            <a:endParaRPr lang="en-US" sz="2000" dirty="0"/>
          </a:p>
        </p:txBody>
      </p:sp>
      <p:sp>
        <p:nvSpPr>
          <p:cNvPr id="29"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7"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par>
                          <p:cTn id="56" fill="hold">
                            <p:stCondLst>
                              <p:cond delay="760"/>
                            </p:stCondLst>
                            <p:childTnLst>
                              <p:par>
                                <p:cTn id="38" presetID="10"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childTnLst>
                          </p:cTn>
                        </p:par>
                        <p:par>
                          <p:cTn id="72" fill="hold">
                            <p:stCondLst>
                              <p:cond delay="114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childTnLst>
                          </p:cTn>
                        </p:par>
                        <p:par>
                          <p:cTn id="79" fill="hold">
                            <p:stCondLst>
                              <p:cond delay="1520"/>
                            </p:stCondLst>
                            <p:childTnLst>
                              <p:par>
                                <p:cTn id="73" presetID="10" presetClass="entr" presetSubtype="0"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3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_t_556"/>
          <p:cNvSpPr txBox="1"/>
          <p:nvPr/>
        </p:nvSpPr>
        <p:spPr>
          <a:xfrm>
            <a:off x="640080" y="1828800"/>
            <a:ext cx="6400800" cy="1188720"/>
          </a:xfrm>
          <a:prstGeom prst="rect">
            <a:avLst/>
          </a:prstGeom>
          <a:noFill/>
          <a:ln/>
        </p:spPr>
        <p:txBody>
          <a:bodyPr wrap="square" lIns="0" tIns="0" rIns="0" bIns="0" rtlCol="0" anchor="t"/>
          <a:lstStyle/>
          <a:p>
            <a:pPr algn="l" indent="0" marL="0">
              <a:buNone/>
            </a:pPr>
            <a:r>
              <a:rPr lang="en-US" sz="6600" b="1" dirty="0">
                <a:solidFill>
                  <a:schemeClr val="tx1"/>
                </a:solidFill>
                <a:latin typeface="Georgia" pitchFamily="34" charset="0"/>
                <a:ea typeface="Georgia" pitchFamily="34" charset="-122"/>
                <a:cs typeface="Georgia" pitchFamily="34" charset="-120"/>
              </a:rPr>
              <a:t>Thank you</a:t>
            </a:r>
            <a:endParaRPr lang="en-US" sz="6600" dirty="0"/>
          </a:p>
        </p:txBody>
      </p:sp>
      <p:sp>
        <p:nvSpPr>
          <p:cNvPr id="3" name="s_t_557"/>
          <p:cNvSpPr txBox="1"/>
          <p:nvPr/>
        </p:nvSpPr>
        <p:spPr>
          <a:xfrm>
            <a:off x="640080" y="3063240"/>
            <a:ext cx="6400800" cy="731520"/>
          </a:xfrm>
          <a:prstGeom prst="rect">
            <a:avLst/>
          </a:prstGeom>
          <a:noFill/>
          <a:ln/>
        </p:spPr>
        <p:txBody>
          <a:bodyPr wrap="square" lIns="0" tIns="0" rIns="0" bIns="0" rtlCol="0" anchor="t"/>
          <a:lstStyle/>
          <a:p>
            <a:pPr algn="l" indent="0" marL="0">
              <a:buNone/>
            </a:pPr>
            <a:r>
              <a:rPr lang="en-US" sz="3200" i="1" dirty="0">
                <a:solidFill>
                  <a:schemeClr val="accent1"/>
                </a:solidFill>
                <a:latin typeface="Georgia" pitchFamily="34" charset="0"/>
                <a:ea typeface="Georgia" pitchFamily="34" charset="-122"/>
                <a:cs typeface="Georgia" pitchFamily="34" charset="-120"/>
              </a:rPr>
              <a:t>Questions?</a:t>
            </a:r>
            <a:endParaRPr lang="en-US" sz="3200" dirty="0"/>
          </a:p>
        </p:txBody>
      </p:sp>
      <p:sp>
        <p:nvSpPr>
          <p:cNvPr id="4" name="s_t_558"/>
          <p:cNvSpPr txBox="1"/>
          <p:nvPr/>
        </p:nvSpPr>
        <p:spPr>
          <a:xfrm>
            <a:off x="640080" y="4206240"/>
            <a:ext cx="64008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Coforge @ Ameriprise Financial</a:t>
            </a:r>
            <a:endParaRPr lang="en-US" sz="1400" dirty="0"/>
          </a:p>
        </p:txBody>
      </p:sp>
      <p:sp>
        <p:nvSpPr>
          <p:cNvPr id="5" name="s_t_559"/>
          <p:cNvSpPr txBox="1"/>
          <p:nvPr/>
        </p:nvSpPr>
        <p:spPr>
          <a:xfrm>
            <a:off x="640080" y="4572000"/>
            <a:ext cx="6400800" cy="320040"/>
          </a:xfrm>
          <a:prstGeom prst="rect">
            <a:avLst/>
          </a:prstGeom>
          <a:noFill/>
          <a:ln/>
        </p:spPr>
        <p:txBody>
          <a:bodyPr wrap="square" lIns="0" tIns="0" rIns="0" bIns="0" rtlCol="0" anchor="t"/>
          <a:lstStyle/>
          <a:p>
            <a:pPr algn="l" indent="0" marL="0">
              <a:buNone/>
            </a:pPr>
            <a:r>
              <a:rPr lang="en-US" sz="1400" dirty="0">
                <a:solidFill>
                  <a:schemeClr val="tx2"/>
                </a:solidFill>
                <a:latin typeface="Courier New" pitchFamily="34" charset="0"/>
                <a:ea typeface="Courier New" pitchFamily="34" charset="-122"/>
                <a:cs typeface="Courier New" pitchFamily="34" charset="-120"/>
              </a:rPr>
              <a:t>the-agentic-delivery-pipeline</a:t>
            </a:r>
            <a:endParaRPr lang="en-US" sz="1400" dirty="0"/>
          </a:p>
        </p:txBody>
      </p:sp>
      <p:pic>
        <p:nvPicPr>
          <p:cNvPr id="6" name="a1f_i_560" descr="/Users/deepakkumar/Documents/Claude projects/the-agentic-delivery-pipeline/pitch/build/assets/master-agent.gif">    </p:cNvPr>
          <p:cNvPicPr>
            <a:picLocks noChangeAspect="1"/>
          </p:cNvPicPr>
          <p:nvPr/>
        </p:nvPicPr>
        <p:blipFill>
          <a:blip r:embed="rId1"/>
          <a:stretch>
            <a:fillRect/>
          </a:stretch>
        </p:blipFill>
        <p:spPr>
          <a:xfrm>
            <a:off x="7863840" y="1463040"/>
            <a:ext cx="3291840" cy="3291840"/>
          </a:xfrm>
          <a:prstGeom prst="rect">
            <a:avLst/>
          </a:prstGeom>
        </p:spPr>
      </p:pic>
      <p:pic>
        <p:nvPicPr>
          <p:cNvPr id="7" name="a2f_i_561" descr="/Users/deepakkumar/Documents/Claude projects/the-agentic-delivery-pipeline/pitch/build/assets/agent.gif">    </p:cNvPr>
          <p:cNvPicPr>
            <a:picLocks noChangeAspect="1"/>
          </p:cNvPicPr>
          <p:nvPr/>
        </p:nvPicPr>
        <p:blipFill>
          <a:blip r:embed="rId2"/>
          <a:stretch>
            <a:fillRect/>
          </a:stretch>
        </p:blipFill>
        <p:spPr>
          <a:xfrm>
            <a:off x="9006840" y="4937760"/>
            <a:ext cx="1005840" cy="704088"/>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50"/>
                                        <p:tgtEl>
                                          <p:spTgt spid="6"/>
                                        </p:tgtEl>
                                      </p:cBhvr>
                                    </p:animEffect>
                                  </p:childTnLst>
                                </p:cTn>
                              </p:par>
                            </p:childTnLst>
                          </p:cTn>
                        </p:par>
                        <p:par>
                          <p:cTn id="10"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gentic Delivery">
  <a:themeElements>
    <a:clrScheme name="Agentic Delivery">
      <a:dk1>
        <a:srgbClr val="F4F1EA"/>
      </a:dk1>
      <a:lt1>
        <a:srgbClr val="0B0B0E"/>
      </a:lt1>
      <a:dk2>
        <a:srgbClr val="A3A09A"/>
      </a:dk2>
      <a:lt2>
        <a:srgbClr val="17171C"/>
      </a:lt2>
      <a:accent1>
        <a:srgbClr val="D97757"/>
      </a:accent1>
      <a:accent2>
        <a:srgbClr val="7FCFA8"/>
      </a:accent2>
      <a:accent3>
        <a:srgbClr val="2C2C33"/>
      </a:accent3>
      <a:accent4>
        <a:srgbClr val="5A5A63"/>
      </a:accent4>
      <a:accent5>
        <a:srgbClr val="F2B880"/>
      </a:accent5>
      <a:accent6>
        <a:srgbClr val="8AA4FF"/>
      </a:accent6>
      <a:hlink>
        <a:srgbClr val="D97757"/>
      </a:hlink>
      <a:folHlink>
        <a:srgbClr val="F2B880"/>
      </a:folHlink>
    </a:clrScheme>
    <a:fontScheme name="Agentic Deliver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the-agentic-delivery-pipeline</dc:title>
  <dc:subject>PptxGenJS Presentation</dc:subject>
  <dc:creator>Deepak Kumar</dc:creator>
  <cp:lastModifiedBy>Deepak Kumar</cp:lastModifiedBy>
  <cp:revision>1</cp:revision>
  <dcterms:created xsi:type="dcterms:W3CDTF">2026-10-23T06:12:16Z</dcterms:created>
  <dcterms:modified xsi:type="dcterms:W3CDTF">2026-10-23T06:12:16Z</dcterms:modified>
</cp:coreProperties>
</file>